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16178" y="1470273"/>
            <a:ext cx="531149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Projects for Planning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200" y="2051149"/>
            <a:ext cx="80836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Organizing Your Farm Season — Like a Whiteboard for Your Farm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064050" y="2574875"/>
            <a:ext cx="1015901" cy="38100"/>
          </a:xfrm>
          <a:prstGeom prst="rect">
            <a:avLst/>
          </a:prstGeom>
          <a:solidFill>
            <a:srgbClr val="A5D6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87884" y="3095327"/>
            <a:ext cx="25682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3 of 12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87884" y="3384203"/>
            <a:ext cx="256823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6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Training for Farmers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66168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Session 3!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42851"/>
            <a:ext cx="8432899" cy="934343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4125" y="1142851"/>
            <a:ext cx="0" cy="934343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0401" y="1282452"/>
            <a:ext cx="8180755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1:</a:t>
            </a:r>
            <a:pPr algn="l" indent="0" marL="0">
              <a:lnSpc>
                <a:spcPts val="24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navigated a repository — your digital barn.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0401" y="1629073"/>
            <a:ext cx="8180755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2:</a:t>
            </a:r>
            <a:pPr algn="l" indent="0" marL="0">
              <a:lnSpc>
                <a:spcPts val="24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created Issues — your digital work orders.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5550" y="2216795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you'll learn to organize those Issues into a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your digital planning board.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55550" y="2994868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today, you will have built a project board for your farm season.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30769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Matters for YOUR Farm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42851"/>
            <a:ext cx="8432899" cy="528638"/>
          </a:xfrm>
          <a:prstGeom prst="roundRect">
            <a:avLst>
              <a:gd name="adj" fmla="val 14414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2476" y="1244352"/>
            <a:ext cx="8239048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plan your farm season right now?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1811089"/>
            <a:ext cx="8432899" cy="1493044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wall calendar?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whiteboard?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 and pen?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Keeping it all in your head?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3430935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plans change mid-season?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203964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planning is scattered.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1856780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live in different places (notebooks, texts, memory)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view of everything that needs doing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see who's working on what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weather changes plans, updating everything is painful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way to see if you're on track for the season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604171"/>
            <a:ext cx="8432899" cy="870645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3604171"/>
            <a:ext cx="0" cy="870645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401" y="3730972"/>
            <a:ext cx="8180755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you had one board showing every task, who's doing it, and what's done?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13485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GitHub Project?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42851"/>
            <a:ext cx="8432899" cy="579983"/>
          </a:xfrm>
          <a:prstGeom prst="roundRect">
            <a:avLst>
              <a:gd name="adj" fmla="val 13138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8435" y="1244352"/>
            <a:ext cx="8187130" cy="37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7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= Your Digital Planning Board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55550" y="1862435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GitHub Project organizes your Issues into a visual layout. Think of it like: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314873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sticky notes you can move around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planting calendar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can rearrange when plans change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board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whole team can see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55550" y="3570982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know how to create Issues. Projects let you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them all at once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organize them.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20872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View Your Project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Projects has 3 views — pick the one that fits your need.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57189"/>
            <a:ext cx="8432899" cy="718542"/>
          </a:xfrm>
          <a:prstGeom prst="roundRect">
            <a:avLst>
              <a:gd name="adj" fmla="val 10605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84125" y="1557189"/>
            <a:ext cx="0" cy="718542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5100" y="1607939"/>
            <a:ext cx="8232368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View</a:t>
            </a:r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Columns like a whiteboard. Drag tasks between "Todo," "In Progress," and "Done."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5550" y="2351931"/>
            <a:ext cx="8432899" cy="718542"/>
          </a:xfrm>
          <a:prstGeom prst="roundRect">
            <a:avLst>
              <a:gd name="adj" fmla="val 10605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84125" y="2351931"/>
            <a:ext cx="0" cy="718542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5100" y="2402681"/>
            <a:ext cx="8232368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View</a:t>
            </a:r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Rows and columns like a spreadsheet. Sort, filter, and add custom fields (extra columns you create yourself).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5550" y="3146673"/>
            <a:ext cx="8432899" cy="718542"/>
          </a:xfrm>
          <a:prstGeom prst="roundRect">
            <a:avLst>
              <a:gd name="adj" fmla="val 10605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84125" y="3146673"/>
            <a:ext cx="0" cy="718542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5100" y="3197423"/>
            <a:ext cx="8232368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View</a:t>
            </a:r>
            <a:pPr algn="l" indent="0" marL="0">
              <a:lnSpc>
                <a:spcPts val="243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calendar showing when tasks start and end. See your whole season at a glance.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5550" y="3966716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switch between views anytime — same data, different way to look at it.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55104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View: Your Task Whiteboard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04751"/>
            <a:ext cx="8601557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like a whiteboard. Drag cards to update status.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55550" y="1502122"/>
            <a:ext cx="2760166" cy="1534269"/>
          </a:xfrm>
          <a:prstGeom prst="roundRect">
            <a:avLst>
              <a:gd name="adj" fmla="val 4967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1750" y="1552873"/>
            <a:ext cx="2607766" cy="435322"/>
          </a:xfrm>
          <a:prstGeom prst="roundRect">
            <a:avLst>
              <a:gd name="adj" fmla="val 11670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3397" y="1616273"/>
            <a:ext cx="2504474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1750" y="2026295"/>
            <a:ext cx="2607766" cy="454372"/>
          </a:xfrm>
          <a:prstGeom prst="roundRect">
            <a:avLst>
              <a:gd name="adj" fmla="val 8385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7475" y="2099221"/>
            <a:ext cx="2485043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soybean seeds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1750" y="2505968"/>
            <a:ext cx="2607766" cy="454372"/>
          </a:xfrm>
          <a:prstGeom prst="roundRect">
            <a:avLst>
              <a:gd name="adj" fmla="val 8385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7475" y="2578894"/>
            <a:ext cx="2485043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soil in Field 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191917" y="1502122"/>
            <a:ext cx="2760166" cy="1534269"/>
          </a:xfrm>
          <a:prstGeom prst="roundRect">
            <a:avLst>
              <a:gd name="adj" fmla="val 4967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68117" y="1552873"/>
            <a:ext cx="2607766" cy="435322"/>
          </a:xfrm>
          <a:prstGeom prst="roundRect">
            <a:avLst>
              <a:gd name="adj" fmla="val 11670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19763" y="1616273"/>
            <a:ext cx="2504474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68117" y="2026295"/>
            <a:ext cx="2607766" cy="454372"/>
          </a:xfrm>
          <a:prstGeom prst="roundRect">
            <a:avLst>
              <a:gd name="adj" fmla="val 8385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53842" y="2099221"/>
            <a:ext cx="2485043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Field 1 for corn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28283" y="1502122"/>
            <a:ext cx="2760166" cy="1534269"/>
          </a:xfrm>
          <a:prstGeom prst="roundRect">
            <a:avLst>
              <a:gd name="adj" fmla="val 4967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04483" y="1552873"/>
            <a:ext cx="2607766" cy="435322"/>
          </a:xfrm>
          <a:prstGeom prst="roundRect">
            <a:avLst>
              <a:gd name="adj" fmla="val 11670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56130" y="1616273"/>
            <a:ext cx="2504474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04483" y="2026295"/>
            <a:ext cx="2607766" cy="454372"/>
          </a:xfrm>
          <a:prstGeom prst="roundRect">
            <a:avLst>
              <a:gd name="adj" fmla="val 8385"/>
            </a:avLst>
          </a:prstGeom>
          <a:solidFill>
            <a:srgbClr val="FFFFFF"/>
          </a:solidFill>
          <a:ln w="9525">
            <a:solidFill>
              <a:srgbClr val="CCCCC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90208" y="2099221"/>
            <a:ext cx="2485043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irrigation pump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76590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View: Your Spreadsheet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View shows tasks in rows — like a spreadsheet.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95289"/>
            <a:ext cx="8432899" cy="366861"/>
          </a:xfrm>
          <a:prstGeom prst="roundRect">
            <a:avLst>
              <a:gd name="adj" fmla="val 13847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5550" y="1595289"/>
            <a:ext cx="2815977" cy="366861"/>
          </a:xfrm>
          <a:prstGeom prst="rect">
            <a:avLst/>
          </a:prstGeom>
          <a:noFill/>
          <a:ln/>
        </p:spPr>
        <p:txBody>
          <a:bodyPr wrap="square" lIns="76200" tIns="63500" rIns="76200" bIns="635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16312" y="1595289"/>
            <a:ext cx="1407229" cy="366861"/>
          </a:xfrm>
          <a:prstGeom prst="rect">
            <a:avLst/>
          </a:prstGeom>
          <a:noFill/>
          <a:ln/>
        </p:spPr>
        <p:txBody>
          <a:bodyPr wrap="square" lIns="76200" tIns="63500" rIns="76200" bIns="635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95949" y="1595289"/>
            <a:ext cx="1407229" cy="366861"/>
          </a:xfrm>
          <a:prstGeom prst="rect">
            <a:avLst/>
          </a:prstGeom>
          <a:noFill/>
          <a:ln/>
        </p:spPr>
        <p:txBody>
          <a:bodyPr wrap="square" lIns="76200" tIns="63500" rIns="76200" bIns="635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75586" y="1595289"/>
            <a:ext cx="1407229" cy="366861"/>
          </a:xfrm>
          <a:prstGeom prst="rect">
            <a:avLst/>
          </a:prstGeom>
          <a:noFill/>
          <a:ln/>
        </p:spPr>
        <p:txBody>
          <a:bodyPr wrap="square" lIns="76200" tIns="63500" rIns="76200" bIns="635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55222" y="1595289"/>
            <a:ext cx="1563892" cy="366861"/>
          </a:xfrm>
          <a:prstGeom prst="rect">
            <a:avLst/>
          </a:prstGeom>
          <a:noFill/>
          <a:ln/>
        </p:spPr>
        <p:txBody>
          <a:bodyPr wrap="square" lIns="76200" tIns="63500" rIns="76200" bIns="635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Date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5550" y="1962150"/>
            <a:ext cx="8432899" cy="333821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55550" y="2291209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5550" y="1962150"/>
            <a:ext cx="2815977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Field 1 for corn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16312" y="1962150"/>
            <a:ext cx="1407229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95949" y="1962150"/>
            <a:ext cx="1407229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75586" y="1962150"/>
            <a:ext cx="1407229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55222" y="1962150"/>
            <a:ext cx="1563892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5550" y="2295971"/>
            <a:ext cx="8432899" cy="33382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55550" y="2625030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5550" y="2295971"/>
            <a:ext cx="2815977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soybean seeds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16312" y="2295971"/>
            <a:ext cx="1407229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95949" y="2295971"/>
            <a:ext cx="1407229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75586" y="2295971"/>
            <a:ext cx="1407229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55222" y="2295971"/>
            <a:ext cx="1563892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28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55550" y="2629793"/>
            <a:ext cx="8432899" cy="333821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55550" y="2958852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5550" y="2629793"/>
            <a:ext cx="2815977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irrigation pump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116312" y="2629793"/>
            <a:ext cx="1407229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95949" y="2629793"/>
            <a:ext cx="1407229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875586" y="2629793"/>
            <a:ext cx="1407229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55222" y="2629793"/>
            <a:ext cx="1563892" cy="324296"/>
          </a:xfrm>
          <a:prstGeom prst="rect">
            <a:avLst/>
          </a:prstGeom>
          <a:noFill/>
          <a:ln/>
        </p:spPr>
        <p:txBody>
          <a:bodyPr wrap="square" lIns="76200" tIns="50800" rIns="76200" bIns="5080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10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55550" y="3103215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by any column. Filter to show only certain tasks. Best for seeing lots of details at once.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98247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View: Your Season Calendar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View shows tasks on a calendar — see your whole season at a glance.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920925"/>
            <a:ext cx="8432899" cy="1678037"/>
          </a:xfrm>
          <a:prstGeom prst="roundRect">
            <a:avLst>
              <a:gd name="adj" fmla="val 3027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39444" y="2022425"/>
            <a:ext cx="1347115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0143" y="2022425"/>
            <a:ext cx="134726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80993" y="2022425"/>
            <a:ext cx="134726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01843" y="2022425"/>
            <a:ext cx="1347267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7950" y="2285702"/>
            <a:ext cx="2901595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 Field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52651" y="2278856"/>
            <a:ext cx="5283250" cy="253901"/>
          </a:xfrm>
          <a:prstGeom prst="roundRect">
            <a:avLst>
              <a:gd name="adj" fmla="val 15006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880842" y="2304157"/>
            <a:ext cx="1584871" cy="203150"/>
          </a:xfrm>
          <a:prstGeom prst="roundRect">
            <a:avLst>
              <a:gd name="adj" fmla="val 18755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7950" y="2590354"/>
            <a:ext cx="2901595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soybean seeds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52651" y="2583507"/>
            <a:ext cx="5283250" cy="253901"/>
          </a:xfrm>
          <a:prstGeom prst="roundRect">
            <a:avLst>
              <a:gd name="adj" fmla="val 15006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52651" y="2608808"/>
            <a:ext cx="792361" cy="203150"/>
          </a:xfrm>
          <a:prstGeom prst="roundRect">
            <a:avLst>
              <a:gd name="adj" fmla="val 18755"/>
            </a:avLst>
          </a:prstGeom>
          <a:solidFill>
            <a:srgbClr val="2196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07950" y="2895005"/>
            <a:ext cx="2901595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corn — Field 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52651" y="2888159"/>
            <a:ext cx="5283250" cy="253901"/>
          </a:xfrm>
          <a:prstGeom prst="roundRect">
            <a:avLst>
              <a:gd name="adj" fmla="val 15006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01692" y="2913459"/>
            <a:ext cx="1056531" cy="203150"/>
          </a:xfrm>
          <a:prstGeom prst="roundRect">
            <a:avLst>
              <a:gd name="adj" fmla="val 18755"/>
            </a:avLst>
          </a:prstGeom>
          <a:solidFill>
            <a:srgbClr val="FF98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7950" y="3199656"/>
            <a:ext cx="2901595" cy="24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soybeans — Field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52651" y="3192810"/>
            <a:ext cx="5283250" cy="253901"/>
          </a:xfrm>
          <a:prstGeom prst="roundRect">
            <a:avLst>
              <a:gd name="adj" fmla="val 15006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730032" y="3218111"/>
            <a:ext cx="1320701" cy="203150"/>
          </a:xfrm>
          <a:prstGeom prst="roundRect">
            <a:avLst>
              <a:gd name="adj" fmla="val 18755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55550" y="3738563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planting schedules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seasonal planning, seeing the big picture.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79253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Use Each 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view that fits your question: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620589"/>
            <a:ext cx="2743200" cy="1538288"/>
          </a:xfrm>
          <a:prstGeom prst="roundRect">
            <a:avLst>
              <a:gd name="adj" fmla="val 4954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608" y="1747391"/>
            <a:ext cx="2539085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|||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608" y="2081212"/>
            <a:ext cx="2539085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View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608" y="2415034"/>
            <a:ext cx="2539085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needs doing today?"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251" y="1620589"/>
            <a:ext cx="2743349" cy="1538288"/>
          </a:xfrm>
          <a:prstGeom prst="roundRect">
            <a:avLst>
              <a:gd name="adj" fmla="val 4954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02307" y="1747391"/>
            <a:ext cx="2539237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=#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02307" y="2081212"/>
            <a:ext cx="2539237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View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302307" y="2415034"/>
            <a:ext cx="2539237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everyone working on?"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45101" y="1620589"/>
            <a:ext cx="2743349" cy="1538288"/>
          </a:xfrm>
          <a:prstGeom prst="roundRect">
            <a:avLst>
              <a:gd name="adj" fmla="val 4954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47157" y="1747391"/>
            <a:ext cx="2539237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47157" y="2081212"/>
            <a:ext cx="2539237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View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47157" y="2415034"/>
            <a:ext cx="2539237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"When do I plant each field?"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5550" y="3323779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create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views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the same Project — one Board, one Timeline, one Table. Switch between them with tabs.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512705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 Project: Step by Step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create a new Project: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2220516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your repository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"Projects"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tab (near the top)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"New project"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layout (easiest to start with)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a name (e.g., "Spring 2026 Farm Plan")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"Create"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3967907"/>
            <a:ext cx="8432899" cy="579239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3967907"/>
            <a:ext cx="0" cy="579239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0401" y="4094708"/>
            <a:ext cx="8180755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it — 6 steps. Let me show you.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77759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Issues to Your Project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board starts empty. Two ways to add Issues: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1 — From the Project: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34927"/>
            <a:ext cx="8432899" cy="765572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"+ Add item"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the bottom of any column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for an existing Issue or type a new one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927300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2 — From an Issue: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55550" y="3379738"/>
            <a:ext cx="8432899" cy="765572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any Issue, click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"Projects"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 right sidebar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your project — the Issue becomes a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your board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39656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Cards on the 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update a task's status, drag the card.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5847" y="1646039"/>
            <a:ext cx="2031802" cy="860227"/>
          </a:xfrm>
          <a:prstGeom prst="roundRect">
            <a:avLst>
              <a:gd name="adj" fmla="val 8858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52798" y="1722239"/>
            <a:ext cx="1777901" cy="298996"/>
          </a:xfrm>
          <a:prstGeom prst="roundRect">
            <a:avLst>
              <a:gd name="adj" fmla="val 16990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2743" y="1760339"/>
            <a:ext cx="165801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52798" y="2071985"/>
            <a:ext cx="1777901" cy="319980"/>
          </a:xfrm>
          <a:prstGeom prst="roundRect">
            <a:avLst>
              <a:gd name="adj" fmla="val 15876"/>
            </a:avLst>
          </a:prstGeom>
          <a:solidFill>
            <a:srgbClr val="FFFFFF"/>
          </a:solidFill>
          <a:ln w="19050">
            <a:solidFill>
              <a:srgbClr val="4E9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32174" y="2129135"/>
            <a:ext cx="1619149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fence post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84599" y="1836093"/>
            <a:ext cx="45344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8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56099" y="1646039"/>
            <a:ext cx="2031802" cy="860227"/>
          </a:xfrm>
          <a:prstGeom prst="roundRect">
            <a:avLst>
              <a:gd name="adj" fmla="val 8858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83050" y="1722239"/>
            <a:ext cx="1777901" cy="298996"/>
          </a:xfrm>
          <a:prstGeom prst="roundRect">
            <a:avLst>
              <a:gd name="adj" fmla="val 16990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742995" y="1760339"/>
            <a:ext cx="165801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83050" y="2071985"/>
            <a:ext cx="1777901" cy="319980"/>
          </a:xfrm>
          <a:prstGeom prst="roundRect">
            <a:avLst>
              <a:gd name="adj" fmla="val 15876"/>
            </a:avLst>
          </a:prstGeom>
          <a:solidFill>
            <a:srgbClr val="FFFFFF"/>
          </a:solidFill>
          <a:ln w="19050">
            <a:solidFill>
              <a:srgbClr val="4E9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762426" y="2129135"/>
            <a:ext cx="1619149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fence post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14851" y="1836093"/>
            <a:ext cx="453441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800" dirty="0">
                <a:solidFill>
                  <a:srgbClr val="4E9F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--&gt;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86351" y="1646039"/>
            <a:ext cx="2031802" cy="860227"/>
          </a:xfrm>
          <a:prstGeom prst="roundRect">
            <a:avLst>
              <a:gd name="adj" fmla="val 8858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13302" y="1722239"/>
            <a:ext cx="1777901" cy="298996"/>
          </a:xfrm>
          <a:prstGeom prst="roundRect">
            <a:avLst>
              <a:gd name="adj" fmla="val 16990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73247" y="1760339"/>
            <a:ext cx="165801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13302" y="2071985"/>
            <a:ext cx="1777901" cy="319980"/>
          </a:xfrm>
          <a:prstGeom prst="roundRect">
            <a:avLst>
              <a:gd name="adj" fmla="val 15876"/>
            </a:avLst>
          </a:prstGeom>
          <a:solidFill>
            <a:srgbClr val="FFFFFF"/>
          </a:solidFill>
          <a:ln w="19050">
            <a:solidFill>
              <a:srgbClr val="4E9F3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92678" y="2129135"/>
            <a:ext cx="1619149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fence post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5550" y="2696617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with access can see the current status instantly.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355550" y="3149054"/>
            <a:ext cx="860155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like moving a sticky note across a whiteboard — but everyone can see it from anywhere.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04058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Custom Columns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rename columns or add new ones.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columns: Todo, In Progress, Done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2034927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Farm-friendly columns you might add: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525464"/>
            <a:ext cx="2026890" cy="375642"/>
          </a:xfrm>
          <a:prstGeom prst="roundRect">
            <a:avLst>
              <a:gd name="adj" fmla="val 13524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2501" y="2576215"/>
            <a:ext cx="1808449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on Weather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83941" y="2525464"/>
            <a:ext cx="1736973" cy="375642"/>
          </a:xfrm>
          <a:prstGeom prst="roundRect">
            <a:avLst>
              <a:gd name="adj" fmla="val 13524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10892" y="2576215"/>
            <a:ext cx="1512734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on Parts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22415" y="2525464"/>
            <a:ext cx="1676995" cy="375642"/>
          </a:xfrm>
          <a:prstGeom prst="roundRect">
            <a:avLst>
              <a:gd name="adj" fmla="val 13524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49366" y="2576215"/>
            <a:ext cx="1451556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Supplies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00911" y="2525464"/>
            <a:ext cx="2222897" cy="375642"/>
          </a:xfrm>
          <a:prstGeom prst="roundRect">
            <a:avLst>
              <a:gd name="adj" fmla="val 13524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27862" y="2576215"/>
            <a:ext cx="2008376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This Week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5550" y="3066008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"+"</a:t>
            </a:r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next to the last column to add a new one.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55550" y="3518446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 column name to rename it.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675470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Building a Farm Project Board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17402"/>
            <a:ext cx="8432899" cy="478036"/>
          </a:xfrm>
          <a:prstGeom prst="roundRect">
            <a:avLst>
              <a:gd name="adj" fmla="val 15940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2476" y="1193602"/>
            <a:ext cx="8239048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65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me build a spring planting project.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1709589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I'm going to: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162026"/>
            <a:ext cx="8432899" cy="1856780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Project called "Spring Planting 2026"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4 Issues (one for each field)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1 Issue to "In Progress"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custom column: "Waiting on Weather"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Table View and Timeline View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55550" y="4132957"/>
            <a:ext cx="8432899" cy="426244"/>
          </a:xfrm>
          <a:prstGeom prst="roundRect">
            <a:avLst>
              <a:gd name="adj" fmla="val 11918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7950" y="4209008"/>
            <a:ext cx="8290661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watch for now</a:t>
            </a:r>
            <a:pPr algn="l" indent="0" marL="0">
              <a:lnSpc>
                <a:spcPts val="216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you'll build your own next.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462139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Practice 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17402"/>
            <a:ext cx="8432899" cy="495300"/>
          </a:xfrm>
          <a:prstGeom prst="roundRect">
            <a:avLst>
              <a:gd name="adj" fmla="val 15385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2476" y="1193602"/>
            <a:ext cx="82390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turn! Follow along with me.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55550" y="1726853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and your partner will create a farm Project board together.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355550" y="2179290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I'll walk you through each step. Follow along on your screen.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55550" y="2631728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get stuck: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55550" y="3084165"/>
            <a:ext cx="8432899" cy="765572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partner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your hand — I'll come to you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55550" y="4014639"/>
            <a:ext cx="8432899" cy="579239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84125" y="4014639"/>
            <a:ext cx="0" cy="579239"/>
          </a:xfrm>
          <a:prstGeom prst="line">
            <a:avLst/>
          </a:prstGeom>
          <a:noFill/>
          <a:ln w="57150">
            <a:solidFill>
              <a:srgbClr val="4E9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0401" y="4141440"/>
            <a:ext cx="8180755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can't break anything.</a:t>
            </a:r>
            <a:pPr algn="l" indent="0" marL="0">
              <a:lnSpc>
                <a:spcPts val="2565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900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If something goes wrong, we'll fix it together.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57454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Guided Practice Steps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along with me: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82489"/>
            <a:ext cx="8432899" cy="2584252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the demo farm repository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"Projects"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tab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"New project"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choose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it: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"[Your Name]'s Farm Plan"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"Create"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3 Issues using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"+ Add item"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1 Issue to </a:t>
            </a:r>
            <a:pPr algn="l" indent="0" marL="0">
              <a:lnSpc>
                <a:spcPts val="2565"/>
              </a:lnSpc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Progress"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55550" y="4280892"/>
            <a:ext cx="8432899" cy="460623"/>
          </a:xfrm>
          <a:prstGeom prst="rect">
            <a:avLst/>
          </a:prstGeom>
          <a:solidFill>
            <a:srgbClr val="FFF8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84125" y="4280892"/>
            <a:ext cx="0" cy="460623"/>
          </a:xfrm>
          <a:prstGeom prst="line">
            <a:avLst/>
          </a:prstGeom>
          <a:noFill/>
          <a:ln w="5715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5100" y="4356943"/>
            <a:ext cx="8232368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Checkpoint:</a:t>
            </a:r>
            <a:pPr algn="l" indent="0" marL="0">
              <a:lnSpc>
                <a:spcPts val="2430"/>
              </a:lnSpc>
              <a:spcBef>
                <a:spcPts val="100"/>
              </a:spcBef>
              <a:spcAft>
                <a:spcPts val="100"/>
              </a:spcAft>
              <a:buNone/>
            </a:pPr>
            <a:r>
              <a:rPr lang="en-US" sz="18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should see 3 cards — 2 in "Todo" and 1 in "In Progress."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88682" y="1539925"/>
            <a:ext cx="236663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Time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77096" y="2365325"/>
            <a:ext cx="1789807" cy="682526"/>
          </a:xfrm>
          <a:prstGeom prst="roundRect">
            <a:avLst>
              <a:gd name="adj" fmla="val 14886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70094" y="2568476"/>
            <a:ext cx="120381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9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79347" y="3251002"/>
            <a:ext cx="8185157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9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we come back, you'll build your own farm project board from scratch!</a:t>
            </a:r>
            <a:endParaRPr lang="en-US" sz="1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40573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Practice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17402"/>
            <a:ext cx="8432899" cy="447675"/>
          </a:xfrm>
          <a:prstGeom prst="roundRect">
            <a:avLst>
              <a:gd name="adj" fmla="val 17021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2476" y="1193602"/>
            <a:ext cx="823904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challenge: Build a complete farm project board.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55550" y="1691878"/>
            <a:ext cx="4210151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your scenario: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55550" y="2025700"/>
            <a:ext cx="4127599" cy="91648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340"/>
              </a:lnSpc>
              <a:spcAft>
                <a:spcPts val="100"/>
              </a:spcAft>
              <a:buSzPct val="100000"/>
              <a:buChar char="•"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</a:t>
            </a:r>
            <a:pPr algn="l" indent="0" marL="0">
              <a:lnSpc>
                <a:spcPts val="234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Spring Planting</a:t>
            </a:r>
            <a:endParaRPr lang="en-US" sz="1800" dirty="0"/>
          </a:p>
          <a:p>
            <a:pPr algn="l" marL="114300" indent="-114300">
              <a:lnSpc>
                <a:spcPts val="2340"/>
              </a:lnSpc>
              <a:spcAft>
                <a:spcPts val="100"/>
              </a:spcAft>
              <a:buSzPct val="100000"/>
              <a:buChar char="•"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B:</a:t>
            </a:r>
            <a:pPr algn="l" indent="0" marL="0">
              <a:lnSpc>
                <a:spcPts val="234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Equipment Maintenance</a:t>
            </a:r>
            <a:endParaRPr lang="en-US" sz="1800" dirty="0"/>
          </a:p>
          <a:p>
            <a:pPr algn="l" marL="114300" indent="-114300">
              <a:lnSpc>
                <a:spcPts val="2340"/>
              </a:lnSpc>
              <a:spcAft>
                <a:spcPts val="100"/>
              </a:spcAft>
              <a:buSzPct val="100000"/>
              <a:buChar char="•"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C:</a:t>
            </a:r>
            <a:pPr algn="l" indent="0" marL="0">
              <a:lnSpc>
                <a:spcPts val="2340"/>
              </a:lnSpc>
              <a:spcAft>
                <a:spcPts val="1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Livestock Health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0850" y="1691878"/>
            <a:ext cx="4210151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your project board: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60850" y="2025700"/>
            <a:ext cx="4127599" cy="153590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2340"/>
              </a:lnSpc>
              <a:spcAft>
                <a:spcPts val="1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new Project with a name</a:t>
            </a:r>
            <a:endParaRPr lang="en-US" sz="1800" dirty="0"/>
          </a:p>
          <a:p>
            <a:pPr algn="l" marL="114300" indent="-114300">
              <a:lnSpc>
                <a:spcPts val="2340"/>
              </a:lnSpc>
              <a:spcAft>
                <a:spcPts val="1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at least 4 Issues</a:t>
            </a:r>
            <a:endParaRPr lang="en-US" sz="1800" dirty="0"/>
          </a:p>
          <a:p>
            <a:pPr algn="l" marL="114300" indent="-114300">
              <a:lnSpc>
                <a:spcPts val="2340"/>
              </a:lnSpc>
              <a:spcAft>
                <a:spcPts val="1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1 to "In Progress," 1 to "Done"</a:t>
            </a:r>
            <a:endParaRPr lang="en-US" sz="1800" dirty="0"/>
          </a:p>
          <a:p>
            <a:pPr algn="l" marL="114300" indent="-114300">
              <a:lnSpc>
                <a:spcPts val="2340"/>
              </a:lnSpc>
              <a:spcAft>
                <a:spcPts val="1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1 custom column</a:t>
            </a:r>
            <a:endParaRPr lang="en-US" sz="1800" dirty="0"/>
          </a:p>
          <a:p>
            <a:pPr algn="l" marL="114300" indent="-114300">
              <a:lnSpc>
                <a:spcPts val="2340"/>
              </a:lnSpc>
              <a:spcAft>
                <a:spcPts val="100"/>
              </a:spcAft>
              <a:buSzPct val="100000"/>
              <a:buChar char="•"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to Table View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37558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Vocabulary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terms from today: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569839"/>
            <a:ext cx="8432899" cy="383977"/>
          </a:xfrm>
          <a:prstGeom prst="roundRect">
            <a:avLst>
              <a:gd name="adj" fmla="val 13230"/>
            </a:avLst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5550" y="1569839"/>
            <a:ext cx="2115095" cy="383977"/>
          </a:xfrm>
          <a:prstGeom prst="rect">
            <a:avLst/>
          </a:prstGeom>
          <a:noFill/>
          <a:ln/>
        </p:spPr>
        <p:txBody>
          <a:bodyPr wrap="square" lIns="88900" tIns="63500" rIns="88900" bIns="635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Term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429173" y="1569839"/>
            <a:ext cx="2598593" cy="383977"/>
          </a:xfrm>
          <a:prstGeom prst="rect">
            <a:avLst/>
          </a:prstGeom>
          <a:noFill/>
          <a:ln/>
        </p:spPr>
        <p:txBody>
          <a:bodyPr wrap="square" lIns="88900" tIns="63500" rIns="88900" bIns="635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 Analogy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76813" y="1569839"/>
            <a:ext cx="3887870" cy="383977"/>
          </a:xfrm>
          <a:prstGeom prst="rect">
            <a:avLst/>
          </a:prstGeom>
          <a:noFill/>
          <a:ln/>
        </p:spPr>
        <p:txBody>
          <a:bodyPr wrap="square" lIns="88900" tIns="63500" rIns="88900" bIns="6350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5550" y="1953816"/>
            <a:ext cx="8432899" cy="351086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55550" y="2300139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550" y="1953816"/>
            <a:ext cx="2115095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429173" y="1953816"/>
            <a:ext cx="2598593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board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76813" y="1953816"/>
            <a:ext cx="3887870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Organizes Issues visually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5550" y="2304901"/>
            <a:ext cx="8432899" cy="3510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55550" y="2651224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5550" y="2304901"/>
            <a:ext cx="2115095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View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29173" y="2304901"/>
            <a:ext cx="2598593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76813" y="2304901"/>
            <a:ext cx="3887870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Columns: Todo, In Progress, Done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5550" y="2655987"/>
            <a:ext cx="8432899" cy="351086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55550" y="3002310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5550" y="2655987"/>
            <a:ext cx="2115095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View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29173" y="2655987"/>
            <a:ext cx="2598593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Spreadsheet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76813" y="2655987"/>
            <a:ext cx="3887870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Sortable rows and columns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5550" y="3007072"/>
            <a:ext cx="8432899" cy="3510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355550" y="3353395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5550" y="3007072"/>
            <a:ext cx="2115095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View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429173" y="3007072"/>
            <a:ext cx="2598593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76813" y="3007072"/>
            <a:ext cx="3887870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start/end dates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5550" y="3358158"/>
            <a:ext cx="8432899" cy="351086"/>
          </a:xfrm>
          <a:prstGeom prst="rect">
            <a:avLst/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55550" y="3704481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5550" y="3358158"/>
            <a:ext cx="2115095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429173" y="3358158"/>
            <a:ext cx="2598593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note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76813" y="3358158"/>
            <a:ext cx="3887870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Issue on a project board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55550" y="3709243"/>
            <a:ext cx="8432899" cy="3510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355550" y="4055566"/>
            <a:ext cx="8432899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5550" y="3709243"/>
            <a:ext cx="2115095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429173" y="3709243"/>
            <a:ext cx="2598593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section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976813" y="3709243"/>
            <a:ext cx="3887870" cy="341561"/>
          </a:xfrm>
          <a:prstGeom prst="rect">
            <a:avLst/>
          </a:prstGeom>
          <a:noFill/>
          <a:ln/>
        </p:spPr>
        <p:txBody>
          <a:bodyPr wrap="square" lIns="88900" tIns="50800" rIns="88900" bIns="5080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tasks by status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162780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30052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your farm: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55550" y="1620589"/>
            <a:ext cx="8432899" cy="934343"/>
          </a:xfrm>
          <a:prstGeom prst="roundRect">
            <a:avLst>
              <a:gd name="adj" fmla="val 8155"/>
            </a:avLst>
          </a:prstGeom>
          <a:solidFill>
            <a:srgbClr val="F4F1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251" y="1760190"/>
            <a:ext cx="8239048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3 tasks you would organize into a Project board?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3251" y="2106811"/>
            <a:ext cx="8239048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800" i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view (Board, Table, or Timeline) would be most useful for your farm?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55550" y="2757934"/>
            <a:ext cx="8432899" cy="460921"/>
          </a:xfrm>
          <a:prstGeom prst="roundRect">
            <a:avLst>
              <a:gd name="adj" fmla="val 16532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2476" y="2834134"/>
            <a:ext cx="8239048" cy="308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to your partner and share your answers. (3 minutes)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63501"/>
          </a:xfrm>
          <a:prstGeom prst="rect">
            <a:avLst/>
          </a:prstGeom>
          <a:solidFill>
            <a:srgbClr val="1E512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246013"/>
            <a:ext cx="191380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55550" y="1168152"/>
            <a:ext cx="8432899" cy="1270843"/>
          </a:xfrm>
          <a:prstGeom prst="roundRect">
            <a:avLst>
              <a:gd name="adj" fmla="val 7995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8435" y="1295102"/>
            <a:ext cx="818713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5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4: Collaboration and Pull Requests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78435" y="1669703"/>
            <a:ext cx="8187130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to share your farm plans with others and work together — like passing a notebook back and forth, but everyone can see the changes.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55550" y="2603897"/>
            <a:ext cx="860155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between-session practice: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55550" y="3056334"/>
            <a:ext cx="8432899" cy="1129308"/>
          </a:xfrm>
          <a:prstGeom prst="rect">
            <a:avLst/>
          </a:prstGeom>
          <a:noFill/>
          <a:ln/>
        </p:spPr>
        <p:txBody>
          <a:bodyPr wrap="square" lIns="165100" tIns="0" rIns="0" bIns="0" rtlCol="0" anchor="t"/>
          <a:lstStyle/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2 more Issues to your project board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switching between Board, Table, and Timeline views</a:t>
            </a:r>
            <a:endParaRPr lang="en-US" sz="1900" dirty="0"/>
          </a:p>
          <a:p>
            <a:pPr algn="l" marL="165100" indent="-165100">
              <a:lnSpc>
                <a:spcPts val="2565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cards as you complete tasks this week</a:t>
            </a:r>
            <a:endParaRPr lang="en-US" sz="1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5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73497" y="852785"/>
            <a:ext cx="319700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Survey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84200" y="1662261"/>
            <a:ext cx="7175599" cy="812602"/>
          </a:xfrm>
          <a:prstGeom prst="roundRect">
            <a:avLst>
              <a:gd name="adj" fmla="val 15629"/>
            </a:avLst>
          </a:prstGeom>
          <a:solidFill>
            <a:srgbClr val="4E9F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23340" y="1916162"/>
            <a:ext cx="66973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fill out the 2-minute survey before you leave.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936950" y="2855714"/>
            <a:ext cx="1269950" cy="38100"/>
          </a:xfrm>
          <a:prstGeom prst="rect">
            <a:avLst/>
          </a:prstGeom>
          <a:solidFill>
            <a:srgbClr val="A5D6A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46525" y="3147715"/>
            <a:ext cx="14509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74904" y="3604915"/>
            <a:ext cx="8394192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1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know how to plan and organize your farm tasks visually on GitHub.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3: GitHub Projects for Planning</dc:title>
  <dc:subject>GitHub Training for Farmers — Session 3 of 12</dc:subject>
  <dc:creator>GitHub4Farms Training</dc:creator>
  <cp:lastModifiedBy>GitHub4Farms Training</cp:lastModifiedBy>
  <cp:revision>1</cp:revision>
  <dcterms:created xsi:type="dcterms:W3CDTF">2026-01-30T16:28:40Z</dcterms:created>
  <dcterms:modified xsi:type="dcterms:W3CDTF">2026-01-30T16:28:40Z</dcterms:modified>
</cp:coreProperties>
</file>