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</p:sldIdLst>
  <p:notesMasterIdLst>
    <p:notesMasterId r:id="rId2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notesMaster" Target="notesMasters/notesMaster1.xml"/><Relationship Id="rId29" Type="http://schemas.openxmlformats.org/officeDocument/2006/relationships/presProps" Target="presProps.xml"/><Relationship Id="rId30" Type="http://schemas.openxmlformats.org/officeDocument/2006/relationships/viewProps" Target="viewProps.xml"/><Relationship Id="rId31" Type="http://schemas.openxmlformats.org/officeDocument/2006/relationships/theme" Target="theme/theme1.xml"/><Relationship Id="rId3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Instructor note: Let 2-3 learners answer. 'What if you could fill out a pre-printed form instead of writing everything from scratch?'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Instructor note: Show a repository with Issue Templates enabled. Click 'New Issue' to show the template chooser.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Instructor note: Walk through each step on the projector. Use 'Custom template' for the demo.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Instructor note: Demo creating a saved reply, then using it in an Issue comment. Show the arrow icon in the comment toolbar.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Instructor note: Briefly show the template options when creating a new Project. Don't go deep — this is a preview.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Instructor note: Demo the full workflow. After saving the template, go to Issues → New Issue to show the template chooser. Click the template to show the pre-filled form.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Instructor note: Pair learners. Distribute lab exercise handout. Learners will need to use their own repository (not the shared demo) since templates require Settings access.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Instructor note: Pause at checkpoint. "Raise your hand when you see your template in the Issue chooser."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Instructor note: Walk around and listen. Learners designing their own templates shows 'Create' level thinking (Bloom's highest level).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51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1097280"/>
            <a:ext cx="76809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Basic Workflows &amp; Templates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731520" y="2286000"/>
            <a:ext cx="76809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i="1" dirty="0">
                <a:solidFill>
                  <a:srgbClr val="F4F1D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Building Reusable Processes So You Never Start from Scratch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731520" y="3291840"/>
            <a:ext cx="7680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4E9F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Session 6 of 12 — GitHub Training for Farmers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731520" y="3108960"/>
            <a:ext cx="2286000" cy="36576"/>
          </a:xfrm>
          <a:prstGeom prst="rect">
            <a:avLst/>
          </a:prstGeom>
          <a:solidFill>
            <a:srgbClr val="4E9F3D"/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1D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1E512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4E9F3D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51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Welcome to Session 6!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spcBef>
                <a:spcPts val="400"/>
              </a:spcBef>
              <a:buNone/>
            </a:pPr>
            <a:r>
              <a:rPr lang="en-US" sz="1800" b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 far you've learned to:</a:t>
            </a:r>
            <a:endParaRPr lang="en-US" sz="1800" dirty="0"/>
          </a:p>
          <a:p>
            <a:pPr marL="342900" indent="-342900">
              <a:lnSpc>
                <a:spcPct val="120000"/>
              </a:lnSpc>
              <a:spcBef>
                <a:spcPts val="400"/>
              </a:spcBef>
              <a:buSzPct val="100000"/>
              <a:buChar char="•"/>
            </a:pPr>
            <a:r>
              <a:rPr lang="en-US" sz="18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Navigate repositories (Session 1)</a:t>
            </a:r>
            <a:endParaRPr lang="en-US" sz="1800" dirty="0"/>
          </a:p>
          <a:p>
            <a:pPr marL="342900" indent="-342900">
              <a:lnSpc>
                <a:spcPct val="120000"/>
              </a:lnSpc>
              <a:spcBef>
                <a:spcPts val="400"/>
              </a:spcBef>
              <a:buSzPct val="100000"/>
              <a:buChar char="•"/>
            </a:pPr>
            <a:r>
              <a:rPr lang="en-US" sz="18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Track tasks with Issues (Session 2)</a:t>
            </a:r>
            <a:endParaRPr lang="en-US" sz="1800" dirty="0"/>
          </a:p>
          <a:p>
            <a:pPr marL="342900" indent="-342900">
              <a:lnSpc>
                <a:spcPct val="120000"/>
              </a:lnSpc>
              <a:spcBef>
                <a:spcPts val="400"/>
              </a:spcBef>
              <a:buSzPct val="100000"/>
              <a:buChar char="•"/>
            </a:pPr>
            <a:r>
              <a:rPr lang="en-US" sz="18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Organize with Projects (Session 3)</a:t>
            </a:r>
            <a:endParaRPr lang="en-US" sz="1800" dirty="0"/>
          </a:p>
          <a:p>
            <a:pPr marL="342900" indent="-342900">
              <a:lnSpc>
                <a:spcPct val="120000"/>
              </a:lnSpc>
              <a:spcBef>
                <a:spcPts val="400"/>
              </a:spcBef>
              <a:buSzPct val="100000"/>
              <a:buChar char="•"/>
            </a:pPr>
            <a:r>
              <a:rPr lang="en-US" sz="18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Collaborate with Pull Requests (Session 4)</a:t>
            </a:r>
            <a:endParaRPr lang="en-US" sz="1800" dirty="0"/>
          </a:p>
          <a:p>
            <a:pPr marL="342900" indent="-342900">
              <a:lnSpc>
                <a:spcPct val="120000"/>
              </a:lnSpc>
              <a:spcBef>
                <a:spcPts val="400"/>
              </a:spcBef>
              <a:buSzPct val="100000"/>
              <a:buChar char="•"/>
            </a:pPr>
            <a:r>
              <a:rPr lang="en-US" sz="18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Stay connected with notifications and @mentions (Session 5)</a:t>
            </a:r>
            <a:endParaRPr lang="en-US" sz="1800" dirty="0"/>
          </a:p>
          <a:p>
            <a:pPr indent="0" marL="0">
              <a:lnSpc>
                <a:spcPct val="120000"/>
              </a:lnSpc>
              <a:spcBef>
                <a:spcPts val="400"/>
              </a:spcBef>
              <a:buNone/>
            </a:pPr>
            <a:endParaRPr lang="en-US" sz="1800" dirty="0"/>
          </a:p>
          <a:p>
            <a:pPr indent="0" marL="0">
              <a:lnSpc>
                <a:spcPct val="120000"/>
              </a:lnSpc>
              <a:spcBef>
                <a:spcPts val="400"/>
              </a:spcBef>
              <a:buNone/>
            </a:pPr>
            <a:r>
              <a:rPr lang="en-US" sz="1800" b="1" dirty="0">
                <a:solidFill>
                  <a:srgbClr val="1E51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Today you'll learn to create templates — pre-built forms so you never write the same thing from scratch twice.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57200" y="475488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E9F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Session 6 of 12 — GitHub Training for Farmers  |  Slide 2 of 26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1D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1E512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4E9F3D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51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This Matters for YOUR Farm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i="1" dirty="0">
                <a:solidFill>
                  <a:srgbClr val="4E9F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Quick Question: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457200" y="137160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spcBef>
                <a:spcPts val="800"/>
              </a:spcBef>
              <a:buNone/>
            </a:pPr>
            <a:r>
              <a:rPr lang="en-US" sz="18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 you ever create the same type of work order over and over?</a:t>
            </a:r>
            <a:endParaRPr lang="en-US" sz="1800" dirty="0"/>
          </a:p>
          <a:p>
            <a:pPr marL="342900" indent="-342900">
              <a:lnSpc>
                <a:spcPct val="120000"/>
              </a:lnSpc>
              <a:spcBef>
                <a:spcPts val="400"/>
              </a:spcBef>
              <a:buSzPct val="100000"/>
              <a:buChar char="•"/>
            </a:pPr>
            <a:r>
              <a:rPr lang="en-US" sz="18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Weekly equipment checks?</a:t>
            </a:r>
            <a:endParaRPr lang="en-US" sz="1800" dirty="0"/>
          </a:p>
          <a:p>
            <a:pPr marL="342900" indent="-342900">
              <a:lnSpc>
                <a:spcPct val="120000"/>
              </a:lnSpc>
              <a:spcBef>
                <a:spcPts val="400"/>
              </a:spcBef>
              <a:buSzPct val="100000"/>
              <a:buChar char="•"/>
            </a:pPr>
            <a:r>
              <a:rPr lang="en-US" sz="18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Seasonal planting tasks?</a:t>
            </a:r>
            <a:endParaRPr lang="en-US" sz="1800" dirty="0"/>
          </a:p>
          <a:p>
            <a:pPr marL="342900" indent="-342900">
              <a:lnSpc>
                <a:spcPct val="120000"/>
              </a:lnSpc>
              <a:spcBef>
                <a:spcPts val="400"/>
              </a:spcBef>
              <a:buSzPct val="100000"/>
              <a:buChar char="•"/>
            </a:pPr>
            <a:r>
              <a:rPr lang="en-US" sz="18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Recurring maintenance schedules?</a:t>
            </a:r>
            <a:endParaRPr lang="en-US" sz="1800" dirty="0"/>
          </a:p>
          <a:p>
            <a:pPr marL="342900" indent="-342900">
              <a:lnSpc>
                <a:spcPct val="120000"/>
              </a:lnSpc>
              <a:spcBef>
                <a:spcPts val="400"/>
              </a:spcBef>
              <a:buSzPct val="100000"/>
              <a:buChar char="•"/>
            </a:pPr>
            <a:r>
              <a:rPr lang="en-US" sz="18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Veterinary visit reports?</a:t>
            </a:r>
            <a:endParaRPr lang="en-US" sz="1800" dirty="0"/>
          </a:p>
          <a:p>
            <a:pPr indent="0" marL="0">
              <a:lnSpc>
                <a:spcPct val="120000"/>
              </a:lnSpc>
              <a:spcBef>
                <a:spcPts val="400"/>
              </a:spcBef>
              <a:buNone/>
            </a:pPr>
            <a:endParaRPr lang="en-US" sz="1800" dirty="0"/>
          </a:p>
          <a:p>
            <a:pPr indent="0" marL="0">
              <a:lnSpc>
                <a:spcPct val="120000"/>
              </a:lnSpc>
              <a:spcBef>
                <a:spcPts val="400"/>
              </a:spcBef>
              <a:buNone/>
            </a:pPr>
            <a:r>
              <a:rPr lang="en-US" sz="1800" i="1" dirty="0">
                <a:solidFill>
                  <a:srgbClr val="1E51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much time do you spend re-writing the same kind of task each time?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457200" y="475488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E9F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Session 6 of 12 — GitHub Training for Farmers  |  Slide 3 of 26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1D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1E512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4E9F3D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51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Problem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51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Repetitive tasks waste time and lose details.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457200" y="14630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20000"/>
              </a:lnSpc>
              <a:spcBef>
                <a:spcPts val="400"/>
              </a:spcBef>
              <a:buSzPct val="100000"/>
              <a:buChar char="•"/>
            </a:pPr>
            <a:r>
              <a:rPr lang="en-US" sz="18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 write the same type of Issue over and over</a:t>
            </a:r>
            <a:endParaRPr lang="en-US" sz="1800" dirty="0"/>
          </a:p>
          <a:p>
            <a:pPr marL="342900" indent="-342900">
              <a:lnSpc>
                <a:spcPct val="120000"/>
              </a:lnSpc>
              <a:spcBef>
                <a:spcPts val="400"/>
              </a:spcBef>
              <a:buSzPct val="100000"/>
              <a:buChar char="•"/>
            </a:pPr>
            <a:r>
              <a:rPr lang="en-US" sz="18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Each time, you forget to include some detail</a:t>
            </a:r>
            <a:endParaRPr lang="en-US" sz="1800" dirty="0"/>
          </a:p>
          <a:p>
            <a:pPr marL="342900" indent="-342900">
              <a:lnSpc>
                <a:spcPct val="120000"/>
              </a:lnSpc>
              <a:spcBef>
                <a:spcPts val="400"/>
              </a:spcBef>
              <a:buSzPct val="100000"/>
              <a:buChar char="•"/>
            </a:pPr>
            <a:r>
              <a:rPr lang="en-US" sz="18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Different people write the same task differently — no consistency</a:t>
            </a:r>
            <a:endParaRPr lang="en-US" sz="1800" dirty="0"/>
          </a:p>
          <a:p>
            <a:pPr marL="342900" indent="-342900">
              <a:lnSpc>
                <a:spcPct val="120000"/>
              </a:lnSpc>
              <a:spcBef>
                <a:spcPts val="400"/>
              </a:spcBef>
              <a:buSzPct val="100000"/>
              <a:buChar char="•"/>
            </a:pPr>
            <a:r>
              <a:rPr lang="en-US" sz="18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New team members don't know what information to include</a:t>
            </a:r>
            <a:endParaRPr lang="en-US" sz="1800" dirty="0"/>
          </a:p>
          <a:p>
            <a:pPr marL="342900" indent="-342900">
              <a:lnSpc>
                <a:spcPct val="120000"/>
              </a:lnSpc>
              <a:spcBef>
                <a:spcPts val="400"/>
              </a:spcBef>
              <a:buSzPct val="100000"/>
              <a:buChar char="•"/>
            </a:pPr>
            <a:r>
              <a:rPr lang="en-US" sz="18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 wish you had a standard form for common requests</a:t>
            </a:r>
            <a:endParaRPr lang="en-US" sz="1800" dirty="0"/>
          </a:p>
          <a:p>
            <a:pPr indent="0" marL="0">
              <a:lnSpc>
                <a:spcPct val="120000"/>
              </a:lnSpc>
              <a:spcBef>
                <a:spcPts val="400"/>
              </a:spcBef>
              <a:buNone/>
            </a:pPr>
            <a:endParaRPr lang="en-US" sz="1800" dirty="0"/>
          </a:p>
          <a:p>
            <a:pPr indent="0" marL="0">
              <a:lnSpc>
                <a:spcPct val="120000"/>
              </a:lnSpc>
              <a:spcBef>
                <a:spcPts val="400"/>
              </a:spcBef>
              <a:buNone/>
            </a:pPr>
            <a:r>
              <a:rPr lang="en-US" sz="2000" b="1" dirty="0">
                <a:solidFill>
                  <a:srgbClr val="1E51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if GitHub could give you a pre-filled form every time you create a common task?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457200" y="475488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E9F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Session 6 of 12 — GitHub Training for Farmers  |  Slide 4 of 26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1D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1E512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4E9F3D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51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Is an Issue Template?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4E9F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Issue Template = Pre-Printed Work Order Form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457200" y="141732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spcBef>
                <a:spcPts val="800"/>
              </a:spcBef>
              <a:buNone/>
            </a:pPr>
            <a:r>
              <a:rPr lang="en-US" sz="16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 Issue Template is a form that pre-fills parts of a new Issue for you.</a:t>
            </a:r>
            <a:endParaRPr lang="en-US" sz="1800" dirty="0"/>
          </a:p>
          <a:p>
            <a:pPr indent="0" marL="0">
              <a:lnSpc>
                <a:spcPct val="120000"/>
              </a:lnSpc>
              <a:spcBef>
                <a:spcPts val="400"/>
              </a:spcBef>
              <a:buNone/>
            </a:pPr>
            <a:endParaRPr lang="en-US" sz="1800" dirty="0"/>
          </a:p>
          <a:p>
            <a:pPr indent="0" marL="0">
              <a:lnSpc>
                <a:spcPct val="120000"/>
              </a:lnSpc>
              <a:spcBef>
                <a:spcPts val="400"/>
              </a:spcBef>
              <a:buNone/>
            </a:pPr>
            <a:r>
              <a:rPr lang="en-US" sz="16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Instead of a blank page, you get:</a:t>
            </a:r>
            <a:endParaRPr lang="en-US" sz="1800" dirty="0"/>
          </a:p>
          <a:p>
            <a:pPr marL="342900" indent="-342900">
              <a:lnSpc>
                <a:spcPct val="120000"/>
              </a:lnSpc>
              <a:spcBef>
                <a:spcPts val="400"/>
              </a:spcBef>
              <a:buSzPct val="100000"/>
              <a:buChar char="•"/>
            </a:pPr>
            <a:r>
              <a:rPr lang="en-US" sz="16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pre-written title structure</a:t>
            </a:r>
            <a:endParaRPr lang="en-US" sz="1800" dirty="0"/>
          </a:p>
          <a:p>
            <a:pPr marL="342900" indent="-342900">
              <a:lnSpc>
                <a:spcPct val="120000"/>
              </a:lnSpc>
              <a:spcBef>
                <a:spcPts val="400"/>
              </a:spcBef>
              <a:buSzPct val="100000"/>
              <a:buChar char="•"/>
            </a:pPr>
            <a:r>
              <a:rPr lang="en-US" sz="16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Guided sections (What happened? Where? How urgent?)</a:t>
            </a:r>
            <a:endParaRPr lang="en-US" sz="1800" dirty="0"/>
          </a:p>
          <a:p>
            <a:pPr marL="342900" indent="-342900">
              <a:lnSpc>
                <a:spcPct val="120000"/>
              </a:lnSpc>
              <a:spcBef>
                <a:spcPts val="400"/>
              </a:spcBef>
              <a:buSzPct val="100000"/>
              <a:buChar char="•"/>
            </a:pPr>
            <a:r>
              <a:rPr lang="en-US" sz="16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Checklists already set up</a:t>
            </a:r>
            <a:endParaRPr lang="en-US" sz="1800" dirty="0"/>
          </a:p>
          <a:p>
            <a:pPr marL="342900" indent="-342900">
              <a:lnSpc>
                <a:spcPct val="120000"/>
              </a:lnSpc>
              <a:spcBef>
                <a:spcPts val="400"/>
              </a:spcBef>
              <a:buSzPct val="100000"/>
              <a:buChar char="•"/>
            </a:pPr>
            <a:r>
              <a:rPr lang="en-US" sz="16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Labels automatically applied</a:t>
            </a:r>
            <a:endParaRPr lang="en-US" sz="1800" dirty="0"/>
          </a:p>
          <a:p>
            <a:pPr indent="0" marL="0">
              <a:lnSpc>
                <a:spcPct val="120000"/>
              </a:lnSpc>
              <a:spcBef>
                <a:spcPts val="400"/>
              </a:spcBef>
              <a:buNone/>
            </a:pPr>
            <a:endParaRPr lang="en-US" sz="1800" dirty="0"/>
          </a:p>
          <a:p>
            <a:pPr indent="0" marL="0">
              <a:lnSpc>
                <a:spcPct val="120000"/>
              </a:lnSpc>
              <a:spcBef>
                <a:spcPts val="400"/>
              </a:spcBef>
              <a:buNone/>
            </a:pPr>
            <a:r>
              <a:rPr lang="en-US" sz="1400" i="1" dirty="0">
                <a:solidFill>
                  <a:srgbClr val="1E51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Think of it like a pre-printed form at the vet's office — you fill in the blanks instead of writing everything on a blank sheet.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457200" y="475488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E9F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Session 6 of 12 — GitHub Training for Farmers  |  Slide 5 of 26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1D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1E512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4E9F3D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51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Before and After Templates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097280"/>
            <a:ext cx="3840480" cy="18288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16200000">
              <a:srgbClr val="CCCCCC">
                <a:alpha val="75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640080" y="1143000"/>
            <a:ext cx="3474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WITHOUT a template: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40080" y="1508760"/>
            <a:ext cx="347472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Title: "Tractor problem"
</a:t>
            </a:r>
            <a:pPr indent="0" marL="0">
              <a:buNone/>
            </a:pPr>
            <a:r>
              <a:rPr lang="en-US" sz="13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Description: "The tractor isn't working right."
</a:t>
            </a:r>
            <a:pPr indent="0" marL="0">
              <a:buNone/>
            </a:pPr>
            <a:r>
              <a:rPr lang="en-US" sz="1200" i="1" dirty="0">
                <a:solidFill>
                  <a:srgbClr val="CC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Missing: Which tractor? What's wrong? How urgent? Who should fix it?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846320" y="1097280"/>
            <a:ext cx="3840480" cy="32918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16200000">
              <a:srgbClr val="CCCCCC">
                <a:alpha val="75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5029200" y="1143000"/>
            <a:ext cx="3474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51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WITH a template: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5029200" y="1508760"/>
            <a:ext cx="347472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Title: "Equipment Issue: John Deere 6120M — Engine stalls"
</a:t>
            </a:r>
            <a:pPr indent="0" marL="0">
              <a:buNone/>
            </a:pPr>
            <a:r>
              <a:rPr lang="en-US" sz="11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Equipment: John Deere 6120M Tractor
</a:t>
            </a:r>
            <a:pPr indent="0" marL="0">
              <a:buNone/>
            </a:pPr>
            <a:r>
              <a:rPr lang="en-US" sz="11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Problem: Engine stalls when idling
</a:t>
            </a:r>
            <a:pPr indent="0" marL="0">
              <a:buNone/>
            </a:pPr>
            <a:r>
              <a:rPr lang="en-US" sz="11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Equipment shed
</a:t>
            </a:r>
            <a:pPr indent="0" marL="0">
              <a:buNone/>
            </a:pPr>
            <a:r>
              <a:rPr lang="en-US" sz="11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Urgency: Medium — needs attention this week
</a:t>
            </a:r>
            <a:pPr indent="0" marL="0">
              <a:buNone/>
            </a:pPr>
            <a:r>
              <a:rPr lang="en-US" sz="11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Steps taken: Checked oil, cleaned air filter
</a:t>
            </a:r>
            <a:pPr indent="0" marL="0">
              <a:buNone/>
            </a:pPr>
            <a:r>
              <a:rPr lang="en-US" sz="1100" dirty="0">
                <a:solidFill>
                  <a:srgbClr val="4E9F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☐ Parts needed  ☐ Manual consulted  ☐ Repair done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448056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i="1" dirty="0">
                <a:solidFill>
                  <a:srgbClr val="1E51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important detail, every time.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457200" y="475488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E9F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Session 6 of 12 — GitHub Training for Farmers  |  Slide 6 of 26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1D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1E512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4E9F3D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51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Types of Templates on GitHub</a:t>
            </a:r>
            <a:endParaRPr lang="en-US" sz="28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97280"/>
          <a:ext cx="822960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3474720"/>
                <a:gridCol w="2743200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spcBef>
                          <a:spcPts val="200"/>
                        </a:spcBef>
                        <a:spcAft>
                          <a:spcPts val="200"/>
                        </a:spcAft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Template Type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4E9F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E9F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E9F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E9F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512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spcBef>
                          <a:spcPts val="200"/>
                        </a:spcBef>
                        <a:spcAft>
                          <a:spcPts val="200"/>
                        </a:spcAft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What It Does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4E9F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E9F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E9F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E9F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512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spcBef>
                          <a:spcPts val="200"/>
                        </a:spcBef>
                        <a:spcAft>
                          <a:spcPts val="200"/>
                        </a:spcAft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Farm Analogy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4E9F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E9F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E9F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E9F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512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spcBef>
                          <a:spcPts val="200"/>
                        </a:spcBef>
                        <a:spcAft>
                          <a:spcPts val="200"/>
                        </a:spcAft>
                        <a:buNone/>
                      </a:pPr>
                      <a:r>
                        <a:rPr lang="en-US" sz="1400" dirty="0">
                          <a:solidFill>
                            <a:srgbClr val="2C2C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Issue Template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4E9F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E9F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E9F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E9F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D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spcBef>
                          <a:spcPts val="200"/>
                        </a:spcBef>
                        <a:spcAft>
                          <a:spcPts val="200"/>
                        </a:spcAft>
                        <a:buNone/>
                      </a:pPr>
                      <a:r>
                        <a:rPr lang="en-US" sz="1400" dirty="0">
                          <a:solidFill>
                            <a:srgbClr val="2C2C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Pre-fills a new Issue with guided sections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4E9F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E9F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E9F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E9F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D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spcBef>
                          <a:spcPts val="200"/>
                        </a:spcBef>
                        <a:spcAft>
                          <a:spcPts val="200"/>
                        </a:spcAft>
                        <a:buNone/>
                      </a:pPr>
                      <a:r>
                        <a:rPr lang="en-US" sz="1400" dirty="0">
                          <a:solidFill>
                            <a:srgbClr val="2C2C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Pre-printed work order form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4E9F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E9F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E9F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E9F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DE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spcBef>
                          <a:spcPts val="200"/>
                        </a:spcBef>
                        <a:spcAft>
                          <a:spcPts val="200"/>
                        </a:spcAft>
                        <a:buNone/>
                      </a:pPr>
                      <a:r>
                        <a:rPr lang="en-US" sz="1400" dirty="0">
                          <a:solidFill>
                            <a:srgbClr val="2C2C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Saved Reply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4E9F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E9F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E9F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E9F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spcBef>
                          <a:spcPts val="200"/>
                        </a:spcBef>
                        <a:spcAft>
                          <a:spcPts val="200"/>
                        </a:spcAft>
                        <a:buNone/>
                      </a:pPr>
                      <a:r>
                        <a:rPr lang="en-US" sz="1400" dirty="0">
                          <a:solidFill>
                            <a:srgbClr val="2C2C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 pre-written comment you can reuse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4E9F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E9F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E9F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E9F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spcBef>
                          <a:spcPts val="200"/>
                        </a:spcBef>
                        <a:spcAft>
                          <a:spcPts val="200"/>
                        </a:spcAft>
                        <a:buNone/>
                      </a:pPr>
                      <a:r>
                        <a:rPr lang="en-US" sz="1400" dirty="0">
                          <a:solidFill>
                            <a:srgbClr val="2C2C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Stamp with a standard message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4E9F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E9F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E9F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E9F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spcBef>
                          <a:spcPts val="200"/>
                        </a:spcBef>
                        <a:spcAft>
                          <a:spcPts val="200"/>
                        </a:spcAft>
                        <a:buNone/>
                      </a:pPr>
                      <a:r>
                        <a:rPr lang="en-US" sz="1400" dirty="0">
                          <a:solidFill>
                            <a:srgbClr val="2C2C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Project Template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4E9F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E9F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E9F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E9F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D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spcBef>
                          <a:spcPts val="200"/>
                        </a:spcBef>
                        <a:spcAft>
                          <a:spcPts val="200"/>
                        </a:spcAft>
                        <a:buNone/>
                      </a:pPr>
                      <a:r>
                        <a:rPr lang="en-US" sz="1400" dirty="0">
                          <a:solidFill>
                            <a:srgbClr val="2C2C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Pre-built project board with columns and settings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4E9F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E9F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E9F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E9F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D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spcBef>
                          <a:spcPts val="200"/>
                        </a:spcBef>
                        <a:spcAft>
                          <a:spcPts val="200"/>
                        </a:spcAft>
                        <a:buNone/>
                      </a:pPr>
                      <a:r>
                        <a:rPr lang="en-US" sz="1400" dirty="0">
                          <a:solidFill>
                            <a:srgbClr val="2C2C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Ready-made seasonal planning board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4E9F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E9F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E9F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E9F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DE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457200" y="34747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51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Today we'll focus on Issue Templates and Saved Replies.</a:t>
            </a:r>
            <a:endParaRPr lang="en-US" sz="1800" dirty="0"/>
          </a:p>
        </p:txBody>
      </p:sp>
      <p:sp>
        <p:nvSpPr>
          <p:cNvPr id="7" name="Text 4"/>
          <p:cNvSpPr/>
          <p:nvPr/>
        </p:nvSpPr>
        <p:spPr>
          <a:xfrm>
            <a:off x="457200" y="384048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We'll cover Project Templates in Session 9 (Advanced Projects).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457200" y="475488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E9F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Session 6 of 12 — GitHub Training for Farmers  |  Slide 7 of 26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1D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1E512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4E9F3D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51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Issue Templates: How They Work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spcBef>
                <a:spcPts val="400"/>
              </a:spcBef>
              <a:buNone/>
            </a:pPr>
            <a:r>
              <a:rPr lang="en-US" sz="18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When someone creates a new Issue in a repository with templates, they see a choice:</a:t>
            </a:r>
            <a:endParaRPr lang="en-US" sz="1800" dirty="0"/>
          </a:p>
          <a:p>
            <a:pPr indent="0" marL="0">
              <a:lnSpc>
                <a:spcPct val="120000"/>
              </a:lnSpc>
              <a:spcBef>
                <a:spcPts val="400"/>
              </a:spcBef>
              <a:buNone/>
            </a:pPr>
            <a:endParaRPr lang="en-US" sz="1800" dirty="0"/>
          </a:p>
          <a:p>
            <a:pPr indent="0" marL="0">
              <a:lnSpc>
                <a:spcPct val="120000"/>
              </a:lnSpc>
              <a:spcBef>
                <a:spcPts val="400"/>
              </a:spcBef>
              <a:buNone/>
            </a:pPr>
            <a:r>
              <a:rPr lang="en-US" sz="18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Instead of a blank page, they see:</a:t>
            </a:r>
            <a:endParaRPr lang="en-US" sz="1800" dirty="0"/>
          </a:p>
          <a:p>
            <a:pPr marL="342900" indent="-342900">
              <a:lnSpc>
                <a:spcPct val="120000"/>
              </a:lnSpc>
              <a:spcBef>
                <a:spcPts val="400"/>
              </a:spcBef>
              <a:buSzPct val="100000"/>
              <a:buChar char="•"/>
            </a:pPr>
            <a:r>
              <a:rPr lang="en-US" sz="1800" b="1" dirty="0">
                <a:solidFill>
                  <a:srgbClr val="1E51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"Equipment Maintenance Request"</a:t>
            </a:r>
            <a:endParaRPr lang="en-US" sz="1800" dirty="0"/>
          </a:p>
          <a:p>
            <a:pPr marL="342900" indent="-342900">
              <a:lnSpc>
                <a:spcPct val="120000"/>
              </a:lnSpc>
              <a:spcBef>
                <a:spcPts val="400"/>
              </a:spcBef>
              <a:buSzPct val="100000"/>
              <a:buChar char="•"/>
            </a:pPr>
            <a:r>
              <a:rPr lang="en-US" sz="1800" b="1" dirty="0">
                <a:solidFill>
                  <a:srgbClr val="1E51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"Crop Issue Report"</a:t>
            </a:r>
            <a:endParaRPr lang="en-US" sz="1800" dirty="0"/>
          </a:p>
          <a:p>
            <a:pPr marL="342900" indent="-342900">
              <a:lnSpc>
                <a:spcPct val="120000"/>
              </a:lnSpc>
              <a:spcBef>
                <a:spcPts val="400"/>
              </a:spcBef>
              <a:buSzPct val="100000"/>
              <a:buChar char="•"/>
            </a:pPr>
            <a:r>
              <a:rPr lang="en-US" sz="1800" b="1" dirty="0">
                <a:solidFill>
                  <a:srgbClr val="1E51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"Livestock Health Record"</a:t>
            </a:r>
            <a:endParaRPr lang="en-US" sz="1800" dirty="0"/>
          </a:p>
          <a:p>
            <a:pPr marL="342900" indent="-342900">
              <a:lnSpc>
                <a:spcPct val="120000"/>
              </a:lnSpc>
              <a:spcBef>
                <a:spcPts val="400"/>
              </a:spcBef>
              <a:buSzPct val="100000"/>
              <a:buChar char="•"/>
            </a:pPr>
            <a:r>
              <a:rPr lang="en-US" sz="1800" b="1" dirty="0">
                <a:solidFill>
                  <a:srgbClr val="1E51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"General Task"</a:t>
            </a:r>
            <a:endParaRPr lang="en-US" sz="1800" dirty="0"/>
          </a:p>
          <a:p>
            <a:pPr indent="0" marL="0">
              <a:lnSpc>
                <a:spcPct val="120000"/>
              </a:lnSpc>
              <a:spcBef>
                <a:spcPts val="400"/>
              </a:spcBef>
              <a:buNone/>
            </a:pPr>
            <a:endParaRPr lang="en-US" sz="1800" dirty="0"/>
          </a:p>
          <a:p>
            <a:pPr indent="0" marL="0">
              <a:lnSpc>
                <a:spcPct val="120000"/>
              </a:lnSpc>
              <a:spcBef>
                <a:spcPts val="400"/>
              </a:spcBef>
              <a:buNone/>
            </a:pPr>
            <a:r>
              <a:rPr lang="en-US" sz="18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They pick the one that fits, and the form appears with sections ready to fill in.</a:t>
            </a:r>
            <a:endParaRPr lang="en-US" sz="1800" dirty="0"/>
          </a:p>
          <a:p>
            <a:pPr indent="0" marL="0">
              <a:lnSpc>
                <a:spcPct val="120000"/>
              </a:lnSpc>
              <a:spcBef>
                <a:spcPts val="400"/>
              </a:spcBef>
              <a:buNone/>
            </a:pPr>
            <a:endParaRPr lang="en-US" sz="1800" dirty="0"/>
          </a:p>
          <a:p>
            <a:pPr indent="0" marL="0">
              <a:lnSpc>
                <a:spcPct val="120000"/>
              </a:lnSpc>
              <a:spcBef>
                <a:spcPts val="400"/>
              </a:spcBef>
              <a:buNone/>
            </a:pPr>
            <a:r>
              <a:rPr lang="en-US" sz="1800" b="1" dirty="0">
                <a:solidFill>
                  <a:srgbClr val="4E9F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Anyone creating an Issue sees the templates — so even a new team member knows what information to provide.</a:t>
            </a:r>
            <a:endParaRPr lang="en-US" sz="1800" dirty="0"/>
          </a:p>
        </p:txBody>
      </p:sp>
      <p:sp>
        <p:nvSpPr>
          <p:cNvPr id="7" name="Text 4"/>
          <p:cNvSpPr/>
          <p:nvPr/>
        </p:nvSpPr>
        <p:spPr>
          <a:xfrm>
            <a:off x="457200" y="475488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E9F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Session 6 of 12 — GitHub Training for Farmers  |  Slide 8 of 26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4F1D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1E512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4E9F3D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51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Creating an Issue Template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spcBef>
                <a:spcPts val="400"/>
              </a:spcBef>
              <a:buNone/>
            </a:pPr>
            <a:r>
              <a:rPr lang="en-US" sz="2000" b="1" dirty="0">
                <a:solidFill>
                  <a:srgbClr val="1E51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to create an Issue Template:</a:t>
            </a:r>
            <a:endParaRPr lang="en-US" sz="1800" dirty="0"/>
          </a:p>
          <a:p>
            <a:pPr indent="0" marL="0">
              <a:lnSpc>
                <a:spcPct val="120000"/>
              </a:lnSpc>
              <a:spcBef>
                <a:spcPts val="400"/>
              </a:spcBef>
              <a:buNone/>
            </a:pPr>
            <a:endParaRPr lang="en-US" sz="1800" dirty="0"/>
          </a:p>
          <a:p>
            <a:pPr indent="0" marL="0">
              <a:lnSpc>
                <a:spcPct val="120000"/>
              </a:lnSpc>
              <a:spcBef>
                <a:spcPts val="400"/>
              </a:spcBef>
              <a:buNone/>
            </a:pPr>
            <a:r>
              <a:rPr lang="en-US" sz="18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 Go to your repository</a:t>
            </a:r>
            <a:endParaRPr lang="en-US" sz="1800" dirty="0"/>
          </a:p>
          <a:p>
            <a:pPr indent="0" marL="0">
              <a:lnSpc>
                <a:spcPct val="120000"/>
              </a:lnSpc>
              <a:spcBef>
                <a:spcPts val="400"/>
              </a:spcBef>
              <a:buNone/>
            </a:pPr>
            <a:r>
              <a:rPr lang="en-US" sz="18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 Click "Settings" (you need to be the repository owner)</a:t>
            </a:r>
            <a:endParaRPr lang="en-US" sz="1800" dirty="0"/>
          </a:p>
          <a:p>
            <a:pPr indent="0" marL="0">
              <a:lnSpc>
                <a:spcPct val="120000"/>
              </a:lnSpc>
              <a:spcBef>
                <a:spcPts val="400"/>
              </a:spcBef>
              <a:buNone/>
            </a:pPr>
            <a:r>
              <a:rPr lang="en-US" sz="18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 Scroll down to "Features" section</a:t>
            </a:r>
            <a:endParaRPr lang="en-US" sz="1800" dirty="0"/>
          </a:p>
          <a:p>
            <a:pPr indent="0" marL="0">
              <a:lnSpc>
                <a:spcPct val="120000"/>
              </a:lnSpc>
              <a:spcBef>
                <a:spcPts val="400"/>
              </a:spcBef>
              <a:buNone/>
            </a:pPr>
            <a:r>
              <a:rPr lang="en-US" sz="18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 Next to Issues, click "Set up templates"</a:t>
            </a:r>
            <a:endParaRPr lang="en-US" sz="1800" dirty="0"/>
          </a:p>
          <a:p>
            <a:pPr indent="0" marL="0">
              <a:lnSpc>
                <a:spcPct val="120000"/>
              </a:lnSpc>
              <a:spcBef>
                <a:spcPts val="400"/>
              </a:spcBef>
              <a:buNone/>
            </a:pPr>
            <a:r>
              <a:rPr lang="en-US" sz="18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  Click "Add template" and choose a starter:</a:t>
            </a:r>
            <a:endParaRPr lang="en-US" sz="1800" dirty="0"/>
          </a:p>
          <a:p>
            <a:pPr indent="0" marL="0">
              <a:lnSpc>
                <a:spcPct val="120000"/>
              </a:lnSpc>
              <a:spcBef>
                <a:spcPts val="400"/>
              </a:spcBef>
              <a:buNone/>
            </a:pPr>
            <a:r>
              <a:rPr lang="en-US" sz="1600" dirty="0">
                <a:solidFill>
                  <a:srgbClr val="4E9F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Bug report — Feature request — Custom template</a:t>
            </a:r>
            <a:endParaRPr lang="en-US" sz="1800" dirty="0"/>
          </a:p>
          <a:p>
            <a:pPr indent="0" marL="0">
              <a:lnSpc>
                <a:spcPct val="120000"/>
              </a:lnSpc>
              <a:spcBef>
                <a:spcPts val="400"/>
              </a:spcBef>
              <a:buNone/>
            </a:pPr>
            <a:r>
              <a:rPr lang="en-US" sz="18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6.  Edit the template with your content</a:t>
            </a:r>
            <a:endParaRPr lang="en-US" sz="1800" dirty="0"/>
          </a:p>
          <a:p>
            <a:pPr indent="0" marL="0">
              <a:lnSpc>
                <a:spcPct val="120000"/>
              </a:lnSpc>
              <a:spcBef>
                <a:spcPts val="400"/>
              </a:spcBef>
              <a:buNone/>
            </a:pPr>
            <a:r>
              <a:rPr lang="en-US" sz="18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  Click "Propose changes" then "Commit changes"</a:t>
            </a:r>
            <a:endParaRPr lang="en-US" sz="1800" dirty="0"/>
          </a:p>
          <a:p>
            <a:pPr indent="0" marL="0">
              <a:lnSpc>
                <a:spcPct val="120000"/>
              </a:lnSpc>
              <a:spcBef>
                <a:spcPts val="400"/>
              </a:spcBef>
              <a:buNone/>
            </a:pPr>
            <a:endParaRPr lang="en-US" sz="1800" dirty="0"/>
          </a:p>
          <a:p>
            <a:pPr indent="0" marL="0">
              <a:lnSpc>
                <a:spcPct val="120000"/>
              </a:lnSpc>
              <a:spcBef>
                <a:spcPts val="400"/>
              </a:spcBef>
              <a:buNone/>
            </a:pPr>
            <a:r>
              <a:rPr lang="en-US" sz="1800" b="1" dirty="0">
                <a:solidFill>
                  <a:srgbClr val="1E51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farm use: Choose "Custom template" so you can write sections that make sense for your farm.</a:t>
            </a:r>
            <a:endParaRPr lang="en-US" sz="1800" dirty="0"/>
          </a:p>
        </p:txBody>
      </p:sp>
      <p:sp>
        <p:nvSpPr>
          <p:cNvPr id="7" name="Text 4"/>
          <p:cNvSpPr/>
          <p:nvPr/>
        </p:nvSpPr>
        <p:spPr>
          <a:xfrm>
            <a:off x="457200" y="475488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E9F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Session 6 of 12 — GitHub Training for Farmers  |  Slide 9 of 26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4F1D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1E512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4E9F3D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51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Designing a Good Template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spcBef>
                <a:spcPts val="400"/>
              </a:spcBef>
              <a:buNone/>
            </a:pPr>
            <a:r>
              <a:rPr lang="en-US" sz="1800" b="1" dirty="0">
                <a:solidFill>
                  <a:srgbClr val="1E51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good template has three parts:</a:t>
            </a:r>
            <a:endParaRPr lang="en-US" sz="1800" dirty="0"/>
          </a:p>
          <a:p>
            <a:pPr indent="0" marL="0">
              <a:lnSpc>
                <a:spcPct val="120000"/>
              </a:lnSpc>
              <a:spcBef>
                <a:spcPts val="400"/>
              </a:spcBef>
              <a:buNone/>
            </a:pPr>
            <a:endParaRPr lang="en-US" sz="1800" dirty="0"/>
          </a:p>
          <a:p>
            <a:pPr indent="0" marL="0">
              <a:lnSpc>
                <a:spcPct val="120000"/>
              </a:lnSpc>
              <a:spcBef>
                <a:spcPts val="400"/>
              </a:spcBef>
              <a:buNone/>
            </a:pPr>
            <a:r>
              <a:rPr lang="en-US" sz="14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 Title format — e.g., "Equipment Issue: [Name] — [Problem]"</a:t>
            </a:r>
            <a:endParaRPr lang="en-US" sz="1800" dirty="0"/>
          </a:p>
          <a:p>
            <a:pPr indent="0" marL="0">
              <a:lnSpc>
                <a:spcPct val="120000"/>
              </a:lnSpc>
              <a:spcBef>
                <a:spcPts val="400"/>
              </a:spcBef>
              <a:buNone/>
            </a:pPr>
            <a:endParaRPr lang="en-US" sz="1800" dirty="0"/>
          </a:p>
          <a:p>
            <a:pPr indent="0" marL="0">
              <a:lnSpc>
                <a:spcPct val="120000"/>
              </a:lnSpc>
              <a:spcBef>
                <a:spcPts val="400"/>
              </a:spcBef>
              <a:buNone/>
            </a:pPr>
            <a:r>
              <a:rPr lang="en-US" sz="14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 Guided sections — Prompts: What happened? Where? How urgent?</a:t>
            </a:r>
            <a:endParaRPr lang="en-US" sz="1800" dirty="0"/>
          </a:p>
          <a:p>
            <a:pPr indent="0" marL="0">
              <a:lnSpc>
                <a:spcPct val="120000"/>
              </a:lnSpc>
              <a:spcBef>
                <a:spcPts val="400"/>
              </a:spcBef>
              <a:buNone/>
            </a:pPr>
            <a:endParaRPr lang="en-US" sz="1800" dirty="0"/>
          </a:p>
          <a:p>
            <a:pPr indent="0" marL="0">
              <a:lnSpc>
                <a:spcPct val="120000"/>
              </a:lnSpc>
              <a:spcBef>
                <a:spcPts val="400"/>
              </a:spcBef>
              <a:buNone/>
            </a:pPr>
            <a:r>
              <a:rPr lang="en-US" sz="14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 Checklist — ☐ Photos attached  ☐ Parts identified  ☐ Assigned</a:t>
            </a:r>
            <a:endParaRPr lang="en-US" sz="1800" dirty="0"/>
          </a:p>
          <a:p>
            <a:pPr indent="0" marL="0">
              <a:lnSpc>
                <a:spcPct val="120000"/>
              </a:lnSpc>
              <a:spcBef>
                <a:spcPts val="400"/>
              </a:spcBef>
              <a:buNone/>
            </a:pPr>
            <a:endParaRPr lang="en-US" sz="1800" dirty="0"/>
          </a:p>
          <a:p>
            <a:pPr indent="0" marL="0">
              <a:lnSpc>
                <a:spcPct val="120000"/>
              </a:lnSpc>
              <a:spcBef>
                <a:spcPts val="400"/>
              </a:spcBef>
              <a:buNone/>
            </a:pPr>
            <a:r>
              <a:rPr lang="en-US" sz="1300" i="1" dirty="0">
                <a:solidFill>
                  <a:srgbClr val="1E51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Tip: Write your template as if explaining to someone new on the farm.</a:t>
            </a:r>
            <a:endParaRPr lang="en-US" sz="1800" dirty="0"/>
          </a:p>
          <a:p>
            <a:pPr indent="0" marL="0">
              <a:lnSpc>
                <a:spcPct val="120000"/>
              </a:lnSpc>
              <a:spcBef>
                <a:spcPts val="400"/>
              </a:spcBef>
              <a:buNone/>
            </a:pPr>
            <a:r>
              <a:rPr lang="en-US" sz="1300" i="1" dirty="0">
                <a:solidFill>
                  <a:srgbClr val="1E51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information would they need to give you?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57200" y="475488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E9F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Session 6 of 12 — GitHub Training for Farmers  |  Slide 10 of 26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4F1D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1E512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4E9F3D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51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Example: Equipment Maintenance Template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4E9F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Template name: Equipment Maintenance Request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457200" y="1417320"/>
            <a:ext cx="8229600" cy="32004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38100" dist="12700" dir="16200000">
              <a:srgbClr val="CCCCCC">
                <a:alpha val="75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640080" y="1463040"/>
            <a:ext cx="7863840" cy="3017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E512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## Equipment Information
</a:t>
            </a:r>
            <a:pPr indent="0" marL="0">
              <a:buNone/>
            </a:pPr>
            <a:r>
              <a:rPr lang="en-US" sz="1000" dirty="0">
                <a:solidFill>
                  <a:srgbClr val="2C2C2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Equipment name: [e.g., John Deere 6120M Tractor]
Location: [e.g., Equipment shed, Field 2]
Current hours/mileage: [if applicable]
</a:t>
            </a:r>
            <a:pPr indent="0" marL="0">
              <a:buNone/>
            </a:pPr>
            <a:r>
              <a:rPr lang="en-US" sz="1200" b="1" dirty="0">
                <a:solidFill>
                  <a:srgbClr val="1E512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## Problem Description
</a:t>
            </a:r>
            <a:pPr indent="0" marL="0">
              <a:buNone/>
            </a:pPr>
            <a:r>
              <a:rPr lang="en-US" sz="1000" dirty="0">
                <a:solidFill>
                  <a:srgbClr val="8888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[Describe what's wrong or what maintenance is needed]
</a:t>
            </a:r>
            <a:pPr indent="0" marL="0">
              <a:buNone/>
            </a:pPr>
            <a:r>
              <a:rPr lang="en-US" sz="1200" b="1" dirty="0">
                <a:solidFill>
                  <a:srgbClr val="1E512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## Urgency
</a:t>
            </a:r>
            <a:pPr indent="0" marL="0">
              <a:buNone/>
            </a:pPr>
            <a:r>
              <a:rPr lang="en-US" sz="1000" dirty="0">
                <a:solidFill>
                  <a:srgbClr val="2C2C2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☐ Emergency  ☐ High (2 days)  ☐ Medium (this week)  ☐ Low
</a:t>
            </a:r>
            <a:pPr indent="0" marL="0">
              <a:buNone/>
            </a:pPr>
            <a:r>
              <a:rPr lang="en-US" sz="1200" b="1" dirty="0">
                <a:solidFill>
                  <a:srgbClr val="1E512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## Checklist
</a:t>
            </a:r>
            <a:pPr indent="0" marL="0">
              <a:buNone/>
            </a:pPr>
            <a:r>
              <a:rPr lang="en-US" sz="1000" dirty="0">
                <a:solidFill>
                  <a:srgbClr val="2C2C2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☐ Photo attached  ☐ Service manual consulted  ☐ Parts identified</a:t>
            </a:r>
            <a:endParaRPr lang="en-US" sz="1200" dirty="0"/>
          </a:p>
          <a:p>
            <a:pPr indent="0" marL="0">
              <a:buNone/>
            </a:pPr>
            <a:r>
              <a:rPr lang="en-US" sz="1000" dirty="0">
                <a:solidFill>
                  <a:srgbClr val="2C2C2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☐ Repair completed  ☐ Post-repair test done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475488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E9F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Session 6 of 12 — GitHub Training for Farmers  |  Slide 11 of 26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4F1D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1E512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4E9F3D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51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Example: Crop Issue Template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4E9F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Template name: Crop Issue Report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457200" y="1417320"/>
            <a:ext cx="8229600" cy="32004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38100" dist="12700" dir="16200000">
              <a:srgbClr val="CCCCCC">
                <a:alpha val="75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640080" y="1463040"/>
            <a:ext cx="7863840" cy="3017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E512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## Field Information
</a:t>
            </a:r>
            <a:pPr indent="0" marL="0">
              <a:buNone/>
            </a:pPr>
            <a:r>
              <a:rPr lang="en-US" sz="1000" dirty="0">
                <a:solidFill>
                  <a:srgbClr val="2C2C2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Field name/number: [e.g., Field 3]
Crop: [e.g., Soybeans]
Growth stage: [e.g., V3, flowering, mature]
</a:t>
            </a:r>
            <a:pPr indent="0" marL="0">
              <a:buNone/>
            </a:pPr>
            <a:r>
              <a:rPr lang="en-US" sz="1200" b="1" dirty="0">
                <a:solidFill>
                  <a:srgbClr val="1E512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## Issue Description
</a:t>
            </a:r>
            <a:pPr indent="0" marL="0">
              <a:buNone/>
            </a:pPr>
            <a:r>
              <a:rPr lang="en-US" sz="1000" dirty="0">
                <a:solidFill>
                  <a:srgbClr val="8888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[Describe what you're seeing — discoloration, pests, wilting, etc.]
</a:t>
            </a:r>
            <a:pPr indent="0" marL="0">
              <a:buNone/>
            </a:pPr>
            <a:r>
              <a:rPr lang="en-US" sz="1200" b="1" dirty="0">
                <a:solidFill>
                  <a:srgbClr val="1E512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## Photos
</a:t>
            </a:r>
            <a:pPr indent="0" marL="0">
              <a:buNone/>
            </a:pPr>
            <a:r>
              <a:rPr lang="en-US" sz="1000" dirty="0">
                <a:solidFill>
                  <a:srgbClr val="8888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[Attach 1-2 photos of the issue]
</a:t>
            </a:r>
            <a:pPr indent="0" marL="0">
              <a:buNone/>
            </a:pPr>
            <a:r>
              <a:rPr lang="en-US" sz="1200" b="1" dirty="0">
                <a:solidFill>
                  <a:srgbClr val="1E512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## Urgency
</a:t>
            </a:r>
            <a:pPr indent="0" marL="0">
              <a:buNone/>
            </a:pPr>
            <a:r>
              <a:rPr lang="en-US" sz="1000" dirty="0">
                <a:solidFill>
                  <a:srgbClr val="2C2C2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☐ Immediate — crop at risk  ☐ This week  ☐ Monitor
</a:t>
            </a:r>
            <a:pPr indent="0" marL="0">
              <a:buNone/>
            </a:pPr>
            <a:r>
              <a:rPr lang="en-US" sz="1200" b="1" dirty="0">
                <a:solidFill>
                  <a:srgbClr val="1E512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## Possible Causes / Action Taken
</a:t>
            </a:r>
            <a:pPr indent="0" marL="0">
              <a:buNone/>
            </a:pPr>
            <a:r>
              <a:rPr lang="en-US" sz="1000" dirty="0">
                <a:solidFill>
                  <a:srgbClr val="8888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[Your best guess or observations / Steps already taken]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475488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E9F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Session 6 of 12 — GitHub Training for Farmers  |  Slide 12 of 26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4F1D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1E512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4E9F3D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51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Saved Replies: Stamp Messages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4E9F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Saved Replies = Pre-Written Comments You Can Reuse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457200" y="141732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spcBef>
                <a:spcPts val="400"/>
              </a:spcBef>
              <a:buNone/>
            </a:pPr>
            <a:r>
              <a:rPr lang="en-US" sz="14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If you find yourself typing the same comment over and over, save it as a Saved Reply.</a:t>
            </a:r>
            <a:endParaRPr lang="en-US" sz="1800" dirty="0"/>
          </a:p>
          <a:p>
            <a:pPr indent="0" marL="0">
              <a:lnSpc>
                <a:spcPct val="120000"/>
              </a:lnSpc>
              <a:spcBef>
                <a:spcPts val="400"/>
              </a:spcBef>
              <a:buNone/>
            </a:pPr>
            <a:endParaRPr lang="en-US" sz="1800" dirty="0"/>
          </a:p>
          <a:p>
            <a:pPr indent="0" marL="0">
              <a:lnSpc>
                <a:spcPct val="120000"/>
              </a:lnSpc>
              <a:spcBef>
                <a:spcPts val="400"/>
              </a:spcBef>
              <a:buNone/>
            </a:pPr>
            <a:r>
              <a:rPr lang="en-US" sz="1400" b="1" dirty="0">
                <a:solidFill>
                  <a:srgbClr val="1E51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Examples:</a:t>
            </a:r>
            <a:endParaRPr lang="en-US" sz="1800" dirty="0"/>
          </a:p>
          <a:p>
            <a:pPr marL="342900" indent="-342900">
              <a:lnSpc>
                <a:spcPct val="120000"/>
              </a:lnSpc>
              <a:spcBef>
                <a:spcPts val="400"/>
              </a:spcBef>
              <a:buSzPct val="100000"/>
              <a:buChar char="•"/>
            </a:pPr>
            <a:r>
              <a:rPr lang="en-US" sz="13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"Repair completed and tested. Closing this Issue."</a:t>
            </a:r>
            <a:endParaRPr lang="en-US" sz="1800" dirty="0"/>
          </a:p>
          <a:p>
            <a:pPr marL="342900" indent="-342900">
              <a:lnSpc>
                <a:spcPct val="120000"/>
              </a:lnSpc>
              <a:spcBef>
                <a:spcPts val="400"/>
              </a:spcBef>
              <a:buSzPct val="100000"/>
              <a:buChar char="•"/>
            </a:pPr>
            <a:r>
              <a:rPr lang="en-US" sz="13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"Parts ordered. Expected delivery: [date]. Will update when received."</a:t>
            </a:r>
            <a:endParaRPr lang="en-US" sz="1800" dirty="0"/>
          </a:p>
          <a:p>
            <a:pPr marL="342900" indent="-342900">
              <a:lnSpc>
                <a:spcPct val="120000"/>
              </a:lnSpc>
              <a:spcBef>
                <a:spcPts val="400"/>
              </a:spcBef>
              <a:buSzPct val="100000"/>
              <a:buChar char="•"/>
            </a:pPr>
            <a:r>
              <a:rPr lang="en-US" sz="13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"Reassigning to @[name] — this is in their area."</a:t>
            </a:r>
            <a:endParaRPr lang="en-US" sz="1800" dirty="0"/>
          </a:p>
          <a:p>
            <a:pPr marL="342900" indent="-342900">
              <a:lnSpc>
                <a:spcPct val="120000"/>
              </a:lnSpc>
              <a:spcBef>
                <a:spcPts val="400"/>
              </a:spcBef>
              <a:buSzPct val="100000"/>
              <a:buChar char="•"/>
            </a:pPr>
            <a:r>
              <a:rPr lang="en-US" sz="13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"Thank you for reporting this. I'll check on it today."</a:t>
            </a:r>
            <a:endParaRPr lang="en-US" sz="1800" dirty="0"/>
          </a:p>
          <a:p>
            <a:pPr indent="0" marL="0">
              <a:lnSpc>
                <a:spcPct val="120000"/>
              </a:lnSpc>
              <a:spcBef>
                <a:spcPts val="400"/>
              </a:spcBef>
              <a:buNone/>
            </a:pPr>
            <a:endParaRPr lang="en-US" sz="1800" dirty="0"/>
          </a:p>
          <a:p>
            <a:pPr indent="0" marL="0">
              <a:lnSpc>
                <a:spcPct val="120000"/>
              </a:lnSpc>
              <a:spcBef>
                <a:spcPts val="400"/>
              </a:spcBef>
              <a:buNone/>
            </a:pPr>
            <a:r>
              <a:rPr lang="en-US" sz="1200" i="1" dirty="0">
                <a:solidFill>
                  <a:srgbClr val="1E51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Where to find: When typing a comment, look for the arrow icon near the comment box toolbar.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457200" y="475488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E9F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Session 6 of 12 — GitHub Training for Farmers  |  Slide 13 of 26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4F1D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1E512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4E9F3D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51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Creating a Saved Reply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spcBef>
                <a:spcPts val="400"/>
              </a:spcBef>
              <a:buNone/>
            </a:pPr>
            <a:r>
              <a:rPr lang="en-US" sz="1600" b="1" dirty="0">
                <a:solidFill>
                  <a:srgbClr val="1E51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to create a Saved Reply:</a:t>
            </a:r>
            <a:endParaRPr lang="en-US" sz="1800" dirty="0"/>
          </a:p>
          <a:p>
            <a:pPr indent="0" marL="0">
              <a:lnSpc>
                <a:spcPct val="120000"/>
              </a:lnSpc>
              <a:spcBef>
                <a:spcPts val="400"/>
              </a:spcBef>
              <a:buNone/>
            </a:pPr>
            <a:endParaRPr lang="en-US" sz="1800" dirty="0"/>
          </a:p>
          <a:p>
            <a:pPr indent="0" marL="0">
              <a:lnSpc>
                <a:spcPct val="120000"/>
              </a:lnSpc>
              <a:spcBef>
                <a:spcPts val="400"/>
              </a:spcBef>
              <a:buNone/>
            </a:pPr>
            <a:r>
              <a:rPr lang="en-US" sz="14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 Click your profile icon (top right) → "Settings"</a:t>
            </a:r>
            <a:endParaRPr lang="en-US" sz="1800" dirty="0"/>
          </a:p>
          <a:p>
            <a:pPr indent="0" marL="0">
              <a:lnSpc>
                <a:spcPct val="120000"/>
              </a:lnSpc>
              <a:spcBef>
                <a:spcPts val="400"/>
              </a:spcBef>
              <a:buNone/>
            </a:pPr>
            <a:r>
              <a:rPr lang="en-US" sz="14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 Click "Saved replies" (left menu, under "Code, planning, and automation")</a:t>
            </a:r>
            <a:endParaRPr lang="en-US" sz="1800" dirty="0"/>
          </a:p>
          <a:p>
            <a:pPr indent="0" marL="0">
              <a:lnSpc>
                <a:spcPct val="120000"/>
              </a:lnSpc>
              <a:spcBef>
                <a:spcPts val="400"/>
              </a:spcBef>
              <a:buNone/>
            </a:pPr>
            <a:r>
              <a:rPr lang="en-US" sz="14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 Click "Add a saved reply"</a:t>
            </a:r>
            <a:endParaRPr lang="en-US" sz="1800" dirty="0"/>
          </a:p>
          <a:p>
            <a:pPr indent="0" marL="0">
              <a:lnSpc>
                <a:spcPct val="120000"/>
              </a:lnSpc>
              <a:spcBef>
                <a:spcPts val="400"/>
              </a:spcBef>
              <a:buNone/>
            </a:pPr>
            <a:r>
              <a:rPr lang="en-US" sz="14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 Give it a title (e.g., "Parts ordered")</a:t>
            </a:r>
            <a:endParaRPr lang="en-US" sz="1800" dirty="0"/>
          </a:p>
          <a:p>
            <a:pPr indent="0" marL="0">
              <a:lnSpc>
                <a:spcPct val="120000"/>
              </a:lnSpc>
              <a:spcBef>
                <a:spcPts val="400"/>
              </a:spcBef>
              <a:buNone/>
            </a:pPr>
            <a:r>
              <a:rPr lang="en-US" sz="14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  Write the reply text</a:t>
            </a:r>
            <a:endParaRPr lang="en-US" sz="1800" dirty="0"/>
          </a:p>
          <a:p>
            <a:pPr indent="0" marL="0">
              <a:lnSpc>
                <a:spcPct val="120000"/>
              </a:lnSpc>
              <a:spcBef>
                <a:spcPts val="400"/>
              </a:spcBef>
              <a:buNone/>
            </a:pPr>
            <a:r>
              <a:rPr lang="en-US" sz="14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6.  Click "Add saved reply"</a:t>
            </a:r>
            <a:endParaRPr lang="en-US" sz="1800" dirty="0"/>
          </a:p>
          <a:p>
            <a:pPr indent="0" marL="0">
              <a:lnSpc>
                <a:spcPct val="120000"/>
              </a:lnSpc>
              <a:spcBef>
                <a:spcPts val="400"/>
              </a:spcBef>
              <a:buNone/>
            </a:pPr>
            <a:endParaRPr lang="en-US" sz="1800" dirty="0"/>
          </a:p>
          <a:p>
            <a:pPr indent="0" marL="0">
              <a:lnSpc>
                <a:spcPct val="120000"/>
              </a:lnSpc>
              <a:spcBef>
                <a:spcPts val="400"/>
              </a:spcBef>
              <a:buNone/>
            </a:pPr>
            <a:r>
              <a:rPr lang="en-US" sz="1300" b="1" dirty="0">
                <a:solidFill>
                  <a:srgbClr val="1E51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 use it: In any comment box, click the arrow icon in the toolbar and select your saved reply. Edit the [bracketed] parts before posting.</a:t>
            </a:r>
            <a:endParaRPr lang="en-US" sz="1800" dirty="0"/>
          </a:p>
        </p:txBody>
      </p:sp>
      <p:sp>
        <p:nvSpPr>
          <p:cNvPr id="7" name="Text 4"/>
          <p:cNvSpPr/>
          <p:nvPr/>
        </p:nvSpPr>
        <p:spPr>
          <a:xfrm>
            <a:off x="457200" y="475488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E9F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Session 6 of 12 — GitHub Training for Farmers  |  Slide 14 of 26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4F1D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1E512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4E9F3D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51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Project Templates (Preview)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spcBef>
                <a:spcPts val="400"/>
              </a:spcBef>
              <a:buNone/>
            </a:pPr>
            <a:r>
              <a:rPr lang="en-US" sz="14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GitHub also has Project Templates — pre-built planning boards.</a:t>
            </a:r>
            <a:endParaRPr lang="en-US" sz="1800" dirty="0"/>
          </a:p>
          <a:p>
            <a:pPr indent="0" marL="0">
              <a:lnSpc>
                <a:spcPct val="120000"/>
              </a:lnSpc>
              <a:spcBef>
                <a:spcPts val="400"/>
              </a:spcBef>
              <a:buNone/>
            </a:pPr>
            <a:endParaRPr lang="en-US" sz="1800" dirty="0"/>
          </a:p>
          <a:p>
            <a:pPr indent="0" marL="0">
              <a:lnSpc>
                <a:spcPct val="120000"/>
              </a:lnSpc>
              <a:spcBef>
                <a:spcPts val="400"/>
              </a:spcBef>
              <a:buNone/>
            </a:pPr>
            <a:r>
              <a:rPr lang="en-US" sz="14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When you create a new Project, you can choose from starter templates:</a:t>
            </a:r>
            <a:endParaRPr lang="en-US" sz="1800" dirty="0"/>
          </a:p>
          <a:p>
            <a:pPr marL="342900" indent="-342900">
              <a:lnSpc>
                <a:spcPct val="120000"/>
              </a:lnSpc>
              <a:spcBef>
                <a:spcPts val="400"/>
              </a:spcBef>
              <a:buSzPct val="100000"/>
              <a:buChar char="•"/>
            </a:pPr>
            <a:r>
              <a:rPr lang="en-US" sz="14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Board — Todo / In Progress / Done columns</a:t>
            </a:r>
            <a:endParaRPr lang="en-US" sz="1800" dirty="0"/>
          </a:p>
          <a:p>
            <a:pPr marL="342900" indent="-342900">
              <a:lnSpc>
                <a:spcPct val="120000"/>
              </a:lnSpc>
              <a:spcBef>
                <a:spcPts val="400"/>
              </a:spcBef>
              <a:buSzPct val="100000"/>
              <a:buChar char="•"/>
            </a:pPr>
            <a:r>
              <a:rPr lang="en-US" sz="14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Team backlog — Columns with priority levels</a:t>
            </a:r>
            <a:endParaRPr lang="en-US" sz="1800" dirty="0"/>
          </a:p>
          <a:p>
            <a:pPr marL="342900" indent="-342900">
              <a:lnSpc>
                <a:spcPct val="120000"/>
              </a:lnSpc>
              <a:spcBef>
                <a:spcPts val="400"/>
              </a:spcBef>
              <a:buSzPct val="100000"/>
              <a:buChar char="•"/>
            </a:pPr>
            <a:r>
              <a:rPr lang="en-US" sz="14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Roadmap — Timeline-based planning</a:t>
            </a:r>
            <a:endParaRPr lang="en-US" sz="1800" dirty="0"/>
          </a:p>
          <a:p>
            <a:pPr indent="0" marL="0">
              <a:lnSpc>
                <a:spcPct val="120000"/>
              </a:lnSpc>
              <a:spcBef>
                <a:spcPts val="400"/>
              </a:spcBef>
              <a:buNone/>
            </a:pPr>
            <a:endParaRPr lang="en-US" sz="1800" dirty="0"/>
          </a:p>
          <a:p>
            <a:pPr indent="0" marL="0">
              <a:lnSpc>
                <a:spcPct val="120000"/>
              </a:lnSpc>
              <a:spcBef>
                <a:spcPts val="400"/>
              </a:spcBef>
              <a:buNone/>
            </a:pPr>
            <a:r>
              <a:rPr lang="en-US" sz="14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 can also copy an existing Project to reuse your own custom board setup.</a:t>
            </a:r>
            <a:endParaRPr lang="en-US" sz="1800" dirty="0"/>
          </a:p>
          <a:p>
            <a:pPr indent="0" marL="0">
              <a:lnSpc>
                <a:spcPct val="120000"/>
              </a:lnSpc>
              <a:spcBef>
                <a:spcPts val="400"/>
              </a:spcBef>
              <a:buNone/>
            </a:pPr>
            <a:endParaRPr lang="en-US" sz="1800" dirty="0"/>
          </a:p>
          <a:p>
            <a:pPr indent="0" marL="0">
              <a:lnSpc>
                <a:spcPct val="120000"/>
              </a:lnSpc>
              <a:spcBef>
                <a:spcPts val="400"/>
              </a:spcBef>
              <a:buNone/>
            </a:pPr>
            <a:r>
              <a:rPr lang="en-US" sz="1400" b="1" dirty="0">
                <a:solidFill>
                  <a:srgbClr val="1E51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We'll explore Project Templates in depth in Session 9 (Advanced Projects). For now, know they exist.</a:t>
            </a:r>
            <a:endParaRPr lang="en-US" sz="1800" dirty="0"/>
          </a:p>
        </p:txBody>
      </p:sp>
      <p:sp>
        <p:nvSpPr>
          <p:cNvPr id="7" name="Text 4"/>
          <p:cNvSpPr/>
          <p:nvPr/>
        </p:nvSpPr>
        <p:spPr>
          <a:xfrm>
            <a:off x="457200" y="475488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E9F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Session 6 of 12 — GitHub Training for Farmers  |  Slide 15 of 26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4F1D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1E512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4E9F3D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51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When to Use Each Template Type</a:t>
            </a:r>
            <a:endParaRPr lang="en-US" sz="28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97280"/>
          <a:ext cx="8229600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1828800"/>
                <a:gridCol w="4114800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spcBef>
                          <a:spcPts val="200"/>
                        </a:spcBef>
                        <a:spcAft>
                          <a:spcPts val="200"/>
                        </a:spcAft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Need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4E9F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E9F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E9F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E9F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512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spcBef>
                          <a:spcPts val="200"/>
                        </a:spcBef>
                        <a:spcAft>
                          <a:spcPts val="200"/>
                        </a:spcAft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Template Type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4E9F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E9F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E9F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E9F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512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spcBef>
                          <a:spcPts val="200"/>
                        </a:spcBef>
                        <a:spcAft>
                          <a:spcPts val="200"/>
                        </a:spcAft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Example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4E9F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E9F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E9F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E9F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5128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spcBef>
                          <a:spcPts val="200"/>
                        </a:spcBef>
                        <a:spcAft>
                          <a:spcPts val="200"/>
                        </a:spcAft>
                        <a:buNone/>
                      </a:pPr>
                      <a:r>
                        <a:rPr lang="en-US" sz="1400" dirty="0">
                          <a:solidFill>
                            <a:srgbClr val="2C2C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Same kind of Issue repeatedly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4E9F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E9F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E9F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E9F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D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spcBef>
                          <a:spcPts val="200"/>
                        </a:spcBef>
                        <a:spcAft>
                          <a:spcPts val="200"/>
                        </a:spcAft>
                        <a:buNone/>
                      </a:pPr>
                      <a:r>
                        <a:rPr lang="en-US" sz="1400" dirty="0">
                          <a:solidFill>
                            <a:srgbClr val="2C2C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Issue Template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4E9F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E9F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E9F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E9F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D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spcBef>
                          <a:spcPts val="200"/>
                        </a:spcBef>
                        <a:spcAft>
                          <a:spcPts val="200"/>
                        </a:spcAft>
                        <a:buNone/>
                      </a:pPr>
                      <a:r>
                        <a:rPr lang="en-US" sz="1400" dirty="0">
                          <a:solidFill>
                            <a:srgbClr val="2C2C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Equipment maintenance requests, crop issue reports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4E9F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E9F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E9F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E9F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DE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spcBef>
                          <a:spcPts val="200"/>
                        </a:spcBef>
                        <a:spcAft>
                          <a:spcPts val="200"/>
                        </a:spcAft>
                        <a:buNone/>
                      </a:pPr>
                      <a:r>
                        <a:rPr lang="en-US" sz="1400" dirty="0">
                          <a:solidFill>
                            <a:srgbClr val="2C2C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Same comment over and over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4E9F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E9F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E9F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E9F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spcBef>
                          <a:spcPts val="200"/>
                        </a:spcBef>
                        <a:spcAft>
                          <a:spcPts val="200"/>
                        </a:spcAft>
                        <a:buNone/>
                      </a:pPr>
                      <a:r>
                        <a:rPr lang="en-US" sz="1400" dirty="0">
                          <a:solidFill>
                            <a:srgbClr val="2C2C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Saved Reply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4E9F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E9F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E9F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E9F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spcBef>
                          <a:spcPts val="200"/>
                        </a:spcBef>
                        <a:spcAft>
                          <a:spcPts val="200"/>
                        </a:spcAft>
                        <a:buNone/>
                      </a:pPr>
                      <a:r>
                        <a:rPr lang="en-US" sz="1400" dirty="0">
                          <a:solidFill>
                            <a:srgbClr val="2C2C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"Parts ordered," "Repair completed," "Reassigning to..."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4E9F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E9F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E9F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E9F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spcBef>
                          <a:spcPts val="200"/>
                        </a:spcBef>
                        <a:spcAft>
                          <a:spcPts val="200"/>
                        </a:spcAft>
                        <a:buNone/>
                      </a:pPr>
                      <a:r>
                        <a:rPr lang="en-US" sz="1400" dirty="0">
                          <a:solidFill>
                            <a:srgbClr val="2C2C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Same project board structure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4E9F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E9F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E9F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E9F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D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spcBef>
                          <a:spcPts val="200"/>
                        </a:spcBef>
                        <a:spcAft>
                          <a:spcPts val="200"/>
                        </a:spcAft>
                        <a:buNone/>
                      </a:pPr>
                      <a:r>
                        <a:rPr lang="en-US" sz="1400" dirty="0">
                          <a:solidFill>
                            <a:srgbClr val="2C2C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Project Template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4E9F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E9F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E9F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E9F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D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spcBef>
                          <a:spcPts val="200"/>
                        </a:spcBef>
                        <a:spcAft>
                          <a:spcPts val="200"/>
                        </a:spcAft>
                        <a:buNone/>
                      </a:pPr>
                      <a:r>
                        <a:rPr lang="en-US" sz="1400" dirty="0">
                          <a:solidFill>
                            <a:srgbClr val="2C2C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Seasonal planning board, weekly task board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4E9F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E9F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E9F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E9F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DE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457200" y="36576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51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 with Issue Templates — they save the most time and ensure consistency.</a:t>
            </a:r>
            <a:endParaRPr lang="en-US" sz="2000" dirty="0"/>
          </a:p>
        </p:txBody>
      </p:sp>
      <p:sp>
        <p:nvSpPr>
          <p:cNvPr id="7" name="Text 4"/>
          <p:cNvSpPr/>
          <p:nvPr/>
        </p:nvSpPr>
        <p:spPr>
          <a:xfrm>
            <a:off x="457200" y="475488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E9F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Session 6 of 12 — GitHub Training for Farmers  |  Slide 16 of 26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E51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4E9F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 DEMO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457200" y="109728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Creating a Farm Issue Template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731520" y="2011680"/>
            <a:ext cx="768096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F4F1D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Watch me:</a:t>
            </a:r>
            <a:pPr indent="0" marL="0">
              <a:buNone/>
            </a:pPr>
            <a:endParaRPr lang="en-US" sz="2000" dirty="0"/>
          </a:p>
          <a:p>
            <a:pPr indent="0" marL="0">
              <a:buNone/>
            </a:pPr>
            <a:r>
              <a:rPr lang="en-US" sz="1800" dirty="0">
                <a:solidFill>
                  <a:srgbClr val="F4F1D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 Go to repository Settings</a:t>
            </a:r>
            <a:endParaRPr lang="en-US" sz="2000" dirty="0"/>
          </a:p>
          <a:p>
            <a:pPr indent="0" marL="0">
              <a:buNone/>
            </a:pPr>
            <a:endParaRPr lang="en-US" sz="2000" dirty="0"/>
          </a:p>
          <a:p>
            <a:pPr indent="0" marL="0">
              <a:buNone/>
            </a:pPr>
            <a:r>
              <a:rPr lang="en-US" sz="1800" dirty="0">
                <a:solidFill>
                  <a:srgbClr val="F4F1D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 Set up an Issue Template (Custom)</a:t>
            </a:r>
            <a:endParaRPr lang="en-US" sz="2000" dirty="0"/>
          </a:p>
          <a:p>
            <a:pPr indent="0" marL="0">
              <a:buNone/>
            </a:pPr>
            <a:endParaRPr lang="en-US" sz="2000" dirty="0"/>
          </a:p>
          <a:p>
            <a:pPr indent="0" marL="0">
              <a:buNone/>
            </a:pPr>
            <a:r>
              <a:rPr lang="en-US" sz="1800" dirty="0">
                <a:solidFill>
                  <a:srgbClr val="F4F1D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 Fill in equipment maintenance sections</a:t>
            </a:r>
            <a:endParaRPr lang="en-US" sz="2000" dirty="0"/>
          </a:p>
          <a:p>
            <a:pPr indent="0" marL="0">
              <a:buNone/>
            </a:pPr>
            <a:endParaRPr lang="en-US" sz="2000" dirty="0"/>
          </a:p>
          <a:p>
            <a:pPr indent="0" marL="0">
              <a:buNone/>
            </a:pPr>
            <a:r>
              <a:rPr lang="en-US" sz="1800" dirty="0">
                <a:solidFill>
                  <a:srgbClr val="F4F1D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 Save it</a:t>
            </a:r>
            <a:endParaRPr lang="en-US" sz="2000" dirty="0"/>
          </a:p>
          <a:p>
            <a:pPr indent="0" marL="0">
              <a:buNone/>
            </a:pPr>
            <a:endParaRPr lang="en-US" sz="2000" dirty="0"/>
          </a:p>
          <a:p>
            <a:pPr indent="0" marL="0">
              <a:buNone/>
            </a:pPr>
            <a:r>
              <a:rPr lang="en-US" sz="1800" dirty="0">
                <a:solidFill>
                  <a:srgbClr val="F4F1D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  Create a new Issue using the template</a:t>
            </a:r>
            <a:endParaRPr lang="en-US" sz="2000" dirty="0"/>
          </a:p>
          <a:p>
            <a:pPr indent="0" marL="0">
              <a:buNone/>
            </a:pPr>
            <a:endParaRPr lang="en-US" sz="2000" dirty="0"/>
          </a:p>
          <a:p>
            <a:pPr indent="0" marL="0">
              <a:buNone/>
            </a:pPr>
            <a:endParaRPr lang="en-US" sz="2000" dirty="0"/>
          </a:p>
          <a:p>
            <a:pPr indent="0" marL="0">
              <a:buNone/>
            </a:pPr>
            <a:r>
              <a:rPr lang="en-US" sz="1800" b="1" i="1" dirty="0">
                <a:solidFill>
                  <a:srgbClr val="4E9F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Just watch — you'll build your own template next.</a:t>
            </a:r>
            <a:endParaRPr lang="en-US" sz="20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E51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4E9F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GUIDED PRACTICE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457200" y="118872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Your Turn! Follow Along with Me.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731520" y="2011680"/>
            <a:ext cx="768096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F4F1D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You're going to create your own Issue Template for a common farm task.</a:t>
            </a:r>
            <a:pPr indent="0" marL="0">
              <a:buNone/>
            </a:pPr>
            <a:endParaRPr lang="en-US" sz="1800" dirty="0"/>
          </a:p>
          <a:p>
            <a:pPr indent="0" marL="0">
              <a:buNone/>
            </a:pPr>
            <a:endParaRPr lang="en-US" sz="1800" dirty="0"/>
          </a:p>
          <a:p>
            <a:pPr indent="0" marL="0">
              <a:buNone/>
            </a:pPr>
            <a:r>
              <a:rPr lang="en-US" sz="1600" dirty="0">
                <a:solidFill>
                  <a:srgbClr val="F4F1D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I'll walk through each step. Follow along on your screen.</a:t>
            </a:r>
            <a:endParaRPr lang="en-US" sz="1800" dirty="0"/>
          </a:p>
          <a:p>
            <a:pPr indent="0" marL="0">
              <a:buNone/>
            </a:pPr>
            <a:endParaRPr lang="en-US" sz="1800" dirty="0"/>
          </a:p>
          <a:p>
            <a:pPr indent="0" marL="0">
              <a:buNone/>
            </a:pPr>
            <a:endParaRPr lang="en-US" sz="1800" dirty="0"/>
          </a:p>
          <a:p>
            <a:pPr indent="0" marL="0">
              <a:buNone/>
            </a:pPr>
            <a:r>
              <a:rPr lang="en-US" sz="1600" dirty="0">
                <a:solidFill>
                  <a:srgbClr val="F4F1D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If you get stuck:</a:t>
            </a:r>
            <a:endParaRPr lang="en-US" sz="1800" dirty="0"/>
          </a:p>
          <a:p>
            <a:pPr indent="0" marL="0">
              <a:buNone/>
            </a:pPr>
            <a:endParaRPr lang="en-US" sz="1800" dirty="0"/>
          </a:p>
          <a:p>
            <a:pPr indent="0" marL="0">
              <a:buNone/>
            </a:pPr>
            <a:r>
              <a:rPr lang="en-US" sz="1600" dirty="0">
                <a:solidFill>
                  <a:srgbClr val="F4F1D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 Ask your partner</a:t>
            </a:r>
            <a:endParaRPr lang="en-US" sz="1800" dirty="0"/>
          </a:p>
          <a:p>
            <a:pPr indent="0" marL="0">
              <a:buNone/>
            </a:pPr>
            <a:endParaRPr lang="en-US" sz="1800" dirty="0"/>
          </a:p>
          <a:p>
            <a:pPr indent="0" marL="0">
              <a:buNone/>
            </a:pPr>
            <a:r>
              <a:rPr lang="en-US" sz="1600" dirty="0">
                <a:solidFill>
                  <a:srgbClr val="F4F1D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 Raise your hand</a:t>
            </a:r>
            <a:endParaRPr lang="en-US" sz="1800" dirty="0"/>
          </a:p>
          <a:p>
            <a:pPr indent="0" marL="0">
              <a:buNone/>
            </a:pPr>
            <a:endParaRPr lang="en-US" sz="1800" dirty="0"/>
          </a:p>
          <a:p>
            <a:pPr indent="0" marL="0">
              <a:buNone/>
            </a:pPr>
            <a:endParaRPr lang="en-US" sz="1800" dirty="0"/>
          </a:p>
          <a:p>
            <a:pPr indent="0" marL="0">
              <a:buNone/>
            </a:pPr>
            <a:r>
              <a:rPr lang="en-US" sz="1600" b="1" i="1" dirty="0">
                <a:solidFill>
                  <a:srgbClr val="4E9F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 can always edit or delete a template later — so don't worry about getting it perfect.</a:t>
            </a:r>
            <a:endParaRPr lang="en-US" sz="18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4F1D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1E512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4E9F3D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51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Guided Practice Steps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spcBef>
                <a:spcPts val="400"/>
              </a:spcBef>
              <a:buNone/>
            </a:pPr>
            <a:r>
              <a:rPr lang="en-US" sz="2000" b="1" dirty="0">
                <a:solidFill>
                  <a:srgbClr val="1E51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Follow along with me:</a:t>
            </a:r>
            <a:endParaRPr lang="en-US" sz="1800" dirty="0"/>
          </a:p>
          <a:p>
            <a:pPr indent="0" marL="0">
              <a:lnSpc>
                <a:spcPct val="120000"/>
              </a:lnSpc>
              <a:spcBef>
                <a:spcPts val="400"/>
              </a:spcBef>
              <a:buNone/>
            </a:pPr>
            <a:endParaRPr lang="en-US" sz="1800" dirty="0"/>
          </a:p>
          <a:p>
            <a:pPr indent="0" marL="0">
              <a:lnSpc>
                <a:spcPct val="120000"/>
              </a:lnSpc>
              <a:spcBef>
                <a:spcPts val="400"/>
              </a:spcBef>
              <a:buNone/>
            </a:pPr>
            <a:r>
              <a:rPr lang="en-US" sz="14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 Go to your own repository (you need to be the owner)</a:t>
            </a:r>
            <a:endParaRPr lang="en-US" sz="1800" dirty="0"/>
          </a:p>
          <a:p>
            <a:pPr indent="0" marL="0">
              <a:lnSpc>
                <a:spcPct val="120000"/>
              </a:lnSpc>
              <a:spcBef>
                <a:spcPts val="400"/>
              </a:spcBef>
              <a:buNone/>
            </a:pPr>
            <a:r>
              <a:rPr lang="en-US" sz="14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 Click "Settings"</a:t>
            </a:r>
            <a:endParaRPr lang="en-US" sz="1800" dirty="0"/>
          </a:p>
          <a:p>
            <a:pPr indent="0" marL="0">
              <a:lnSpc>
                <a:spcPct val="120000"/>
              </a:lnSpc>
              <a:spcBef>
                <a:spcPts val="400"/>
              </a:spcBef>
              <a:buNone/>
            </a:pPr>
            <a:r>
              <a:rPr lang="en-US" sz="14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 Scroll to "Features" → next to Issues, click "Set up templates"</a:t>
            </a:r>
            <a:endParaRPr lang="en-US" sz="1800" dirty="0"/>
          </a:p>
          <a:p>
            <a:pPr indent="0" marL="0">
              <a:lnSpc>
                <a:spcPct val="120000"/>
              </a:lnSpc>
              <a:spcBef>
                <a:spcPts val="400"/>
              </a:spcBef>
              <a:buNone/>
            </a:pPr>
            <a:r>
              <a:rPr lang="en-US" sz="14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 Click "Add template" → choose "Custom template"</a:t>
            </a:r>
            <a:endParaRPr lang="en-US" sz="1800" dirty="0"/>
          </a:p>
          <a:p>
            <a:pPr indent="0" marL="0">
              <a:lnSpc>
                <a:spcPct val="120000"/>
              </a:lnSpc>
              <a:spcBef>
                <a:spcPts val="400"/>
              </a:spcBef>
              <a:buNone/>
            </a:pPr>
            <a:r>
              <a:rPr lang="en-US" sz="14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  Fill in:</a:t>
            </a:r>
            <a:endParaRPr lang="en-US" sz="1800" dirty="0"/>
          </a:p>
          <a:p>
            <a:pPr indent="0" marL="0">
              <a:lnSpc>
                <a:spcPct val="120000"/>
              </a:lnSpc>
              <a:spcBef>
                <a:spcPts val="400"/>
              </a:spcBef>
              <a:buNone/>
            </a:pPr>
            <a:r>
              <a:rPr lang="en-US" sz="1200" dirty="0">
                <a:solidFill>
                  <a:srgbClr val="4E9F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Name: "Equipment Maintenance Request"</a:t>
            </a:r>
            <a:endParaRPr lang="en-US" sz="1800" dirty="0"/>
          </a:p>
          <a:p>
            <a:pPr indent="0" marL="0">
              <a:lnSpc>
                <a:spcPct val="120000"/>
              </a:lnSpc>
              <a:spcBef>
                <a:spcPts val="400"/>
              </a:spcBef>
              <a:buNone/>
            </a:pPr>
            <a:r>
              <a:rPr lang="en-US" sz="1200" dirty="0">
                <a:solidFill>
                  <a:srgbClr val="4E9F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About: "Use this template to report equipment issues"</a:t>
            </a:r>
            <a:endParaRPr lang="en-US" sz="1800" dirty="0"/>
          </a:p>
          <a:p>
            <a:pPr indent="0" marL="0">
              <a:lnSpc>
                <a:spcPct val="120000"/>
              </a:lnSpc>
              <a:spcBef>
                <a:spcPts val="400"/>
              </a:spcBef>
              <a:buNone/>
            </a:pPr>
            <a:r>
              <a:rPr lang="en-US" sz="1200" dirty="0">
                <a:solidFill>
                  <a:srgbClr val="4E9F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Content: Copy from your handout (or write your own)</a:t>
            </a:r>
            <a:endParaRPr lang="en-US" sz="1800" dirty="0"/>
          </a:p>
          <a:p>
            <a:pPr indent="0" marL="0">
              <a:lnSpc>
                <a:spcPct val="120000"/>
              </a:lnSpc>
              <a:spcBef>
                <a:spcPts val="400"/>
              </a:spcBef>
              <a:buNone/>
            </a:pPr>
            <a:r>
              <a:rPr lang="en-US" sz="14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6.  Click "Propose changes"</a:t>
            </a:r>
            <a:endParaRPr lang="en-US" sz="1800" dirty="0"/>
          </a:p>
          <a:p>
            <a:pPr indent="0" marL="0">
              <a:lnSpc>
                <a:spcPct val="120000"/>
              </a:lnSpc>
              <a:spcBef>
                <a:spcPts val="400"/>
              </a:spcBef>
              <a:buNone/>
            </a:pPr>
            <a:r>
              <a:rPr lang="en-US" sz="14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  Click "Commit changes"</a:t>
            </a:r>
            <a:endParaRPr lang="en-US" sz="1800" dirty="0"/>
          </a:p>
          <a:p>
            <a:pPr indent="0" marL="0">
              <a:lnSpc>
                <a:spcPct val="120000"/>
              </a:lnSpc>
              <a:spcBef>
                <a:spcPts val="400"/>
              </a:spcBef>
              <a:buNone/>
            </a:pPr>
            <a:endParaRPr lang="en-US" sz="1800" dirty="0"/>
          </a:p>
          <a:p>
            <a:pPr indent="0" marL="0">
              <a:lnSpc>
                <a:spcPct val="120000"/>
              </a:lnSpc>
              <a:spcBef>
                <a:spcPts val="400"/>
              </a:spcBef>
              <a:buNone/>
            </a:pPr>
            <a:r>
              <a:rPr lang="en-US" sz="1400" b="1" dirty="0">
                <a:solidFill>
                  <a:srgbClr val="1E51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Checkpoint: Go to Issues tab → "New Issue" — you should see your template listed.</a:t>
            </a:r>
            <a:endParaRPr lang="en-US" sz="1800" dirty="0"/>
          </a:p>
        </p:txBody>
      </p:sp>
      <p:sp>
        <p:nvSpPr>
          <p:cNvPr id="7" name="Text 4"/>
          <p:cNvSpPr/>
          <p:nvPr/>
        </p:nvSpPr>
        <p:spPr>
          <a:xfrm>
            <a:off x="457200" y="475488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E9F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Session 6 of 12 — GitHub Training for Farmers  |  Slide 19 of 26</a:t>
            </a:r>
            <a:endParaRPr lang="en-US" sz="1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1E51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371600"/>
            <a:ext cx="8229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BREAK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457200" y="228600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4E9F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 Minutes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914400" y="3200400"/>
            <a:ext cx="7315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rgbClr val="F4F1D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When we come back, you'll design your own farm templates from scratch!</a:t>
            </a:r>
            <a:endParaRPr lang="en-US" sz="20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4F1D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1E512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4E9F3D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51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Independent Practice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457200" y="9601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4E9F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Your challenge: Create farm templates that save your team time.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274320" y="1417320"/>
            <a:ext cx="4114800" cy="2103120"/>
          </a:xfrm>
          <a:prstGeom prst="rect">
            <a:avLst>
              <a:gd name="adj" fmla="val 217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38100" dist="12700" dir="16200000">
              <a:srgbClr val="CCCCCC">
                <a:alpha val="75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457200" y="1463040"/>
            <a:ext cx="3749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51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Task 1: Create 2 Issue Templates (20 min)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457200" y="1828800"/>
            <a:ext cx="374904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Choose 2 from:
</a:t>
            </a:r>
            <a:pPr indent="0" marL="0">
              <a:buNone/>
            </a:pPr>
            <a:r>
              <a:rPr lang="en-US" sz="11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Equipment Maintenance Request
</a:t>
            </a:r>
            <a:pPr indent="0" marL="0">
              <a:buNone/>
            </a:pPr>
            <a:r>
              <a:rPr lang="en-US" sz="11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Crop Issue Report
</a:t>
            </a:r>
            <a:pPr indent="0" marL="0">
              <a:buNone/>
            </a:pPr>
            <a:r>
              <a:rPr lang="en-US" sz="11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Livestock Health Record
</a:t>
            </a:r>
            <a:pPr indent="0" marL="0">
              <a:buNone/>
            </a:pPr>
            <a:r>
              <a:rPr lang="en-US" sz="11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Weekly Safety Inspection
</a:t>
            </a:r>
            <a:pPr indent="0" marL="0">
              <a:buNone/>
            </a:pPr>
            <a:r>
              <a:rPr lang="en-US" sz="11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Seasonal Planning Task
</a:t>
            </a:r>
            <a:pPr indent="0" marL="0">
              <a:buNone/>
            </a:pPr>
            <a:r>
              <a:rPr lang="en-US" sz="11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Supply Order Request
</a:t>
            </a:r>
            <a:pPr indent="0" marL="0">
              <a:buNone/>
            </a:pPr>
            <a:r>
              <a:rPr lang="en-US" sz="1100" b="1" dirty="0">
                <a:solidFill>
                  <a:srgbClr val="4E9F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Each template needs: 3+ sections, 1+ checklist, urgency levels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754880" y="1417320"/>
            <a:ext cx="4114800" cy="1005840"/>
          </a:xfrm>
          <a:prstGeom prst="rect">
            <a:avLst>
              <a:gd name="adj" fmla="val 454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38100" dist="12700" dir="16200000">
              <a:srgbClr val="CCCCCC">
                <a:alpha val="75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4937760" y="1463040"/>
            <a:ext cx="3749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51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Task 2: Create 2 Saved Replies (5 min)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937760" y="1828800"/>
            <a:ext cx="374904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e.g., "Repair completed," "Parts ordered," "Reassigning," "Thank you for reporting"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754880" y="2560320"/>
            <a:ext cx="4114800" cy="1143000"/>
          </a:xfrm>
          <a:prstGeom prst="rect">
            <a:avLst>
              <a:gd name="adj" fmla="val 4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38100" dist="12700" dir="16200000">
              <a:srgbClr val="CCCCCC">
                <a:alpha val="75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4937760" y="2606040"/>
            <a:ext cx="3749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51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Task 3: Test Your Templates (10 min)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4937760" y="2926080"/>
            <a:ext cx="374904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Create a new Issue using a template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Fill in blanks with a real scenario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Use a Saved Reply to comment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274320" y="3703320"/>
            <a:ext cx="8595360" cy="411480"/>
          </a:xfrm>
          <a:prstGeom prst="rect">
            <a:avLst>
              <a:gd name="adj" fmla="val 11111"/>
            </a:avLst>
          </a:prstGeom>
          <a:solidFill>
            <a:srgbClr val="1E5128"/>
          </a:solidFill>
          <a:ln/>
        </p:spPr>
      </p:sp>
      <p:sp>
        <p:nvSpPr>
          <p:cNvPr id="16" name="Text 14"/>
          <p:cNvSpPr/>
          <p:nvPr/>
        </p:nvSpPr>
        <p:spPr>
          <a:xfrm>
            <a:off x="457200" y="370332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Success:  ☐ 2+ Issue Templates   ☐ Guided sections &amp; checklists   ☐ 2+ Saved Replies   ☐ Tested a template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457200" y="475488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E9F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Session 6 of 12 — GitHub Training for Farmers  |  Slide 21 of 26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4F1D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1E512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4E9F3D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51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Stretch Challenges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4E9F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Finished early? Try these: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457200" y="14630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20000"/>
              </a:lnSpc>
              <a:spcBef>
                <a:spcPts val="400"/>
              </a:spcBef>
              <a:buSzPct val="100000"/>
              <a:buChar char="•"/>
            </a:pPr>
            <a:r>
              <a:rPr lang="en-US" sz="18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Create a third Issue Template for a different farm category</a:t>
            </a:r>
            <a:endParaRPr lang="en-US" sz="1800" dirty="0"/>
          </a:p>
          <a:p>
            <a:pPr marL="342900" indent="-342900">
              <a:lnSpc>
                <a:spcPct val="120000"/>
              </a:lnSpc>
              <a:spcBef>
                <a:spcPts val="400"/>
              </a:spcBef>
              <a:buSzPct val="100000"/>
              <a:buChar char="•"/>
            </a:pPr>
            <a:r>
              <a:rPr lang="en-US" sz="18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Add default labels to your templates (in the template settings)</a:t>
            </a:r>
            <a:endParaRPr lang="en-US" sz="1800" dirty="0"/>
          </a:p>
          <a:p>
            <a:pPr marL="342900" indent="-342900">
              <a:lnSpc>
                <a:spcPct val="120000"/>
              </a:lnSpc>
              <a:spcBef>
                <a:spcPts val="400"/>
              </a:spcBef>
              <a:buSzPct val="100000"/>
              <a:buChar char="•"/>
            </a:pPr>
            <a:r>
              <a:rPr lang="en-US" sz="18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Create a new repository for your own farm and add all your templates to it</a:t>
            </a:r>
            <a:endParaRPr lang="en-US" sz="1800" dirty="0"/>
          </a:p>
          <a:p>
            <a:pPr marL="342900" indent="-342900">
              <a:lnSpc>
                <a:spcPct val="120000"/>
              </a:lnSpc>
              <a:spcBef>
                <a:spcPts val="400"/>
              </a:spcBef>
              <a:buSzPct val="100000"/>
              <a:buChar char="•"/>
            </a:pPr>
            <a:r>
              <a:rPr lang="en-US" sz="18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Help a classmate design a template for their specific farm needs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457200" y="475488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E9F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Session 6 of 12 — GitHub Training for Farmers  |  Slide 22 of 26</a:t>
            </a:r>
            <a:endParaRPr lang="en-US" sz="10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4F1D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1E512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4E9F3D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51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Vocabulary Review</a:t>
            </a:r>
            <a:endParaRPr lang="en-US" sz="2800" dirty="0"/>
          </a:p>
        </p:txBody>
      </p:sp>
      <p:graphicFrame>
        <p:nvGraphicFramePr>
          <p:cNvPr id="2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97280"/>
          <a:ext cx="822960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2560320"/>
                <a:gridCol w="365760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spcBef>
                          <a:spcPts val="200"/>
                        </a:spcBef>
                        <a:spcAft>
                          <a:spcPts val="200"/>
                        </a:spcAft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GitHub Term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4E9F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E9F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E9F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E9F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512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spcBef>
                          <a:spcPts val="200"/>
                        </a:spcBef>
                        <a:spcAft>
                          <a:spcPts val="200"/>
                        </a:spcAft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Farm Analogy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4E9F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E9F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E9F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E9F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512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spcBef>
                          <a:spcPts val="200"/>
                        </a:spcBef>
                        <a:spcAft>
                          <a:spcPts val="200"/>
                        </a:spcAft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Meaning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4E9F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E9F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E9F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E9F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512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spcBef>
                          <a:spcPts val="200"/>
                        </a:spcBef>
                        <a:spcAft>
                          <a:spcPts val="200"/>
                        </a:spcAft>
                        <a:buNone/>
                      </a:pPr>
                      <a:r>
                        <a:rPr lang="en-US" sz="1400" dirty="0">
                          <a:solidFill>
                            <a:srgbClr val="2C2C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Issue Template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4E9F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E9F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E9F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E9F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D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spcBef>
                          <a:spcPts val="200"/>
                        </a:spcBef>
                        <a:spcAft>
                          <a:spcPts val="200"/>
                        </a:spcAft>
                        <a:buNone/>
                      </a:pPr>
                      <a:r>
                        <a:rPr lang="en-US" sz="1400" dirty="0">
                          <a:solidFill>
                            <a:srgbClr val="2C2C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Pre-printed work order form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4E9F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E9F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E9F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E9F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D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spcBef>
                          <a:spcPts val="200"/>
                        </a:spcBef>
                        <a:spcAft>
                          <a:spcPts val="200"/>
                        </a:spcAft>
                        <a:buNone/>
                      </a:pPr>
                      <a:r>
                        <a:rPr lang="en-US" sz="1400" dirty="0">
                          <a:solidFill>
                            <a:srgbClr val="2C2C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Pre-filled Issue form with guided sections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4E9F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E9F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E9F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E9F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DE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spcBef>
                          <a:spcPts val="200"/>
                        </a:spcBef>
                        <a:spcAft>
                          <a:spcPts val="200"/>
                        </a:spcAft>
                        <a:buNone/>
                      </a:pPr>
                      <a:r>
                        <a:rPr lang="en-US" sz="1400" dirty="0">
                          <a:solidFill>
                            <a:srgbClr val="2C2C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Saved Reply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4E9F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E9F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E9F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E9F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spcBef>
                          <a:spcPts val="200"/>
                        </a:spcBef>
                        <a:spcAft>
                          <a:spcPts val="200"/>
                        </a:spcAft>
                        <a:buNone/>
                      </a:pPr>
                      <a:r>
                        <a:rPr lang="en-US" sz="1400" dirty="0">
                          <a:solidFill>
                            <a:srgbClr val="2C2C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Rubber stamp message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4E9F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E9F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E9F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E9F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spcBef>
                          <a:spcPts val="200"/>
                        </a:spcBef>
                        <a:spcAft>
                          <a:spcPts val="200"/>
                        </a:spcAft>
                        <a:buNone/>
                      </a:pPr>
                      <a:r>
                        <a:rPr lang="en-US" sz="1400" dirty="0">
                          <a:solidFill>
                            <a:srgbClr val="2C2C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Pre-written comment you can insert anywhere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4E9F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E9F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E9F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E9F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spcBef>
                          <a:spcPts val="200"/>
                        </a:spcBef>
                        <a:spcAft>
                          <a:spcPts val="200"/>
                        </a:spcAft>
                        <a:buNone/>
                      </a:pPr>
                      <a:r>
                        <a:rPr lang="en-US" sz="1400" dirty="0">
                          <a:solidFill>
                            <a:srgbClr val="2C2C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Project Template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4E9F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E9F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E9F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E9F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D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spcBef>
                          <a:spcPts val="200"/>
                        </a:spcBef>
                        <a:spcAft>
                          <a:spcPts val="200"/>
                        </a:spcAft>
                        <a:buNone/>
                      </a:pPr>
                      <a:r>
                        <a:rPr lang="en-US" sz="1400" dirty="0">
                          <a:solidFill>
                            <a:srgbClr val="2C2C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Ready-made planning board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4E9F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E9F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E9F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E9F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D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spcBef>
                          <a:spcPts val="200"/>
                        </a:spcBef>
                        <a:spcAft>
                          <a:spcPts val="200"/>
                        </a:spcAft>
                        <a:buNone/>
                      </a:pPr>
                      <a:r>
                        <a:rPr lang="en-US" sz="1400" dirty="0">
                          <a:solidFill>
                            <a:srgbClr val="2C2C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Pre-built project board structure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4E9F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E9F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E9F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E9F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DE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spcBef>
                          <a:spcPts val="200"/>
                        </a:spcBef>
                        <a:spcAft>
                          <a:spcPts val="200"/>
                        </a:spcAft>
                        <a:buNone/>
                      </a:pPr>
                      <a:r>
                        <a:rPr lang="en-US" sz="1400" dirty="0">
                          <a:solidFill>
                            <a:srgbClr val="2C2C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Custom Template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4E9F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E9F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E9F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E9F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spcBef>
                          <a:spcPts val="200"/>
                        </a:spcBef>
                        <a:spcAft>
                          <a:spcPts val="200"/>
                        </a:spcAft>
                        <a:buNone/>
                      </a:pPr>
                      <a:r>
                        <a:rPr lang="en-US" sz="1400" dirty="0">
                          <a:solidFill>
                            <a:srgbClr val="2C2C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Your own form design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4E9F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E9F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E9F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E9F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spcBef>
                          <a:spcPts val="200"/>
                        </a:spcBef>
                        <a:spcAft>
                          <a:spcPts val="200"/>
                        </a:spcAft>
                        <a:buNone/>
                      </a:pPr>
                      <a:r>
                        <a:rPr lang="en-US" sz="1400" dirty="0">
                          <a:solidFill>
                            <a:srgbClr val="2C2C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 template you design from scratch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4E9F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E9F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E9F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E9F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spcBef>
                          <a:spcPts val="200"/>
                        </a:spcBef>
                        <a:spcAft>
                          <a:spcPts val="200"/>
                        </a:spcAft>
                        <a:buNone/>
                      </a:pPr>
                      <a:r>
                        <a:rPr lang="en-US" sz="1400" dirty="0">
                          <a:solidFill>
                            <a:srgbClr val="2C2C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Template Chooser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4E9F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E9F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E9F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E9F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D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spcBef>
                          <a:spcPts val="200"/>
                        </a:spcBef>
                        <a:spcAft>
                          <a:spcPts val="200"/>
                        </a:spcAft>
                        <a:buNone/>
                      </a:pPr>
                      <a:r>
                        <a:rPr lang="en-US" sz="1400" dirty="0">
                          <a:solidFill>
                            <a:srgbClr val="2C2C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Stack of forms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4E9F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E9F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E9F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E9F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D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spcBef>
                          <a:spcPts val="200"/>
                        </a:spcBef>
                        <a:spcAft>
                          <a:spcPts val="200"/>
                        </a:spcAft>
                        <a:buNone/>
                      </a:pPr>
                      <a:r>
                        <a:rPr lang="en-US" sz="1400" dirty="0">
                          <a:solidFill>
                            <a:srgbClr val="2C2C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The menu shown when creating a new Issue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4E9F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E9F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E9F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E9F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DE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457200" y="475488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E9F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Session 6 of 12 — GitHub Training for Farmers  |  Slide 23 of 26</a:t>
            </a:r>
            <a:endParaRPr lang="en-US" sz="10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4F1D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1E512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4E9F3D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51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Reflection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4E9F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Think about your farm: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457200" y="141732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20000"/>
              </a:lnSpc>
              <a:spcBef>
                <a:spcPts val="400"/>
              </a:spcBef>
              <a:buSzPct val="100000"/>
              <a:buChar char="•"/>
            </a:pPr>
            <a:r>
              <a:rPr lang="en-US" sz="18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are the 3 most common types of tasks you create repeatedly?</a:t>
            </a:r>
            <a:endParaRPr lang="en-US" sz="1800" dirty="0"/>
          </a:p>
          <a:p>
            <a:pPr marL="342900" indent="-342900">
              <a:lnSpc>
                <a:spcPct val="120000"/>
              </a:lnSpc>
              <a:spcBef>
                <a:spcPts val="400"/>
              </a:spcBef>
              <a:buSzPct val="100000"/>
              <a:buChar char="•"/>
            </a:pPr>
            <a:r>
              <a:rPr lang="en-US" sz="18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information do you always need for those tasks?</a:t>
            </a:r>
            <a:endParaRPr lang="en-US" sz="1800" dirty="0"/>
          </a:p>
          <a:p>
            <a:pPr marL="342900" indent="-342900">
              <a:lnSpc>
                <a:spcPct val="120000"/>
              </a:lnSpc>
              <a:spcBef>
                <a:spcPts val="400"/>
              </a:spcBef>
              <a:buSzPct val="100000"/>
              <a:buChar char="•"/>
            </a:pPr>
            <a:r>
              <a:rPr lang="en-US" sz="18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Who else on your farm would benefit from having templates?</a:t>
            </a:r>
            <a:endParaRPr lang="en-US" sz="1800" dirty="0"/>
          </a:p>
          <a:p>
            <a:pPr indent="0" marL="0">
              <a:lnSpc>
                <a:spcPct val="120000"/>
              </a:lnSpc>
              <a:spcBef>
                <a:spcPts val="400"/>
              </a:spcBef>
              <a:buNone/>
            </a:pPr>
            <a:endParaRPr lang="en-US" sz="1800" dirty="0"/>
          </a:p>
          <a:p>
            <a:pPr indent="0" marL="0">
              <a:lnSpc>
                <a:spcPct val="120000"/>
              </a:lnSpc>
              <a:spcBef>
                <a:spcPts val="400"/>
              </a:spcBef>
              <a:buNone/>
            </a:pPr>
            <a:r>
              <a:rPr lang="en-US" sz="2000" b="1" dirty="0">
                <a:solidFill>
                  <a:srgbClr val="1E51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Turn to your partner and share your answers. (3 minutes)</a:t>
            </a:r>
            <a:endParaRPr lang="en-US" sz="1800" dirty="0"/>
          </a:p>
          <a:p>
            <a:pPr indent="0" marL="0">
              <a:lnSpc>
                <a:spcPct val="120000"/>
              </a:lnSpc>
              <a:spcBef>
                <a:spcPts val="400"/>
              </a:spcBef>
              <a:buNone/>
            </a:pPr>
            <a:endParaRPr lang="en-US" sz="1800" dirty="0"/>
          </a:p>
          <a:p>
            <a:pPr indent="0" marL="0">
              <a:lnSpc>
                <a:spcPct val="120000"/>
              </a:lnSpc>
              <a:spcBef>
                <a:spcPts val="400"/>
              </a:spcBef>
              <a:buNone/>
            </a:pPr>
            <a:r>
              <a:rPr lang="en-US" sz="1600" i="1" dirty="0">
                <a:solidFill>
                  <a:srgbClr val="4E9F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Bonus: Sketch out a template for your farm's most common recurring task — what sections would it have?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457200" y="475488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E9F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Session 6 of 12 — GitHub Training for Farmers  |  Slide 24 of 26</a:t>
            </a:r>
            <a:endParaRPr lang="en-US" sz="10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4F1D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1E512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4E9F3D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51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What's Next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4E9F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Session 7: Introduction to GitHub Actions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457200" y="155448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spcBef>
                <a:spcPts val="400"/>
              </a:spcBef>
              <a:buNone/>
            </a:pPr>
            <a:r>
              <a:rPr lang="en-US" sz="14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 time, you'll learn how GitHub can automatically do things for you — like sending a reminder when an equipment check is due, or notifying the team when a task is overdue. No coding required!</a:t>
            </a:r>
            <a:endParaRPr lang="en-US" sz="1800" dirty="0"/>
          </a:p>
          <a:p>
            <a:pPr indent="0" marL="0">
              <a:lnSpc>
                <a:spcPct val="120000"/>
              </a:lnSpc>
              <a:spcBef>
                <a:spcPts val="400"/>
              </a:spcBef>
              <a:buNone/>
            </a:pPr>
            <a:endParaRPr lang="en-US" sz="1800" dirty="0"/>
          </a:p>
          <a:p>
            <a:pPr indent="0" marL="0">
              <a:lnSpc>
                <a:spcPct val="120000"/>
              </a:lnSpc>
              <a:spcBef>
                <a:spcPts val="400"/>
              </a:spcBef>
              <a:buNone/>
            </a:pPr>
            <a:r>
              <a:rPr lang="en-US" sz="1400" b="1" dirty="0">
                <a:solidFill>
                  <a:srgbClr val="1E51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Optional between-session practice:</a:t>
            </a:r>
            <a:endParaRPr lang="en-US" sz="1800" dirty="0"/>
          </a:p>
          <a:p>
            <a:pPr marL="342900" indent="-342900">
              <a:lnSpc>
                <a:spcPct val="120000"/>
              </a:lnSpc>
              <a:spcBef>
                <a:spcPts val="400"/>
              </a:spcBef>
              <a:buSzPct val="100000"/>
              <a:buChar char="•"/>
            </a:pPr>
            <a:r>
              <a:rPr lang="en-US" sz="14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Add another Issue Template to your repository</a:t>
            </a:r>
            <a:endParaRPr lang="en-US" sz="1800" dirty="0"/>
          </a:p>
          <a:p>
            <a:pPr marL="342900" indent="-342900">
              <a:lnSpc>
                <a:spcPct val="120000"/>
              </a:lnSpc>
              <a:spcBef>
                <a:spcPts val="400"/>
              </a:spcBef>
              <a:buSzPct val="100000"/>
              <a:buChar char="•"/>
            </a:pPr>
            <a:r>
              <a:rPr lang="en-US" sz="14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your templates to create a few real farm Issues</a:t>
            </a:r>
            <a:endParaRPr lang="en-US" sz="1800" dirty="0"/>
          </a:p>
          <a:p>
            <a:pPr marL="342900" indent="-342900">
              <a:lnSpc>
                <a:spcPct val="120000"/>
              </a:lnSpc>
              <a:spcBef>
                <a:spcPts val="400"/>
              </a:spcBef>
              <a:buSzPct val="100000"/>
              <a:buChar char="•"/>
            </a:pPr>
            <a:r>
              <a:rPr lang="en-US" sz="14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Try using a Saved Reply when commenting on an Issue</a:t>
            </a:r>
            <a:endParaRPr lang="en-US" sz="1800" dirty="0"/>
          </a:p>
          <a:p>
            <a:pPr marL="342900" indent="-342900">
              <a:lnSpc>
                <a:spcPct val="120000"/>
              </a:lnSpc>
              <a:spcBef>
                <a:spcPts val="400"/>
              </a:spcBef>
              <a:buSzPct val="100000"/>
              <a:buChar char="•"/>
            </a:pPr>
            <a:r>
              <a:rPr lang="en-US" sz="14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Think about what farm tasks you'd like to automate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457200" y="475488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E9F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Session 6 of 12 — GitHub Training for Farmers  |  Slide 25 of 26</a:t>
            </a:r>
            <a:endParaRPr lang="en-US" sz="10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1E51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1097280"/>
            <a:ext cx="768096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Please fill out the 2-minute survey</a:t>
            </a:r>
            <a:endParaRPr lang="en-US" sz="2800" dirty="0"/>
          </a:p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before you leave.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200400" y="2743200"/>
            <a:ext cx="2743200" cy="54864"/>
          </a:xfrm>
          <a:prstGeom prst="rect">
            <a:avLst/>
          </a:prstGeom>
          <a:solidFill>
            <a:srgbClr val="4E9F3D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3017520"/>
            <a:ext cx="76809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4F1D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Thank you!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914400" y="3840480"/>
            <a:ext cx="7315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rgbClr val="4E9F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 now know how to create reusable templates that save time</a:t>
            </a:r>
            <a:endParaRPr lang="en-US" sz="1800" dirty="0"/>
          </a:p>
          <a:p>
            <a:pPr algn="ctr" indent="0" marL="0">
              <a:buNone/>
            </a:pPr>
            <a:r>
              <a:rPr lang="en-US" sz="1800" i="1" dirty="0">
                <a:solidFill>
                  <a:srgbClr val="4E9F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and ensure consistency on your farm.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26</Slides>
  <Notes>26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26</vt:i4>
      </vt:variant>
    </vt:vector>
  </HeadingPairs>
  <TitlesOfParts>
    <vt:vector size="2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Session 6: Basic Workflows &amp; Templates</dc:title>
  <dc:subject>Building Reusable Processes So You Never Start from Scratch</dc:subject>
  <dc:creator>GitHub Training for Farmers</dc:creator>
  <cp:lastModifiedBy>GitHub Training for Farmers</cp:lastModifiedBy>
  <cp:revision>1</cp:revision>
  <dcterms:created xsi:type="dcterms:W3CDTF">2026-01-30T16:50:50Z</dcterms:created>
  <dcterms:modified xsi:type="dcterms:W3CDTF">2026-01-30T16:50:50Z</dcterms:modified>
</cp:coreProperties>
</file>