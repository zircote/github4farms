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notesMasterIdLst>
    <p:notesMasterId r:id="rId2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notesMaster" Target="notesMasters/notesMaster1.xml"/><Relationship Id="rId27" Type="http://schemas.openxmlformats.org/officeDocument/2006/relationships/presProps" Target="presProps.xml"/><Relationship Id="rId28" Type="http://schemas.openxmlformats.org/officeDocument/2006/relationships/viewProps" Target="viewProps.xml"/><Relationship Id="rId29" Type="http://schemas.openxmlformats.org/officeDocument/2006/relationships/theme" Target="theme/theme1.xml"/><Relationship Id="rId3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51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430795" y="1470273"/>
            <a:ext cx="428241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800"/>
              </a:spcAft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GitHub Spark &amp; Agents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732406" y="2051149"/>
            <a:ext cx="7679040" cy="2952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400"/>
              </a:spcBef>
              <a:spcAft>
                <a:spcPts val="400"/>
              </a:spcAft>
              <a:buNone/>
            </a:pPr>
            <a:r>
              <a:rPr lang="en-US" sz="2000" b="1" dirty="0">
                <a:solidFill>
                  <a:srgbClr val="E8F5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Tools That Can Follow Multi-Step Instructions on Their Own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064050" y="2574875"/>
            <a:ext cx="1015901" cy="38100"/>
          </a:xfrm>
          <a:prstGeom prst="rect">
            <a:avLst/>
          </a:prstGeom>
          <a:solidFill>
            <a:srgbClr val="A5D6A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3287884" y="3095327"/>
            <a:ext cx="2568232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400"/>
              </a:spcBef>
              <a:spcAft>
                <a:spcPts val="400"/>
              </a:spcAft>
              <a:buNone/>
            </a:pPr>
            <a:r>
              <a:rPr lang="en-US" sz="1600" dirty="0">
                <a:solidFill>
                  <a:srgbClr val="A5D6A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Session 11 of 12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3287884" y="3384203"/>
            <a:ext cx="2568232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400"/>
              </a:spcBef>
              <a:spcAft>
                <a:spcPts val="400"/>
              </a:spcAft>
              <a:buNone/>
            </a:pPr>
            <a:r>
              <a:rPr lang="en-US" sz="1600" dirty="0">
                <a:solidFill>
                  <a:srgbClr val="A5D6A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GitHub Training for Farmers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863501"/>
          </a:xfrm>
          <a:prstGeom prst="rect">
            <a:avLst/>
          </a:prstGeom>
          <a:solidFill>
            <a:srgbClr val="1E512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355550" y="246013"/>
            <a:ext cx="3830336" cy="3714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Welcome to Session 11!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355550" y="1130052"/>
            <a:ext cx="8601557" cy="3256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65"/>
              </a:lnSpc>
              <a:spcBef>
                <a:spcPts val="500"/>
              </a:spcBef>
              <a:spcAft>
                <a:spcPts val="500"/>
              </a:spcAft>
              <a:buNone/>
            </a:pPr>
            <a:r>
              <a:rPr lang="en-US" sz="1900" b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 far you've learned to: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355550" y="1582489"/>
            <a:ext cx="8432899" cy="2220516"/>
          </a:xfrm>
          <a:prstGeom prst="rect">
            <a:avLst/>
          </a:prstGeom>
          <a:noFill/>
          <a:ln/>
        </p:spPr>
        <p:txBody>
          <a:bodyPr wrap="square" lIns="165100" tIns="0" rIns="0" bIns="0" rtlCol="0" anchor="t"/>
          <a:lstStyle/>
          <a:p>
            <a:pPr algn="l" marL="165100" indent="-165100">
              <a:lnSpc>
                <a:spcPts val="2565"/>
              </a:lnSpc>
              <a:spcAft>
                <a:spcPts val="300"/>
              </a:spcAft>
              <a:buSzPct val="100000"/>
              <a:buChar char="•"/>
            </a:pPr>
            <a:r>
              <a:rPr lang="en-US" sz="19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Navigate repositories and track tasks with Issues</a:t>
            </a:r>
            <a:endParaRPr lang="en-US" sz="1900" dirty="0"/>
          </a:p>
          <a:p>
            <a:pPr algn="l" marL="165100" indent="-165100">
              <a:lnSpc>
                <a:spcPts val="2565"/>
              </a:lnSpc>
              <a:spcAft>
                <a:spcPts val="300"/>
              </a:spcAft>
              <a:buSzPct val="100000"/>
              <a:buChar char="•"/>
            </a:pPr>
            <a:r>
              <a:rPr lang="en-US" sz="19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Organize work with Projects and collaborate with PRs</a:t>
            </a:r>
            <a:endParaRPr lang="en-US" sz="1900" dirty="0"/>
          </a:p>
          <a:p>
            <a:pPr algn="l" marL="165100" indent="-165100">
              <a:lnSpc>
                <a:spcPts val="2565"/>
              </a:lnSpc>
              <a:spcAft>
                <a:spcPts val="300"/>
              </a:spcAft>
              <a:buSzPct val="100000"/>
              <a:buChar char="•"/>
            </a:pPr>
            <a:r>
              <a:rPr lang="en-US" sz="19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Stay connected with notifications and build templates</a:t>
            </a:r>
            <a:endParaRPr lang="en-US" sz="1900" dirty="0"/>
          </a:p>
          <a:p>
            <a:pPr algn="l" marL="165100" indent="-165100">
              <a:lnSpc>
                <a:spcPts val="2565"/>
              </a:lnSpc>
              <a:spcAft>
                <a:spcPts val="300"/>
              </a:spcAft>
              <a:buSzPct val="100000"/>
              <a:buChar char="•"/>
            </a:pPr>
            <a:r>
              <a:rPr lang="en-US" sz="19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Understand triggers, YAML, and automated workflows</a:t>
            </a:r>
            <a:endParaRPr lang="en-US" sz="1900" dirty="0"/>
          </a:p>
          <a:p>
            <a:pPr algn="l" marL="165100" indent="-165100">
              <a:lnSpc>
                <a:spcPts val="2565"/>
              </a:lnSpc>
              <a:spcAft>
                <a:spcPts val="300"/>
              </a:spcAft>
              <a:buSzPct val="100000"/>
              <a:buChar char="•"/>
            </a:pPr>
            <a:r>
              <a:rPr lang="en-US" sz="19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 advanced project workflows (Session 9)</a:t>
            </a:r>
            <a:endParaRPr lang="en-US" sz="1900" dirty="0"/>
          </a:p>
          <a:p>
            <a:pPr algn="l" marL="165100" indent="-165100">
              <a:lnSpc>
                <a:spcPts val="2565"/>
              </a:lnSpc>
              <a:spcAft>
                <a:spcPts val="300"/>
              </a:spcAft>
              <a:buSzPct val="100000"/>
              <a:buChar char="•"/>
            </a:pPr>
            <a:r>
              <a:rPr lang="en-US" sz="19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Copilot as an AI writing assistant (Session 10)</a:t>
            </a:r>
            <a:endParaRPr lang="en-US" sz="1900" dirty="0"/>
          </a:p>
        </p:txBody>
      </p:sp>
      <p:sp>
        <p:nvSpPr>
          <p:cNvPr id="6" name="Text 4"/>
          <p:cNvSpPr/>
          <p:nvPr/>
        </p:nvSpPr>
        <p:spPr>
          <a:xfrm>
            <a:off x="355550" y="3929807"/>
            <a:ext cx="8601557" cy="651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65"/>
              </a:lnSpc>
              <a:spcBef>
                <a:spcPts val="500"/>
              </a:spcBef>
              <a:spcAft>
                <a:spcPts val="500"/>
              </a:spcAft>
              <a:buNone/>
            </a:pPr>
            <a:r>
              <a:rPr lang="en-US" sz="19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Today you'll meet </a:t>
            </a:r>
            <a:pPr algn="l" indent="0" marL="0">
              <a:lnSpc>
                <a:spcPts val="2565"/>
              </a:lnSpc>
              <a:spcBef>
                <a:spcPts val="500"/>
              </a:spcBef>
              <a:spcAft>
                <a:spcPts val="500"/>
              </a:spcAft>
              <a:buNone/>
            </a:pPr>
            <a:r>
              <a:rPr lang="en-US" sz="1900" b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two more AI tools</a:t>
            </a:r>
            <a:pPr algn="l" indent="0" marL="0">
              <a:lnSpc>
                <a:spcPts val="2565"/>
              </a:lnSpc>
              <a:spcBef>
                <a:spcPts val="500"/>
              </a:spcBef>
              <a:spcAft>
                <a:spcPts val="500"/>
              </a:spcAft>
              <a:buNone/>
            </a:pPr>
            <a:r>
              <a:rPr lang="en-US" sz="19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that build apps and handle multi-step tasks.</a:t>
            </a:r>
            <a:endParaRPr lang="en-US" sz="1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863501"/>
          </a:xfrm>
          <a:prstGeom prst="rect">
            <a:avLst/>
          </a:prstGeom>
          <a:solidFill>
            <a:srgbClr val="1E512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355550" y="246013"/>
            <a:ext cx="5307699" cy="3714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This Matters for YOUR Farm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355550" y="1130052"/>
            <a:ext cx="8601557" cy="3256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65"/>
              </a:lnSpc>
              <a:spcBef>
                <a:spcPts val="500"/>
              </a:spcBef>
              <a:spcAft>
                <a:spcPts val="500"/>
              </a:spcAft>
              <a:buNone/>
            </a:pPr>
            <a:r>
              <a:rPr lang="en-US" sz="1900" b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Have you ever wished you had a simple tool for your farm?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355550" y="1582489"/>
            <a:ext cx="8432899" cy="1129308"/>
          </a:xfrm>
          <a:prstGeom prst="rect">
            <a:avLst/>
          </a:prstGeom>
          <a:noFill/>
          <a:ln/>
        </p:spPr>
        <p:txBody>
          <a:bodyPr wrap="square" lIns="165100" tIns="0" rIns="0" bIns="0" rtlCol="0" anchor="t"/>
          <a:lstStyle/>
          <a:p>
            <a:pPr algn="l" marL="165100" indent="-165100">
              <a:lnSpc>
                <a:spcPts val="2565"/>
              </a:lnSpc>
              <a:spcAft>
                <a:spcPts val="300"/>
              </a:spcAft>
              <a:buSzPct val="100000"/>
              <a:buChar char="•"/>
            </a:pPr>
            <a:r>
              <a:rPr lang="en-US" sz="19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planting date calculator that adjusts for your frost zone</a:t>
            </a:r>
            <a:endParaRPr lang="en-US" sz="1900" dirty="0"/>
          </a:p>
          <a:p>
            <a:pPr algn="l" marL="165100" indent="-165100">
              <a:lnSpc>
                <a:spcPts val="2565"/>
              </a:lnSpc>
              <a:spcAft>
                <a:spcPts val="300"/>
              </a:spcAft>
              <a:buSzPct val="100000"/>
              <a:buChar char="•"/>
            </a:pPr>
            <a:r>
              <a:rPr lang="en-US" sz="19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 equipment inspection checklist you can pull up on your phone</a:t>
            </a:r>
            <a:endParaRPr lang="en-US" sz="1900" dirty="0"/>
          </a:p>
          <a:p>
            <a:pPr algn="l" marL="165100" indent="-165100">
              <a:lnSpc>
                <a:spcPts val="2565"/>
              </a:lnSpc>
              <a:spcAft>
                <a:spcPts val="300"/>
              </a:spcAft>
              <a:buSzPct val="100000"/>
              <a:buChar char="•"/>
            </a:pPr>
            <a:r>
              <a:rPr lang="en-US" sz="19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daily livestock health log that keeps a running record</a:t>
            </a:r>
            <a:endParaRPr lang="en-US" sz="1900" dirty="0"/>
          </a:p>
        </p:txBody>
      </p:sp>
      <p:sp>
        <p:nvSpPr>
          <p:cNvPr id="6" name="Text 4"/>
          <p:cNvSpPr/>
          <p:nvPr/>
        </p:nvSpPr>
        <p:spPr>
          <a:xfrm>
            <a:off x="355550" y="2876699"/>
            <a:ext cx="8432899" cy="904875"/>
          </a:xfrm>
          <a:prstGeom prst="rect">
            <a:avLst/>
          </a:prstGeom>
          <a:solidFill>
            <a:srgbClr val="E8F5E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Shape 5"/>
          <p:cNvSpPr/>
          <p:nvPr/>
        </p:nvSpPr>
        <p:spPr>
          <a:xfrm>
            <a:off x="384125" y="2876699"/>
            <a:ext cx="0" cy="904875"/>
          </a:xfrm>
          <a:prstGeom prst="line">
            <a:avLst/>
          </a:prstGeom>
          <a:noFill/>
          <a:ln w="57150">
            <a:solidFill>
              <a:srgbClr val="4E9F3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90401" y="3003500"/>
            <a:ext cx="8180755" cy="651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65"/>
              </a:lnSpc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1900" dirty="0">
                <a:solidFill>
                  <a:srgbClr val="1E51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if you could describe what you need in plain English and have it built for you in minutes?</a:t>
            </a:r>
            <a:endParaRPr lang="en-US" sz="1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863501"/>
          </a:xfrm>
          <a:prstGeom prst="rect">
            <a:avLst/>
          </a:prstGeom>
          <a:solidFill>
            <a:srgbClr val="1E512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355550" y="246013"/>
            <a:ext cx="3648322" cy="3714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Is GitHub Spark?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355550" y="1130052"/>
            <a:ext cx="8601557" cy="3256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65"/>
              </a:lnSpc>
              <a:spcBef>
                <a:spcPts val="500"/>
              </a:spcBef>
              <a:spcAft>
                <a:spcPts val="500"/>
              </a:spcAft>
              <a:buNone/>
            </a:pPr>
            <a:r>
              <a:rPr lang="en-US" sz="1900" b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Spark = A Farmhand Who Builds Simple Tools from Your Description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355550" y="1582489"/>
            <a:ext cx="8601557" cy="3256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65"/>
              </a:lnSpc>
              <a:spcBef>
                <a:spcPts val="500"/>
              </a:spcBef>
              <a:spcAft>
                <a:spcPts val="500"/>
              </a:spcAft>
              <a:buNone/>
            </a:pPr>
            <a:r>
              <a:rPr lang="en-US" sz="19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Copilot helped you write text. Spark goes further — it builds working mini-apps.</a:t>
            </a:r>
            <a:endParaRPr lang="en-US" sz="1900" dirty="0"/>
          </a:p>
        </p:txBody>
      </p:sp>
      <p:sp>
        <p:nvSpPr>
          <p:cNvPr id="6" name="Text 4"/>
          <p:cNvSpPr/>
          <p:nvPr/>
        </p:nvSpPr>
        <p:spPr>
          <a:xfrm>
            <a:off x="355550" y="2034927"/>
            <a:ext cx="8432899" cy="1129308"/>
          </a:xfrm>
          <a:prstGeom prst="rect">
            <a:avLst/>
          </a:prstGeom>
          <a:noFill/>
          <a:ln/>
        </p:spPr>
        <p:txBody>
          <a:bodyPr wrap="square" lIns="165100" tIns="0" rIns="0" bIns="0" rtlCol="0" anchor="t"/>
          <a:lstStyle/>
          <a:p>
            <a:pPr algn="l" marL="165100" indent="-165100">
              <a:lnSpc>
                <a:spcPts val="2565"/>
              </a:lnSpc>
              <a:spcAft>
                <a:spcPts val="300"/>
              </a:spcAft>
              <a:buSzPct val="100000"/>
              <a:buChar char="•"/>
            </a:pPr>
            <a:r>
              <a:rPr lang="en-US" sz="19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coding required — type what you need in everyday language</a:t>
            </a:r>
            <a:endParaRPr lang="en-US" sz="1900" dirty="0"/>
          </a:p>
          <a:p>
            <a:pPr algn="l" marL="165100" indent="-165100">
              <a:lnSpc>
                <a:spcPts val="2565"/>
              </a:lnSpc>
              <a:spcAft>
                <a:spcPts val="300"/>
              </a:spcAft>
              <a:buSzPct val="100000"/>
              <a:buChar char="•"/>
            </a:pPr>
            <a:r>
              <a:rPr lang="en-US" sz="19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result is a simple web app you use in your browser</a:t>
            </a:r>
            <a:endParaRPr lang="en-US" sz="1900" dirty="0"/>
          </a:p>
          <a:p>
            <a:pPr algn="l" marL="165100" indent="-165100">
              <a:lnSpc>
                <a:spcPts val="2565"/>
              </a:lnSpc>
              <a:spcAft>
                <a:spcPts val="300"/>
              </a:spcAft>
              <a:buSzPct val="100000"/>
              <a:buChar char="•"/>
            </a:pPr>
            <a:r>
              <a:rPr lang="en-US" sz="19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 can share it with others on your farm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355550" y="3329136"/>
            <a:ext cx="8432899" cy="904875"/>
          </a:xfrm>
          <a:prstGeom prst="rect">
            <a:avLst/>
          </a:prstGeom>
          <a:solidFill>
            <a:srgbClr val="E8F5E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Shape 6"/>
          <p:cNvSpPr/>
          <p:nvPr/>
        </p:nvSpPr>
        <p:spPr>
          <a:xfrm>
            <a:off x="384125" y="3329136"/>
            <a:ext cx="0" cy="904875"/>
          </a:xfrm>
          <a:prstGeom prst="line">
            <a:avLst/>
          </a:prstGeom>
          <a:noFill/>
          <a:ln w="57150">
            <a:solidFill>
              <a:srgbClr val="4E9F3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90401" y="3455938"/>
            <a:ext cx="8180755" cy="651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65"/>
              </a:lnSpc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1900" dirty="0">
                <a:solidFill>
                  <a:srgbClr val="1E51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 describe what you want in plain English, and Spark creates a small, working tool.</a:t>
            </a:r>
            <a:endParaRPr lang="en-US" sz="1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863501"/>
          </a:xfrm>
          <a:prstGeom prst="rect">
            <a:avLst/>
          </a:prstGeom>
          <a:solidFill>
            <a:srgbClr val="1E512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355550" y="246013"/>
            <a:ext cx="3217956" cy="3714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Spark CAN Do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355550" y="1130052"/>
            <a:ext cx="8601557" cy="3256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65"/>
              </a:lnSpc>
              <a:spcBef>
                <a:spcPts val="500"/>
              </a:spcBef>
              <a:spcAft>
                <a:spcPts val="500"/>
              </a:spcAft>
              <a:buNone/>
            </a:pPr>
            <a:r>
              <a:rPr lang="en-US" sz="1900" b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Spark is good at: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355550" y="1582489"/>
            <a:ext cx="8432899" cy="1856780"/>
          </a:xfrm>
          <a:prstGeom prst="rect">
            <a:avLst/>
          </a:prstGeom>
          <a:noFill/>
          <a:ln/>
        </p:spPr>
        <p:txBody>
          <a:bodyPr wrap="square" lIns="165100" tIns="0" rIns="0" bIns="0" rtlCol="0" anchor="t"/>
          <a:lstStyle/>
          <a:p>
            <a:pPr algn="l" marL="165100" indent="-165100">
              <a:lnSpc>
                <a:spcPts val="2565"/>
              </a:lnSpc>
              <a:spcAft>
                <a:spcPts val="300"/>
              </a:spcAft>
              <a:buSzPct val="100000"/>
              <a:buChar char="•"/>
            </a:pPr>
            <a:r>
              <a:rPr lang="en-US" sz="19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Building simple calculators (seed rate, fertilizer, yield estimate)</a:t>
            </a:r>
            <a:endParaRPr lang="en-US" sz="1900" dirty="0"/>
          </a:p>
          <a:p>
            <a:pPr algn="l" marL="165100" indent="-165100">
              <a:lnSpc>
                <a:spcPts val="2565"/>
              </a:lnSpc>
              <a:spcAft>
                <a:spcPts val="300"/>
              </a:spcAft>
              <a:buSzPct val="100000"/>
              <a:buChar char="•"/>
            </a:pPr>
            <a:r>
              <a:rPr lang="en-US" sz="19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Creating interactive checklists and forms</a:t>
            </a:r>
            <a:endParaRPr lang="en-US" sz="1900" dirty="0"/>
          </a:p>
          <a:p>
            <a:pPr algn="l" marL="165100" indent="-165100">
              <a:lnSpc>
                <a:spcPts val="2565"/>
              </a:lnSpc>
              <a:spcAft>
                <a:spcPts val="300"/>
              </a:spcAft>
              <a:buSzPct val="100000"/>
              <a:buChar char="•"/>
            </a:pPr>
            <a:r>
              <a:rPr lang="en-US" sz="19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Making lookup tables (planting dates, vaccination schedules)</a:t>
            </a:r>
            <a:endParaRPr lang="en-US" sz="1900" dirty="0"/>
          </a:p>
          <a:p>
            <a:pPr algn="l" marL="165100" indent="-165100">
              <a:lnSpc>
                <a:spcPts val="2565"/>
              </a:lnSpc>
              <a:spcAft>
                <a:spcPts val="300"/>
              </a:spcAft>
              <a:buSzPct val="100000"/>
              <a:buChar char="•"/>
            </a:pPr>
            <a:r>
              <a:rPr lang="en-US" sz="19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Building simple dashboards that display info clearly</a:t>
            </a:r>
            <a:endParaRPr lang="en-US" sz="1900" dirty="0"/>
          </a:p>
          <a:p>
            <a:pPr algn="l" marL="165100" indent="-165100">
              <a:lnSpc>
                <a:spcPts val="2565"/>
              </a:lnSpc>
              <a:spcAft>
                <a:spcPts val="300"/>
              </a:spcAft>
              <a:buSzPct val="100000"/>
              <a:buChar char="•"/>
            </a:pPr>
            <a:r>
              <a:rPr lang="en-US" sz="19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Creating pages you can open on a phone in the field</a:t>
            </a:r>
            <a:endParaRPr lang="en-US" sz="1900" dirty="0"/>
          </a:p>
        </p:txBody>
      </p:sp>
      <p:sp>
        <p:nvSpPr>
          <p:cNvPr id="6" name="Text 4"/>
          <p:cNvSpPr/>
          <p:nvPr/>
        </p:nvSpPr>
        <p:spPr>
          <a:xfrm>
            <a:off x="355550" y="3566071"/>
            <a:ext cx="8601557" cy="651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65"/>
              </a:lnSpc>
              <a:spcBef>
                <a:spcPts val="500"/>
              </a:spcBef>
              <a:spcAft>
                <a:spcPts val="500"/>
              </a:spcAft>
              <a:buNone/>
            </a:pPr>
            <a:r>
              <a:rPr lang="en-US" sz="1900" b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Think of it like:</a:t>
            </a:r>
            <a:pPr algn="l" indent="0" marL="0">
              <a:lnSpc>
                <a:spcPts val="2565"/>
              </a:lnSpc>
              <a:spcBef>
                <a:spcPts val="500"/>
              </a:spcBef>
              <a:spcAft>
                <a:spcPts val="500"/>
              </a:spcAft>
              <a:buNone/>
            </a:pPr>
            <a:r>
              <a:rPr lang="en-US" sz="19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 farmhand who builds you a clipboard tool — not a whole barn, but a handy gadget for one job.</a:t>
            </a:r>
            <a:endParaRPr lang="en-US" sz="1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863501"/>
          </a:xfrm>
          <a:prstGeom prst="rect">
            <a:avLst/>
          </a:prstGeom>
          <a:solidFill>
            <a:srgbClr val="1E512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355550" y="246013"/>
            <a:ext cx="3928857" cy="3714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Spark CANNOT Do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355550" y="1130052"/>
            <a:ext cx="8601557" cy="3256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65"/>
              </a:lnSpc>
              <a:spcBef>
                <a:spcPts val="500"/>
              </a:spcBef>
              <a:spcAft>
                <a:spcPts val="500"/>
              </a:spcAft>
              <a:buNone/>
            </a:pPr>
            <a:r>
              <a:rPr lang="en-US" sz="1900" b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Spark does NOT: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355550" y="1582489"/>
            <a:ext cx="8432899" cy="1856780"/>
          </a:xfrm>
          <a:prstGeom prst="rect">
            <a:avLst/>
          </a:prstGeom>
          <a:noFill/>
          <a:ln/>
        </p:spPr>
        <p:txBody>
          <a:bodyPr wrap="square" lIns="165100" tIns="0" rIns="0" bIns="0" rtlCol="0" anchor="t"/>
          <a:lstStyle/>
          <a:p>
            <a:pPr algn="l" marL="165100" indent="-165100">
              <a:lnSpc>
                <a:spcPts val="2565"/>
              </a:lnSpc>
              <a:spcAft>
                <a:spcPts val="300"/>
              </a:spcAft>
              <a:buSzPct val="100000"/>
              <a:buChar char="•"/>
            </a:pPr>
            <a:r>
              <a:rPr lang="en-US" sz="19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 large or complex software applications</a:t>
            </a:r>
            <a:endParaRPr lang="en-US" sz="1900" dirty="0"/>
          </a:p>
          <a:p>
            <a:pPr algn="l" marL="165100" indent="-165100">
              <a:lnSpc>
                <a:spcPts val="2565"/>
              </a:lnSpc>
              <a:spcAft>
                <a:spcPts val="300"/>
              </a:spcAft>
              <a:buSzPct val="100000"/>
              <a:buChar char="•"/>
            </a:pPr>
            <a:r>
              <a:rPr lang="en-US" sz="19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Connect to external systems without extra setup</a:t>
            </a:r>
            <a:endParaRPr lang="en-US" sz="1900" dirty="0"/>
          </a:p>
          <a:p>
            <a:pPr algn="l" marL="165100" indent="-165100">
              <a:lnSpc>
                <a:spcPts val="2565"/>
              </a:lnSpc>
              <a:spcAft>
                <a:spcPts val="300"/>
              </a:spcAft>
              <a:buSzPct val="100000"/>
              <a:buChar char="•"/>
            </a:pPr>
            <a:r>
              <a:rPr lang="en-US" sz="19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Replace professional software (accounting, herd management)</a:t>
            </a:r>
            <a:endParaRPr lang="en-US" sz="1900" dirty="0"/>
          </a:p>
          <a:p>
            <a:pPr algn="l" marL="165100" indent="-165100">
              <a:lnSpc>
                <a:spcPts val="2565"/>
              </a:lnSpc>
              <a:spcAft>
                <a:spcPts val="300"/>
              </a:spcAft>
              <a:buSzPct val="100000"/>
              <a:buChar char="•"/>
            </a:pPr>
            <a:r>
              <a:rPr lang="en-US" sz="19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Guarantee calculations are correct — you must verify</a:t>
            </a:r>
            <a:endParaRPr lang="en-US" sz="1900" dirty="0"/>
          </a:p>
          <a:p>
            <a:pPr algn="l" marL="165100" indent="-165100">
              <a:lnSpc>
                <a:spcPts val="2565"/>
              </a:lnSpc>
              <a:spcAft>
                <a:spcPts val="300"/>
              </a:spcAft>
              <a:buSzPct val="100000"/>
              <a:buChar char="•"/>
            </a:pPr>
            <a:r>
              <a:rPr lang="en-US" sz="19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Know YOUR specific farm details unless you tell it</a:t>
            </a:r>
            <a:endParaRPr lang="en-US" sz="1900" dirty="0"/>
          </a:p>
        </p:txBody>
      </p:sp>
      <p:sp>
        <p:nvSpPr>
          <p:cNvPr id="6" name="Text 4"/>
          <p:cNvSpPr/>
          <p:nvPr/>
        </p:nvSpPr>
        <p:spPr>
          <a:xfrm>
            <a:off x="355550" y="3566071"/>
            <a:ext cx="8601557" cy="651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65"/>
              </a:lnSpc>
              <a:spcBef>
                <a:spcPts val="500"/>
              </a:spcBef>
              <a:spcAft>
                <a:spcPts val="500"/>
              </a:spcAft>
              <a:buNone/>
            </a:pPr>
            <a:r>
              <a:rPr lang="en-US" sz="1900" b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Think of it like:</a:t>
            </a:r>
            <a:pPr algn="l" indent="0" marL="0">
              <a:lnSpc>
                <a:spcPts val="2565"/>
              </a:lnSpc>
              <a:spcBef>
                <a:spcPts val="500"/>
              </a:spcBef>
              <a:spcAft>
                <a:spcPts val="500"/>
              </a:spcAft>
              <a:buNone/>
            </a:pPr>
            <a:r>
              <a:rPr lang="en-US" sz="19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The farmhand can build a rain gauge stand, but not a weather station.</a:t>
            </a:r>
            <a:endParaRPr lang="en-US" sz="1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1D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914102"/>
          </a:xfrm>
          <a:prstGeom prst="rect">
            <a:avLst/>
          </a:prstGeom>
          <a:solidFill>
            <a:srgbClr val="1E512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57200" y="271314"/>
            <a:ext cx="5682353" cy="3714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Spark Works: The Three Steps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57200" y="1041053"/>
            <a:ext cx="8394192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500"/>
              </a:spcAft>
              <a:buNone/>
            </a:pPr>
            <a:r>
              <a:rPr lang="en-US" sz="1400" b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Building with Spark is a simple cycle: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457200" y="1314004"/>
            <a:ext cx="8229600" cy="399752"/>
          </a:xfrm>
          <a:prstGeom prst="roundRect">
            <a:avLst>
              <a:gd name="adj" fmla="val 12708"/>
            </a:avLst>
          </a:prstGeom>
          <a:solidFill>
            <a:srgbClr val="1E512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457200" y="1314004"/>
            <a:ext cx="2046631" cy="336352"/>
          </a:xfrm>
          <a:prstGeom prst="rect">
            <a:avLst/>
          </a:prstGeom>
          <a:noFill/>
          <a:ln/>
        </p:spPr>
        <p:txBody>
          <a:bodyPr wrap="square" lIns="88900" tIns="63500" rIns="88900" bIns="63500" rtlCol="0" anchor="t"/>
          <a:lstStyle/>
          <a:p>
            <a:pPr algn="l" indent="0" marL="0">
              <a:spcAft>
                <a:spcPts val="500"/>
              </a:spcAft>
              <a:buNone/>
            </a:pPr>
            <a:r>
              <a:rPr lang="en-US" sz="1400" b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2463701" y="1314004"/>
            <a:ext cx="3445663" cy="336352"/>
          </a:xfrm>
          <a:prstGeom prst="rect">
            <a:avLst/>
          </a:prstGeom>
          <a:noFill/>
          <a:ln/>
        </p:spPr>
        <p:txBody>
          <a:bodyPr wrap="square" lIns="88900" tIns="63500" rIns="88900" bIns="63500" rtlCol="0" anchor="t"/>
          <a:lstStyle/>
          <a:p>
            <a:pPr algn="l" indent="0" marL="0">
              <a:spcAft>
                <a:spcPts val="500"/>
              </a:spcAft>
              <a:buNone/>
            </a:pPr>
            <a:r>
              <a:rPr lang="en-US" sz="1400" b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You Do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5841802" y="1314004"/>
            <a:ext cx="2901898" cy="336352"/>
          </a:xfrm>
          <a:prstGeom prst="rect">
            <a:avLst/>
          </a:prstGeom>
          <a:noFill/>
          <a:ln/>
        </p:spPr>
        <p:txBody>
          <a:bodyPr wrap="square" lIns="88900" tIns="63500" rIns="88900" bIns="63500" rtlCol="0" anchor="t"/>
          <a:lstStyle/>
          <a:p>
            <a:pPr algn="l" indent="0" marL="0">
              <a:spcAft>
                <a:spcPts val="500"/>
              </a:spcAft>
              <a:buNone/>
            </a:pPr>
            <a:r>
              <a:rPr lang="en-US" sz="1400" b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Farm Analogy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457200" y="1713756"/>
            <a:ext cx="8229600" cy="593527"/>
          </a:xfrm>
          <a:prstGeom prst="rect">
            <a:avLst/>
          </a:prstGeom>
          <a:solidFill>
            <a:srgbClr val="F4F1D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Shape 8"/>
          <p:cNvSpPr/>
          <p:nvPr/>
        </p:nvSpPr>
        <p:spPr>
          <a:xfrm>
            <a:off x="457200" y="2302520"/>
            <a:ext cx="82296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1713756"/>
            <a:ext cx="2046631" cy="520601"/>
          </a:xfrm>
          <a:prstGeom prst="rect">
            <a:avLst/>
          </a:prstGeom>
          <a:noFill/>
          <a:ln/>
        </p:spPr>
        <p:txBody>
          <a:bodyPr wrap="square" lIns="88900" tIns="50800" rIns="88900" bIns="50800" rtlCol="0" anchor="t"/>
          <a:lstStyle/>
          <a:p>
            <a:pPr algn="l" indent="0" marL="0">
              <a:spcAft>
                <a:spcPts val="500"/>
              </a:spcAft>
              <a:buNone/>
            </a:pPr>
            <a:r>
              <a:rPr lang="en-US" sz="1400" b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Describe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2463701" y="1713756"/>
            <a:ext cx="3445663" cy="520601"/>
          </a:xfrm>
          <a:prstGeom prst="rect">
            <a:avLst/>
          </a:prstGeom>
          <a:noFill/>
          <a:ln/>
        </p:spPr>
        <p:txBody>
          <a:bodyPr wrap="square" lIns="88900" tIns="50800" rIns="88900" bIns="50800" rtlCol="0" anchor="t"/>
          <a:lstStyle/>
          <a:p>
            <a:pPr algn="l" indent="0" marL="0">
              <a:spcAft>
                <a:spcPts val="500"/>
              </a:spcAft>
              <a:buNone/>
            </a:pPr>
            <a:r>
              <a:rPr lang="en-US" sz="14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Type what you want in plain English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5841802" y="1713756"/>
            <a:ext cx="2901898" cy="520601"/>
          </a:xfrm>
          <a:prstGeom prst="rect">
            <a:avLst/>
          </a:prstGeom>
          <a:noFill/>
          <a:ln/>
        </p:spPr>
        <p:txBody>
          <a:bodyPr wrap="square" lIns="88900" tIns="50800" rIns="88900" bIns="50800" rtlCol="0" anchor="t"/>
          <a:lstStyle/>
          <a:p>
            <a:pPr algn="l" indent="0" marL="0">
              <a:spcAft>
                <a:spcPts val="500"/>
              </a:spcAft>
              <a:buNone/>
            </a:pPr>
            <a:r>
              <a:rPr lang="en-US" sz="14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Telling a farmhand what tool you need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457200" y="2307282"/>
            <a:ext cx="8229600" cy="593527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Shape 13"/>
          <p:cNvSpPr/>
          <p:nvPr/>
        </p:nvSpPr>
        <p:spPr>
          <a:xfrm>
            <a:off x="457200" y="2896046"/>
            <a:ext cx="82296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57200" y="2307282"/>
            <a:ext cx="2046631" cy="520601"/>
          </a:xfrm>
          <a:prstGeom prst="rect">
            <a:avLst/>
          </a:prstGeom>
          <a:noFill/>
          <a:ln/>
        </p:spPr>
        <p:txBody>
          <a:bodyPr wrap="square" lIns="88900" tIns="50800" rIns="88900" bIns="50800" rtlCol="0" anchor="t"/>
          <a:lstStyle/>
          <a:p>
            <a:pPr algn="l" indent="0" marL="0">
              <a:spcAft>
                <a:spcPts val="500"/>
              </a:spcAft>
              <a:buNone/>
            </a:pPr>
            <a:r>
              <a:rPr lang="en-US" sz="1400" b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Review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2463701" y="2307282"/>
            <a:ext cx="3445663" cy="520601"/>
          </a:xfrm>
          <a:prstGeom prst="rect">
            <a:avLst/>
          </a:prstGeom>
          <a:noFill/>
          <a:ln/>
        </p:spPr>
        <p:txBody>
          <a:bodyPr wrap="square" lIns="88900" tIns="50800" rIns="88900" bIns="50800" rtlCol="0" anchor="t"/>
          <a:lstStyle/>
          <a:p>
            <a:pPr algn="l" indent="0" marL="0">
              <a:spcAft>
                <a:spcPts val="500"/>
              </a:spcAft>
              <a:buNone/>
            </a:pPr>
            <a:r>
              <a:rPr lang="en-US" sz="14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Look at what Spark built and test it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5841802" y="2307282"/>
            <a:ext cx="2901898" cy="520601"/>
          </a:xfrm>
          <a:prstGeom prst="rect">
            <a:avLst/>
          </a:prstGeom>
          <a:noFill/>
          <a:ln/>
        </p:spPr>
        <p:txBody>
          <a:bodyPr wrap="square" lIns="88900" tIns="50800" rIns="88900" bIns="50800" rtlCol="0" anchor="t"/>
          <a:lstStyle/>
          <a:p>
            <a:pPr algn="l" indent="0" marL="0">
              <a:spcAft>
                <a:spcPts val="500"/>
              </a:spcAft>
              <a:buNone/>
            </a:pPr>
            <a:r>
              <a:rPr lang="en-US" sz="14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Checking the farmhand's work before using it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457200" y="2900809"/>
            <a:ext cx="8229600" cy="593527"/>
          </a:xfrm>
          <a:prstGeom prst="rect">
            <a:avLst/>
          </a:prstGeom>
          <a:solidFill>
            <a:srgbClr val="F4F1D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Shape 18"/>
          <p:cNvSpPr/>
          <p:nvPr/>
        </p:nvSpPr>
        <p:spPr>
          <a:xfrm>
            <a:off x="457200" y="3489573"/>
            <a:ext cx="82296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57200" y="2900809"/>
            <a:ext cx="2046631" cy="520601"/>
          </a:xfrm>
          <a:prstGeom prst="rect">
            <a:avLst/>
          </a:prstGeom>
          <a:noFill/>
          <a:ln/>
        </p:spPr>
        <p:txBody>
          <a:bodyPr wrap="square" lIns="88900" tIns="50800" rIns="88900" bIns="50800" rtlCol="0" anchor="t"/>
          <a:lstStyle/>
          <a:p>
            <a:pPr algn="l" indent="0" marL="0">
              <a:spcAft>
                <a:spcPts val="500"/>
              </a:spcAft>
              <a:buNone/>
            </a:pPr>
            <a:r>
              <a:rPr lang="en-US" sz="1400" b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Refine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2463701" y="2900809"/>
            <a:ext cx="3445663" cy="520601"/>
          </a:xfrm>
          <a:prstGeom prst="rect">
            <a:avLst/>
          </a:prstGeom>
          <a:noFill/>
          <a:ln/>
        </p:spPr>
        <p:txBody>
          <a:bodyPr wrap="square" lIns="88900" tIns="50800" rIns="88900" bIns="50800" rtlCol="0" anchor="t"/>
          <a:lstStyle/>
          <a:p>
            <a:pPr algn="l" indent="0" marL="0">
              <a:spcAft>
                <a:spcPts val="500"/>
              </a:spcAft>
              <a:buNone/>
            </a:pPr>
            <a:r>
              <a:rPr lang="en-US" sz="14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Ask Spark to make changes or fix issues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5841802" y="2900809"/>
            <a:ext cx="2901898" cy="520601"/>
          </a:xfrm>
          <a:prstGeom prst="rect">
            <a:avLst/>
          </a:prstGeom>
          <a:noFill/>
          <a:ln/>
        </p:spPr>
        <p:txBody>
          <a:bodyPr wrap="square" lIns="88900" tIns="50800" rIns="88900" bIns="50800" rtlCol="0" anchor="t"/>
          <a:lstStyle/>
          <a:p>
            <a:pPr algn="l" indent="0" marL="0">
              <a:spcAft>
                <a:spcPts val="500"/>
              </a:spcAft>
              <a:buNone/>
            </a:pPr>
            <a:r>
              <a:rPr lang="en-US" sz="14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Giving feedback: “Make the handle longer”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457200" y="3545086"/>
            <a:ext cx="8394192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500"/>
              </a:spcAft>
              <a:buNone/>
            </a:pPr>
            <a:r>
              <a:rPr lang="en-US" sz="14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 repeat steps 2 and 3 until the tool works the way you need.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457200" y="3818037"/>
            <a:ext cx="8394192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500"/>
              </a:spcAft>
              <a:buNone/>
            </a:pPr>
            <a:r>
              <a:rPr lang="en-US" sz="1400" b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This is the same prompt-evaluate-edit cycle you learned with Copilot — just applied to building tools instead of writing text.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863501"/>
          </a:xfrm>
          <a:prstGeom prst="rect">
            <a:avLst/>
          </a:prstGeom>
          <a:solidFill>
            <a:srgbClr val="1E512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355550" y="246013"/>
            <a:ext cx="6174807" cy="3714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 Demo: Building a Seed Calculator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355550" y="1130052"/>
            <a:ext cx="8601557" cy="3256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65"/>
              </a:lnSpc>
              <a:spcBef>
                <a:spcPts val="500"/>
              </a:spcBef>
              <a:spcAft>
                <a:spcPts val="500"/>
              </a:spcAft>
              <a:buNone/>
            </a:pPr>
            <a:r>
              <a:rPr lang="en-US" sz="1900" b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Watch me build a simple seed calculator using Spark.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355550" y="1582489"/>
            <a:ext cx="8432899" cy="2220516"/>
          </a:xfrm>
          <a:prstGeom prst="rect">
            <a:avLst/>
          </a:prstGeom>
          <a:noFill/>
          <a:ln/>
        </p:spPr>
        <p:txBody>
          <a:bodyPr wrap="square" lIns="165100" tIns="0" rIns="0" bIns="0" rtlCol="0" anchor="t"/>
          <a:lstStyle/>
          <a:p>
            <a:pPr algn="l" marL="165100" indent="-165100">
              <a:lnSpc>
                <a:spcPts val="2565"/>
              </a:lnSpc>
              <a:spcAft>
                <a:spcPts val="300"/>
              </a:spcAft>
              <a:buSzPct val="100000"/>
              <a:buChar char="•"/>
            </a:pPr>
            <a:r>
              <a:rPr lang="en-US" sz="19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 GitHub Spark</a:t>
            </a:r>
            <a:endParaRPr lang="en-US" sz="1900" dirty="0"/>
          </a:p>
          <a:p>
            <a:pPr algn="l" marL="165100" indent="-165100">
              <a:lnSpc>
                <a:spcPts val="2565"/>
              </a:lnSpc>
              <a:spcAft>
                <a:spcPts val="300"/>
              </a:spcAft>
              <a:buSzPct val="100000"/>
              <a:buChar char="•"/>
            </a:pPr>
            <a:r>
              <a:rPr lang="en-US" sz="19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Describe what I want: "A seed order calculator for corn"</a:t>
            </a:r>
            <a:endParaRPr lang="en-US" sz="1900" dirty="0"/>
          </a:p>
          <a:p>
            <a:pPr algn="l" marL="165100" indent="-165100">
              <a:lnSpc>
                <a:spcPts val="2565"/>
              </a:lnSpc>
              <a:spcAft>
                <a:spcPts val="300"/>
              </a:spcAft>
              <a:buSzPct val="100000"/>
              <a:buChar char="•"/>
            </a:pPr>
            <a:r>
              <a:rPr lang="en-US" sz="19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Show you what Spark builds</a:t>
            </a:r>
            <a:endParaRPr lang="en-US" sz="1900" dirty="0"/>
          </a:p>
          <a:p>
            <a:pPr algn="l" marL="165100" indent="-165100">
              <a:lnSpc>
                <a:spcPts val="2565"/>
              </a:lnSpc>
              <a:spcAft>
                <a:spcPts val="300"/>
              </a:spcAft>
              <a:buSzPct val="100000"/>
              <a:buChar char="•"/>
            </a:pPr>
            <a:r>
              <a:rPr lang="en-US" sz="19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 the calculator with real numbers</a:t>
            </a:r>
            <a:endParaRPr lang="en-US" sz="1900" dirty="0"/>
          </a:p>
          <a:p>
            <a:pPr algn="l" marL="165100" indent="-165100">
              <a:lnSpc>
                <a:spcPts val="2565"/>
              </a:lnSpc>
              <a:spcAft>
                <a:spcPts val="300"/>
              </a:spcAft>
              <a:buSzPct val="100000"/>
              <a:buChar char="•"/>
            </a:pPr>
            <a:r>
              <a:rPr lang="en-US" sz="19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Ask Spark to make a change</a:t>
            </a:r>
            <a:endParaRPr lang="en-US" sz="1900" dirty="0"/>
          </a:p>
          <a:p>
            <a:pPr algn="l" marL="165100" indent="-165100">
              <a:lnSpc>
                <a:spcPts val="2565"/>
              </a:lnSpc>
              <a:spcAft>
                <a:spcPts val="300"/>
              </a:spcAft>
              <a:buSzPct val="100000"/>
              <a:buChar char="•"/>
            </a:pPr>
            <a:r>
              <a:rPr lang="en-US" sz="19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Show the final result</a:t>
            </a:r>
            <a:endParaRPr lang="en-US" sz="1900" dirty="0"/>
          </a:p>
        </p:txBody>
      </p:sp>
      <p:sp>
        <p:nvSpPr>
          <p:cNvPr id="6" name="Text 4"/>
          <p:cNvSpPr/>
          <p:nvPr/>
        </p:nvSpPr>
        <p:spPr>
          <a:xfrm>
            <a:off x="355550" y="3929807"/>
            <a:ext cx="8601557" cy="3256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65"/>
              </a:lnSpc>
              <a:spcBef>
                <a:spcPts val="500"/>
              </a:spcBef>
              <a:spcAft>
                <a:spcPts val="500"/>
              </a:spcAft>
              <a:buNone/>
            </a:pPr>
            <a:r>
              <a:rPr lang="en-US" sz="1900" b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Just watch for now — you'll build your own tool next.</a:t>
            </a:r>
            <a:endParaRPr lang="en-US" sz="1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4F1D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914102"/>
          </a:xfrm>
          <a:prstGeom prst="rect">
            <a:avLst/>
          </a:prstGeom>
          <a:solidFill>
            <a:srgbClr val="1E512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57200" y="271314"/>
            <a:ext cx="5157412" cy="3714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Writing Good Prompts for Spark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57200" y="1041053"/>
            <a:ext cx="8394192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500"/>
              </a:spcAft>
              <a:buNone/>
            </a:pPr>
            <a:r>
              <a:rPr lang="en-US" sz="1400" b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Describe what the tool DOES, what you PUT IN, and what you GET OUT.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457200" y="1314004"/>
            <a:ext cx="8229600" cy="399752"/>
          </a:xfrm>
          <a:prstGeom prst="roundRect">
            <a:avLst>
              <a:gd name="adj" fmla="val 12708"/>
            </a:avLst>
          </a:prstGeom>
          <a:solidFill>
            <a:srgbClr val="1E512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457200" y="1314004"/>
            <a:ext cx="2512975" cy="336352"/>
          </a:xfrm>
          <a:prstGeom prst="rect">
            <a:avLst/>
          </a:prstGeom>
          <a:noFill/>
          <a:ln/>
        </p:spPr>
        <p:txBody>
          <a:bodyPr wrap="square" lIns="88900" tIns="63500" rIns="88900" bIns="63500" rtlCol="0" anchor="t"/>
          <a:lstStyle/>
          <a:p>
            <a:pPr algn="l" indent="0" marL="0">
              <a:spcAft>
                <a:spcPts val="500"/>
              </a:spcAft>
              <a:buNone/>
            </a:pPr>
            <a:r>
              <a:rPr lang="en-US" sz="1400" b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Weak Prompt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2920901" y="1314004"/>
            <a:ext cx="5881217" cy="336352"/>
          </a:xfrm>
          <a:prstGeom prst="rect">
            <a:avLst/>
          </a:prstGeom>
          <a:noFill/>
          <a:ln/>
        </p:spPr>
        <p:txBody>
          <a:bodyPr wrap="square" lIns="88900" tIns="63500" rIns="88900" bIns="63500" rtlCol="0" anchor="t"/>
          <a:lstStyle/>
          <a:p>
            <a:pPr algn="l" indent="0" marL="0">
              <a:spcAft>
                <a:spcPts val="500"/>
              </a:spcAft>
              <a:buNone/>
            </a:pPr>
            <a:r>
              <a:rPr lang="en-US" sz="1400" b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Strong Prompt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457200" y="1713756"/>
            <a:ext cx="8229600" cy="593527"/>
          </a:xfrm>
          <a:prstGeom prst="rect">
            <a:avLst/>
          </a:prstGeom>
          <a:solidFill>
            <a:srgbClr val="F4F1D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Shape 7"/>
          <p:cNvSpPr/>
          <p:nvPr/>
        </p:nvSpPr>
        <p:spPr>
          <a:xfrm>
            <a:off x="457200" y="2302520"/>
            <a:ext cx="82296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7200" y="1713756"/>
            <a:ext cx="2512975" cy="520601"/>
          </a:xfrm>
          <a:prstGeom prst="rect">
            <a:avLst/>
          </a:prstGeom>
          <a:noFill/>
          <a:ln/>
        </p:spPr>
        <p:txBody>
          <a:bodyPr wrap="square" lIns="88900" tIns="50800" rIns="88900" bIns="50800" rtlCol="0" anchor="t"/>
          <a:lstStyle/>
          <a:p>
            <a:pPr algn="l" indent="0" marL="0">
              <a:spcAft>
                <a:spcPts val="500"/>
              </a:spcAft>
              <a:buNone/>
            </a:pPr>
            <a:r>
              <a:rPr lang="en-US" sz="14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“seed calculator”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2920901" y="1713756"/>
            <a:ext cx="5881217" cy="520601"/>
          </a:xfrm>
          <a:prstGeom prst="rect">
            <a:avLst/>
          </a:prstGeom>
          <a:noFill/>
          <a:ln/>
        </p:spPr>
        <p:txBody>
          <a:bodyPr wrap="square" lIns="88900" tIns="50800" rIns="88900" bIns="50800" rtlCol="0" anchor="t"/>
          <a:lstStyle/>
          <a:p>
            <a:pPr algn="l" indent="0" marL="0">
              <a:spcAft>
                <a:spcPts val="500"/>
              </a:spcAft>
              <a:buNone/>
            </a:pPr>
            <a:r>
              <a:rPr lang="en-US" sz="14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“Build a seed order calculator: enter field size in acres and seeding rate. Calculate total seeds and number of 80,000-seed bags.”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457200" y="2307282"/>
            <a:ext cx="8229600" cy="593527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Shape 11"/>
          <p:cNvSpPr/>
          <p:nvPr/>
        </p:nvSpPr>
        <p:spPr>
          <a:xfrm>
            <a:off x="457200" y="2896046"/>
            <a:ext cx="82296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57200" y="2307282"/>
            <a:ext cx="2512975" cy="520601"/>
          </a:xfrm>
          <a:prstGeom prst="rect">
            <a:avLst/>
          </a:prstGeom>
          <a:noFill/>
          <a:ln/>
        </p:spPr>
        <p:txBody>
          <a:bodyPr wrap="square" lIns="88900" tIns="50800" rIns="88900" bIns="50800" rtlCol="0" anchor="t"/>
          <a:lstStyle/>
          <a:p>
            <a:pPr algn="l" indent="0" marL="0">
              <a:spcAft>
                <a:spcPts val="500"/>
              </a:spcAft>
              <a:buNone/>
            </a:pPr>
            <a:r>
              <a:rPr lang="en-US" sz="14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“equipment list”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2920901" y="2307282"/>
            <a:ext cx="5881217" cy="520601"/>
          </a:xfrm>
          <a:prstGeom prst="rect">
            <a:avLst/>
          </a:prstGeom>
          <a:noFill/>
          <a:ln/>
        </p:spPr>
        <p:txBody>
          <a:bodyPr wrap="square" lIns="88900" tIns="50800" rIns="88900" bIns="50800" rtlCol="0" anchor="t"/>
          <a:lstStyle/>
          <a:p>
            <a:pPr algn="l" indent="0" marL="0">
              <a:spcAft>
                <a:spcPts val="500"/>
              </a:spcAft>
              <a:buNone/>
            </a:pPr>
            <a:r>
              <a:rPr lang="en-US" sz="14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“Build a checklist for pre-season equipment inspection. List tractor, combine, planter. Checkboxes for oil, tires, belts, safety.”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457200" y="2900809"/>
            <a:ext cx="8229600" cy="593527"/>
          </a:xfrm>
          <a:prstGeom prst="rect">
            <a:avLst/>
          </a:prstGeom>
          <a:solidFill>
            <a:srgbClr val="F4F1D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Shape 15"/>
          <p:cNvSpPr/>
          <p:nvPr/>
        </p:nvSpPr>
        <p:spPr>
          <a:xfrm>
            <a:off x="457200" y="3489573"/>
            <a:ext cx="82296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57200" y="2900809"/>
            <a:ext cx="2512975" cy="520601"/>
          </a:xfrm>
          <a:prstGeom prst="rect">
            <a:avLst/>
          </a:prstGeom>
          <a:noFill/>
          <a:ln/>
        </p:spPr>
        <p:txBody>
          <a:bodyPr wrap="square" lIns="88900" tIns="50800" rIns="88900" bIns="50800" rtlCol="0" anchor="t"/>
          <a:lstStyle/>
          <a:p>
            <a:pPr algn="l" indent="0" marL="0">
              <a:spcAft>
                <a:spcPts val="500"/>
              </a:spcAft>
              <a:buNone/>
            </a:pPr>
            <a:r>
              <a:rPr lang="en-US" sz="14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“animal log”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2920901" y="2900809"/>
            <a:ext cx="5881217" cy="520601"/>
          </a:xfrm>
          <a:prstGeom prst="rect">
            <a:avLst/>
          </a:prstGeom>
          <a:noFill/>
          <a:ln/>
        </p:spPr>
        <p:txBody>
          <a:bodyPr wrap="square" lIns="88900" tIns="50800" rIns="88900" bIns="50800" rtlCol="0" anchor="t"/>
          <a:lstStyle/>
          <a:p>
            <a:pPr algn="l" indent="0" marL="0">
              <a:spcAft>
                <a:spcPts val="500"/>
              </a:spcAft>
              <a:buNone/>
            </a:pPr>
            <a:r>
              <a:rPr lang="en-US" sz="14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“Build a daily livestock health log: select animal ID, enter date, check appetite/movement/temp, type notes. Save entries in a list.”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863501"/>
          </a:xfrm>
          <a:prstGeom prst="rect">
            <a:avLst/>
          </a:prstGeom>
          <a:solidFill>
            <a:srgbClr val="1E512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355550" y="246013"/>
            <a:ext cx="4146697" cy="3714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Are Copilot Agents?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355550" y="1130052"/>
            <a:ext cx="8601557" cy="3256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65"/>
              </a:lnSpc>
              <a:spcBef>
                <a:spcPts val="500"/>
              </a:spcBef>
              <a:spcAft>
                <a:spcPts val="500"/>
              </a:spcAft>
              <a:buNone/>
            </a:pPr>
            <a:r>
              <a:rPr lang="en-US" sz="1900" b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Agents = A Farmhand Who Follows Multi-Step Instructions on Their Own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355550" y="1582489"/>
            <a:ext cx="8601557" cy="651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65"/>
              </a:lnSpc>
              <a:spcBef>
                <a:spcPts val="500"/>
              </a:spcBef>
              <a:spcAft>
                <a:spcPts val="500"/>
              </a:spcAft>
              <a:buNone/>
            </a:pPr>
            <a:r>
              <a:rPr lang="en-US" sz="19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Copilot helped you write one suggestion at a time. An agent handles a whole sequence:</a:t>
            </a:r>
            <a:endParaRPr lang="en-US" sz="1900" dirty="0"/>
          </a:p>
        </p:txBody>
      </p:sp>
      <p:sp>
        <p:nvSpPr>
          <p:cNvPr id="6" name="Text 4"/>
          <p:cNvSpPr/>
          <p:nvPr/>
        </p:nvSpPr>
        <p:spPr>
          <a:xfrm>
            <a:off x="355550" y="2360563"/>
            <a:ext cx="8432899" cy="1493044"/>
          </a:xfrm>
          <a:prstGeom prst="rect">
            <a:avLst/>
          </a:prstGeom>
          <a:noFill/>
          <a:ln/>
        </p:spPr>
        <p:txBody>
          <a:bodyPr wrap="square" lIns="165100" tIns="0" rIns="0" bIns="0" rtlCol="0" anchor="t"/>
          <a:lstStyle/>
          <a:p>
            <a:pPr algn="l" marL="165100" indent="-165100">
              <a:lnSpc>
                <a:spcPts val="2565"/>
              </a:lnSpc>
              <a:spcAft>
                <a:spcPts val="300"/>
              </a:spcAft>
              <a:buSzPct val="100000"/>
              <a:buChar char="•"/>
            </a:pPr>
            <a:r>
              <a:rPr lang="en-US" sz="19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 through your repository</a:t>
            </a:r>
            <a:endParaRPr lang="en-US" sz="1900" dirty="0"/>
          </a:p>
          <a:p>
            <a:pPr algn="l" marL="165100" indent="-165100">
              <a:lnSpc>
                <a:spcPts val="2565"/>
              </a:lnSpc>
              <a:spcAft>
                <a:spcPts val="300"/>
              </a:spcAft>
              <a:buSzPct val="100000"/>
              <a:buChar char="•"/>
            </a:pPr>
            <a:r>
              <a:rPr lang="en-US" sz="19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Identify what needs to be done</a:t>
            </a:r>
            <a:endParaRPr lang="en-US" sz="1900" dirty="0"/>
          </a:p>
          <a:p>
            <a:pPr algn="l" marL="165100" indent="-165100">
              <a:lnSpc>
                <a:spcPts val="2565"/>
              </a:lnSpc>
              <a:spcAft>
                <a:spcPts val="300"/>
              </a:spcAft>
              <a:buSzPct val="100000"/>
              <a:buChar char="•"/>
            </a:pPr>
            <a:r>
              <a:rPr lang="en-US" sz="19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Create Issues, suggest changes, or organize tasks</a:t>
            </a:r>
            <a:endParaRPr lang="en-US" sz="1900" dirty="0"/>
          </a:p>
          <a:p>
            <a:pPr algn="l" marL="165100" indent="-165100">
              <a:lnSpc>
                <a:spcPts val="2565"/>
              </a:lnSpc>
              <a:spcAft>
                <a:spcPts val="300"/>
              </a:spcAft>
              <a:buSzPct val="100000"/>
              <a:buChar char="•"/>
            </a:pPr>
            <a:r>
              <a:rPr lang="en-US" sz="19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 through multiple steps without you guiding each one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355550" y="3980408"/>
            <a:ext cx="8601557" cy="651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65"/>
              </a:lnSpc>
              <a:spcBef>
                <a:spcPts val="500"/>
              </a:spcBef>
              <a:spcAft>
                <a:spcPts val="500"/>
              </a:spcAft>
              <a:buNone/>
            </a:pPr>
            <a:r>
              <a:rPr lang="en-US" sz="1900" b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difference:</a:t>
            </a:r>
            <a:pPr algn="l" indent="0" marL="0">
              <a:lnSpc>
                <a:spcPts val="2565"/>
              </a:lnSpc>
              <a:spcBef>
                <a:spcPts val="500"/>
              </a:spcBef>
              <a:spcAft>
                <a:spcPts val="500"/>
              </a:spcAft>
              <a:buNone/>
            </a:pPr>
            <a:r>
              <a:rPr lang="en-US" sz="19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Copilot suggests one thing at a time. An agent follows a plan with multiple steps.</a:t>
            </a:r>
            <a:endParaRPr lang="en-US" sz="1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863501"/>
          </a:xfrm>
          <a:prstGeom prst="rect">
            <a:avLst/>
          </a:prstGeom>
          <a:solidFill>
            <a:srgbClr val="1E512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355550" y="246013"/>
            <a:ext cx="3410900" cy="3714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Agents CAN Do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355550" y="1130052"/>
            <a:ext cx="8601557" cy="3256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65"/>
              </a:lnSpc>
              <a:spcBef>
                <a:spcPts val="500"/>
              </a:spcBef>
              <a:spcAft>
                <a:spcPts val="500"/>
              </a:spcAft>
              <a:buNone/>
            </a:pPr>
            <a:r>
              <a:rPr lang="en-US" sz="1900" b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Copilot agents are good at: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355550" y="1582489"/>
            <a:ext cx="8432899" cy="1856780"/>
          </a:xfrm>
          <a:prstGeom prst="rect">
            <a:avLst/>
          </a:prstGeom>
          <a:noFill/>
          <a:ln/>
        </p:spPr>
        <p:txBody>
          <a:bodyPr wrap="square" lIns="165100" tIns="0" rIns="0" bIns="0" rtlCol="0" anchor="t"/>
          <a:lstStyle/>
          <a:p>
            <a:pPr algn="l" marL="165100" indent="-165100">
              <a:lnSpc>
                <a:spcPts val="2565"/>
              </a:lnSpc>
              <a:spcAft>
                <a:spcPts val="300"/>
              </a:spcAft>
              <a:buSzPct val="100000"/>
              <a:buChar char="•"/>
            </a:pPr>
            <a:r>
              <a:rPr lang="en-US" sz="19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Breaking a big request into smaller steps</a:t>
            </a:r>
            <a:endParaRPr lang="en-US" sz="1900" dirty="0"/>
          </a:p>
          <a:p>
            <a:pPr algn="l" marL="165100" indent="-165100">
              <a:lnSpc>
                <a:spcPts val="2565"/>
              </a:lnSpc>
              <a:spcAft>
                <a:spcPts val="300"/>
              </a:spcAft>
              <a:buSzPct val="100000"/>
              <a:buChar char="•"/>
            </a:pPr>
            <a:r>
              <a:rPr lang="en-US" sz="19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Creating multiple Issues from a single description</a:t>
            </a:r>
            <a:endParaRPr lang="en-US" sz="1900" dirty="0"/>
          </a:p>
          <a:p>
            <a:pPr algn="l" marL="165100" indent="-165100">
              <a:lnSpc>
                <a:spcPts val="2565"/>
              </a:lnSpc>
              <a:spcAft>
                <a:spcPts val="300"/>
              </a:spcAft>
              <a:buSzPct val="100000"/>
              <a:buChar char="•"/>
            </a:pPr>
            <a:r>
              <a:rPr lang="en-US" sz="19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Suggesting code changes across several files</a:t>
            </a:r>
            <a:endParaRPr lang="en-US" sz="1900" dirty="0"/>
          </a:p>
          <a:p>
            <a:pPr algn="l" marL="165100" indent="-165100">
              <a:lnSpc>
                <a:spcPts val="2565"/>
              </a:lnSpc>
              <a:spcAft>
                <a:spcPts val="300"/>
              </a:spcAft>
              <a:buSzPct val="100000"/>
              <a:buChar char="•"/>
            </a:pPr>
            <a:r>
              <a:rPr lang="en-US" sz="19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Reading your repository to understand context before acting</a:t>
            </a:r>
            <a:endParaRPr lang="en-US" sz="1900" dirty="0"/>
          </a:p>
          <a:p>
            <a:pPr algn="l" marL="165100" indent="-165100">
              <a:lnSpc>
                <a:spcPts val="2565"/>
              </a:lnSpc>
              <a:spcAft>
                <a:spcPts val="300"/>
              </a:spcAft>
              <a:buSzPct val="100000"/>
              <a:buChar char="•"/>
            </a:pPr>
            <a:r>
              <a:rPr lang="en-US" sz="19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Following instructions like "Review this PR and suggest improvements"</a:t>
            </a:r>
            <a:endParaRPr lang="en-US" sz="1900" dirty="0"/>
          </a:p>
        </p:txBody>
      </p:sp>
      <p:sp>
        <p:nvSpPr>
          <p:cNvPr id="6" name="Text 4"/>
          <p:cNvSpPr/>
          <p:nvPr/>
        </p:nvSpPr>
        <p:spPr>
          <a:xfrm>
            <a:off x="355550" y="3566071"/>
            <a:ext cx="8601557" cy="3256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65"/>
              </a:lnSpc>
              <a:spcBef>
                <a:spcPts val="500"/>
              </a:spcBef>
              <a:spcAft>
                <a:spcPts val="500"/>
              </a:spcAft>
              <a:buNone/>
            </a:pPr>
            <a:r>
              <a:rPr lang="en-US" sz="1900" b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Think of it like:</a:t>
            </a:r>
            <a:pPr algn="l" indent="0" marL="0">
              <a:lnSpc>
                <a:spcPts val="2565"/>
              </a:lnSpc>
              <a:spcBef>
                <a:spcPts val="500"/>
              </a:spcBef>
              <a:spcAft>
                <a:spcPts val="500"/>
              </a:spcAft>
              <a:buNone/>
            </a:pPr>
            <a:r>
              <a:rPr lang="en-US" sz="19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 farmhand you give a full job to and check back later.</a:t>
            </a:r>
            <a:endParaRPr lang="en-US" sz="1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863501"/>
          </a:xfrm>
          <a:prstGeom prst="rect">
            <a:avLst/>
          </a:prstGeom>
          <a:solidFill>
            <a:srgbClr val="1E512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355550" y="246013"/>
            <a:ext cx="4121649" cy="3714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Agents CANNOT Do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355550" y="1130052"/>
            <a:ext cx="8601557" cy="3256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65"/>
              </a:lnSpc>
              <a:spcBef>
                <a:spcPts val="500"/>
              </a:spcBef>
              <a:spcAft>
                <a:spcPts val="500"/>
              </a:spcAft>
              <a:buNone/>
            </a:pPr>
            <a:r>
              <a:rPr lang="en-US" sz="1900" b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Agents do NOT: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355550" y="1582489"/>
            <a:ext cx="8432899" cy="1856780"/>
          </a:xfrm>
          <a:prstGeom prst="rect">
            <a:avLst/>
          </a:prstGeom>
          <a:noFill/>
          <a:ln/>
        </p:spPr>
        <p:txBody>
          <a:bodyPr wrap="square" lIns="165100" tIns="0" rIns="0" bIns="0" rtlCol="0" anchor="t"/>
          <a:lstStyle/>
          <a:p>
            <a:pPr algn="l" marL="165100" indent="-165100">
              <a:lnSpc>
                <a:spcPts val="2565"/>
              </a:lnSpc>
              <a:spcAft>
                <a:spcPts val="300"/>
              </a:spcAft>
              <a:buSzPct val="100000"/>
              <a:buChar char="•"/>
            </a:pPr>
            <a:r>
              <a:rPr lang="en-US" sz="19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Make decisions about your farm priorities — you set the direction</a:t>
            </a:r>
            <a:endParaRPr lang="en-US" sz="1900" dirty="0"/>
          </a:p>
          <a:p>
            <a:pPr algn="l" marL="165100" indent="-165100">
              <a:lnSpc>
                <a:spcPts val="2565"/>
              </a:lnSpc>
              <a:spcAft>
                <a:spcPts val="300"/>
              </a:spcAft>
              <a:buSzPct val="100000"/>
              <a:buChar char="•"/>
            </a:pPr>
            <a:r>
              <a:rPr lang="en-US" sz="19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 without your review and approval on important steps</a:t>
            </a:r>
            <a:endParaRPr lang="en-US" sz="1900" dirty="0"/>
          </a:p>
          <a:p>
            <a:pPr algn="l" marL="165100" indent="-165100">
              <a:lnSpc>
                <a:spcPts val="2565"/>
              </a:lnSpc>
              <a:spcAft>
                <a:spcPts val="300"/>
              </a:spcAft>
              <a:buSzPct val="100000"/>
              <a:buChar char="•"/>
            </a:pPr>
            <a:r>
              <a:rPr lang="en-US" sz="19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Know your farm's specific context unless you explain it</a:t>
            </a:r>
            <a:endParaRPr lang="en-US" sz="1900" dirty="0"/>
          </a:p>
          <a:p>
            <a:pPr algn="l" marL="165100" indent="-165100">
              <a:lnSpc>
                <a:spcPts val="2565"/>
              </a:lnSpc>
              <a:spcAft>
                <a:spcPts val="300"/>
              </a:spcAft>
              <a:buSzPct val="100000"/>
              <a:buChar char="•"/>
            </a:pPr>
            <a:r>
              <a:rPr lang="en-US" sz="19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Replace your judgment about what matters most</a:t>
            </a:r>
            <a:endParaRPr lang="en-US" sz="1900" dirty="0"/>
          </a:p>
          <a:p>
            <a:pPr algn="l" marL="165100" indent="-165100">
              <a:lnSpc>
                <a:spcPts val="2565"/>
              </a:lnSpc>
              <a:spcAft>
                <a:spcPts val="300"/>
              </a:spcAft>
              <a:buSzPct val="100000"/>
              <a:buChar char="•"/>
            </a:pPr>
            <a:r>
              <a:rPr lang="en-US" sz="19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 perfectly every time — they can misunderstand or make mistakes</a:t>
            </a:r>
            <a:endParaRPr lang="en-US" sz="1900" dirty="0"/>
          </a:p>
        </p:txBody>
      </p:sp>
      <p:sp>
        <p:nvSpPr>
          <p:cNvPr id="6" name="Text 4"/>
          <p:cNvSpPr/>
          <p:nvPr/>
        </p:nvSpPr>
        <p:spPr>
          <a:xfrm>
            <a:off x="355550" y="3566071"/>
            <a:ext cx="8601557" cy="651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65"/>
              </a:lnSpc>
              <a:spcBef>
                <a:spcPts val="500"/>
              </a:spcBef>
              <a:spcAft>
                <a:spcPts val="500"/>
              </a:spcAft>
              <a:buNone/>
            </a:pPr>
            <a:r>
              <a:rPr lang="en-US" sz="1900" b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Think of it like:</a:t>
            </a:r>
            <a:pPr algn="l" indent="0" marL="0">
              <a:lnSpc>
                <a:spcPts val="2565"/>
              </a:lnSpc>
              <a:spcBef>
                <a:spcPts val="500"/>
              </a:spcBef>
              <a:spcAft>
                <a:spcPts val="500"/>
              </a:spcAft>
              <a:buNone/>
            </a:pPr>
            <a:r>
              <a:rPr lang="en-US" sz="19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Even the most capable farmhand reports back before making big decisions.</a:t>
            </a:r>
            <a:endParaRPr lang="en-US" sz="1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4F1D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863501"/>
          </a:xfrm>
          <a:prstGeom prst="rect">
            <a:avLst/>
          </a:prstGeom>
          <a:solidFill>
            <a:srgbClr val="1E512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57200" y="255538"/>
            <a:ext cx="5878181" cy="3524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Human-in-the-Loop: You Stay in Charge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914251"/>
            <a:ext cx="8394192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400" b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most important concept in AI tools: HUMAN OVERSIGHT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457200" y="1174552"/>
            <a:ext cx="8229600" cy="361652"/>
          </a:xfrm>
          <a:prstGeom prst="roundRect">
            <a:avLst>
              <a:gd name="adj" fmla="val 14047"/>
            </a:avLst>
          </a:prstGeom>
          <a:solidFill>
            <a:srgbClr val="1E512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457200" y="1174552"/>
            <a:ext cx="2227886" cy="336352"/>
          </a:xfrm>
          <a:prstGeom prst="rect">
            <a:avLst/>
          </a:prstGeom>
          <a:noFill/>
          <a:ln/>
        </p:spPr>
        <p:txBody>
          <a:bodyPr wrap="square" lIns="88900" tIns="63500" rIns="88900" bIns="6350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400" b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Principle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2641402" y="1174552"/>
            <a:ext cx="3354884" cy="336352"/>
          </a:xfrm>
          <a:prstGeom prst="rect">
            <a:avLst/>
          </a:prstGeom>
          <a:noFill/>
          <a:ln/>
        </p:spPr>
        <p:txBody>
          <a:bodyPr wrap="square" lIns="88900" tIns="63500" rIns="88900" bIns="6350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400" b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It Means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5930503" y="1174552"/>
            <a:ext cx="2811423" cy="336352"/>
          </a:xfrm>
          <a:prstGeom prst="rect">
            <a:avLst/>
          </a:prstGeom>
          <a:noFill/>
          <a:ln/>
        </p:spPr>
        <p:txBody>
          <a:bodyPr wrap="square" lIns="88900" tIns="63500" rIns="88900" bIns="6350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400" b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Farm Analogy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457200" y="1536204"/>
            <a:ext cx="8229600" cy="555427"/>
          </a:xfrm>
          <a:prstGeom prst="rect">
            <a:avLst/>
          </a:prstGeom>
          <a:solidFill>
            <a:srgbClr val="F4F1D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Shape 8"/>
          <p:cNvSpPr/>
          <p:nvPr/>
        </p:nvSpPr>
        <p:spPr>
          <a:xfrm>
            <a:off x="457200" y="2086868"/>
            <a:ext cx="82296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1536204"/>
            <a:ext cx="2227886" cy="520601"/>
          </a:xfrm>
          <a:prstGeom prst="rect">
            <a:avLst/>
          </a:prstGeom>
          <a:noFill/>
          <a:ln/>
        </p:spPr>
        <p:txBody>
          <a:bodyPr wrap="square" lIns="88900" tIns="50800" rIns="88900" bIns="5080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400" b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Human-in-the-loop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2641402" y="1536204"/>
            <a:ext cx="3354884" cy="520601"/>
          </a:xfrm>
          <a:prstGeom prst="rect">
            <a:avLst/>
          </a:prstGeom>
          <a:noFill/>
          <a:ln/>
        </p:spPr>
        <p:txBody>
          <a:bodyPr wrap="square" lIns="88900" tIns="50800" rIns="88900" bIns="5080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person reviews AI work before it takes effect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5930503" y="1536204"/>
            <a:ext cx="2811423" cy="520601"/>
          </a:xfrm>
          <a:prstGeom prst="rect">
            <a:avLst/>
          </a:prstGeom>
          <a:noFill/>
          <a:ln/>
        </p:spPr>
        <p:txBody>
          <a:bodyPr wrap="square" lIns="88900" tIns="50800" rIns="88900" bIns="5080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Checking the farmhand's work before signing off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457200" y="2091630"/>
            <a:ext cx="8229600" cy="555427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Shape 13"/>
          <p:cNvSpPr/>
          <p:nvPr/>
        </p:nvSpPr>
        <p:spPr>
          <a:xfrm>
            <a:off x="457200" y="2642295"/>
            <a:ext cx="82296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57200" y="2091630"/>
            <a:ext cx="2227886" cy="520601"/>
          </a:xfrm>
          <a:prstGeom prst="rect">
            <a:avLst/>
          </a:prstGeom>
          <a:noFill/>
          <a:ln/>
        </p:spPr>
        <p:txBody>
          <a:bodyPr wrap="square" lIns="88900" tIns="50800" rIns="88900" bIns="5080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400" b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Guardrails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2641402" y="2091630"/>
            <a:ext cx="3354884" cy="520601"/>
          </a:xfrm>
          <a:prstGeom prst="rect">
            <a:avLst/>
          </a:prstGeom>
          <a:noFill/>
          <a:ln/>
        </p:spPr>
        <p:txBody>
          <a:bodyPr wrap="square" lIns="88900" tIns="50800" rIns="88900" bIns="5080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Limits on what AI can do without asking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5930503" y="2091630"/>
            <a:ext cx="2811423" cy="520601"/>
          </a:xfrm>
          <a:prstGeom prst="rect">
            <a:avLst/>
          </a:prstGeom>
          <a:noFill/>
          <a:ln/>
        </p:spPr>
        <p:txBody>
          <a:bodyPr wrap="square" lIns="88900" tIns="50800" rIns="88900" bIns="5080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fence that keeps the farmhand in the right pasture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457200" y="2647057"/>
            <a:ext cx="8229600" cy="555427"/>
          </a:xfrm>
          <a:prstGeom prst="rect">
            <a:avLst/>
          </a:prstGeom>
          <a:solidFill>
            <a:srgbClr val="F4F1D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Shape 18"/>
          <p:cNvSpPr/>
          <p:nvPr/>
        </p:nvSpPr>
        <p:spPr>
          <a:xfrm>
            <a:off x="457200" y="3197721"/>
            <a:ext cx="82296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57200" y="2647057"/>
            <a:ext cx="2227886" cy="520601"/>
          </a:xfrm>
          <a:prstGeom prst="rect">
            <a:avLst/>
          </a:prstGeom>
          <a:noFill/>
          <a:ln/>
        </p:spPr>
        <p:txBody>
          <a:bodyPr wrap="square" lIns="88900" tIns="50800" rIns="88900" bIns="5080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400" b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Approval gates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2641402" y="2647057"/>
            <a:ext cx="3354884" cy="520601"/>
          </a:xfrm>
          <a:prstGeom prst="rect">
            <a:avLst/>
          </a:prstGeom>
          <a:noFill/>
          <a:ln/>
        </p:spPr>
        <p:txBody>
          <a:bodyPr wrap="square" lIns="88900" tIns="50800" rIns="88900" bIns="5080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Points where you must say “yes” before AI continues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5930503" y="2647057"/>
            <a:ext cx="2811423" cy="520601"/>
          </a:xfrm>
          <a:prstGeom prst="rect">
            <a:avLst/>
          </a:prstGeom>
          <a:noFill/>
          <a:ln/>
        </p:spPr>
        <p:txBody>
          <a:bodyPr wrap="square" lIns="88900" tIns="50800" rIns="88900" bIns="5080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Farmhand asks permission before buying supplies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457200" y="3253234"/>
            <a:ext cx="8394192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400" b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this matters: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457200" y="3488085"/>
            <a:ext cx="8229600" cy="838200"/>
          </a:xfrm>
          <a:prstGeom prst="rect">
            <a:avLst/>
          </a:prstGeom>
          <a:noFill/>
          <a:ln/>
        </p:spPr>
        <p:txBody>
          <a:bodyPr wrap="square" lIns="152400" tIns="0" rIns="0" bIns="0" rtlCol="0" anchor="t"/>
          <a:lstStyle/>
          <a:p>
            <a:pPr algn="l" marL="152400" indent="-152400">
              <a:buSzPct val="100000"/>
              <a:buChar char="•"/>
            </a:pPr>
            <a:r>
              <a:rPr lang="en-US" sz="14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tools are powerful but not perfect</a:t>
            </a:r>
            <a:endParaRPr lang="en-US" sz="1400" dirty="0"/>
          </a:p>
          <a:p>
            <a:pPr algn="l" marL="152400" indent="-152400">
              <a:buSzPct val="100000"/>
              <a:buChar char="•"/>
            </a:pPr>
            <a:r>
              <a:rPr lang="en-US" sz="14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Mistakes are easier to prevent than to fix</a:t>
            </a:r>
            <a:endParaRPr lang="en-US" sz="1400" dirty="0"/>
          </a:p>
          <a:p>
            <a:pPr algn="l" marL="152400" indent="-152400">
              <a:buSzPct val="100000"/>
              <a:buChar char="•"/>
            </a:pPr>
            <a:r>
              <a:rPr lang="en-US" sz="14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Your farming expertise is what makes AI output useful</a:t>
            </a:r>
            <a:endParaRPr lang="en-US" sz="1400" dirty="0"/>
          </a:p>
          <a:p>
            <a:pPr algn="l" marL="152400" indent="-152400">
              <a:buSzPct val="100000"/>
              <a:buChar char="•"/>
            </a:pPr>
            <a:r>
              <a:rPr lang="en-US" sz="14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Trust is built gradually — start with small tasks and verify results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457200" y="4351586"/>
            <a:ext cx="8394192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400" b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 wouldn't hand the farm keys to someone on their first day. Same idea with agents.</a:t>
            </a:r>
            <a:endParaRPr lang="en-US" sz="14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4F1D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914102"/>
          </a:xfrm>
          <a:prstGeom prst="rect">
            <a:avLst/>
          </a:prstGeom>
          <a:solidFill>
            <a:srgbClr val="1E512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57200" y="271314"/>
            <a:ext cx="3991097" cy="3714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Comparing Your AI Tools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57200" y="1041053"/>
            <a:ext cx="8394192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Three levels of AI help, from simple to advanced: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457200" y="1301353"/>
            <a:ext cx="8229600" cy="387102"/>
          </a:xfrm>
          <a:prstGeom prst="roundRect">
            <a:avLst>
              <a:gd name="adj" fmla="val 13123"/>
            </a:avLst>
          </a:prstGeom>
          <a:solidFill>
            <a:srgbClr val="1E512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457200" y="1301353"/>
            <a:ext cx="1347115" cy="336352"/>
          </a:xfrm>
          <a:prstGeom prst="rect">
            <a:avLst/>
          </a:prstGeom>
          <a:noFill/>
          <a:ln/>
        </p:spPr>
        <p:txBody>
          <a:bodyPr wrap="square" lIns="88900" tIns="63500" rIns="88900" bIns="6350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Tool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777901" y="1301353"/>
            <a:ext cx="2383334" cy="336352"/>
          </a:xfrm>
          <a:prstGeom prst="rect">
            <a:avLst/>
          </a:prstGeom>
          <a:noFill/>
          <a:ln/>
        </p:spPr>
        <p:txBody>
          <a:bodyPr wrap="square" lIns="88900" tIns="63500" rIns="88900" bIns="6350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It Does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4114502" y="1301353"/>
            <a:ext cx="3031084" cy="336352"/>
          </a:xfrm>
          <a:prstGeom prst="rect">
            <a:avLst/>
          </a:prstGeom>
          <a:noFill/>
          <a:ln/>
        </p:spPr>
        <p:txBody>
          <a:bodyPr wrap="square" lIns="88900" tIns="63500" rIns="88900" bIns="6350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Farm Analogy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7086154" y="1301353"/>
            <a:ext cx="1632659" cy="336352"/>
          </a:xfrm>
          <a:prstGeom prst="rect">
            <a:avLst/>
          </a:prstGeom>
          <a:noFill/>
          <a:ln/>
        </p:spPr>
        <p:txBody>
          <a:bodyPr wrap="square" lIns="88900" tIns="63500" rIns="88900" bIns="6350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Learned In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57200" y="1688455"/>
            <a:ext cx="8229600" cy="580876"/>
          </a:xfrm>
          <a:prstGeom prst="rect">
            <a:avLst/>
          </a:prstGeom>
          <a:solidFill>
            <a:srgbClr val="F4F1D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Shape 9"/>
          <p:cNvSpPr/>
          <p:nvPr/>
        </p:nvSpPr>
        <p:spPr>
          <a:xfrm>
            <a:off x="457200" y="2264569"/>
            <a:ext cx="82296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57200" y="1688455"/>
            <a:ext cx="1347115" cy="520601"/>
          </a:xfrm>
          <a:prstGeom prst="rect">
            <a:avLst/>
          </a:prstGeom>
          <a:noFill/>
          <a:ln/>
        </p:spPr>
        <p:txBody>
          <a:bodyPr wrap="square" lIns="88900" tIns="50800" rIns="88900" bIns="5080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Copilot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777901" y="1688455"/>
            <a:ext cx="2383334" cy="520601"/>
          </a:xfrm>
          <a:prstGeom prst="rect">
            <a:avLst/>
          </a:prstGeom>
          <a:noFill/>
          <a:ln/>
        </p:spPr>
        <p:txBody>
          <a:bodyPr wrap="square" lIns="88900" tIns="50800" rIns="88900" bIns="5080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Suggests text as you write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4114502" y="1688455"/>
            <a:ext cx="3031084" cy="520601"/>
          </a:xfrm>
          <a:prstGeom prst="rect">
            <a:avLst/>
          </a:prstGeom>
          <a:noFill/>
          <a:ln/>
        </p:spPr>
        <p:txBody>
          <a:bodyPr wrap="square" lIns="88900" tIns="50800" rIns="88900" bIns="5080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Farmhand who finishes your sentences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7086154" y="1688455"/>
            <a:ext cx="1632659" cy="520601"/>
          </a:xfrm>
          <a:prstGeom prst="rect">
            <a:avLst/>
          </a:prstGeom>
          <a:noFill/>
          <a:ln/>
        </p:spPr>
        <p:txBody>
          <a:bodyPr wrap="square" lIns="88900" tIns="50800" rIns="88900" bIns="5080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Session 10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457200" y="2269331"/>
            <a:ext cx="8229600" cy="580876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Shape 15"/>
          <p:cNvSpPr/>
          <p:nvPr/>
        </p:nvSpPr>
        <p:spPr>
          <a:xfrm>
            <a:off x="457200" y="2845445"/>
            <a:ext cx="82296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57200" y="2269331"/>
            <a:ext cx="1347115" cy="520601"/>
          </a:xfrm>
          <a:prstGeom prst="rect">
            <a:avLst/>
          </a:prstGeom>
          <a:noFill/>
          <a:ln/>
        </p:spPr>
        <p:txBody>
          <a:bodyPr wrap="square" lIns="88900" tIns="50800" rIns="88900" bIns="5080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Spark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1777901" y="2269331"/>
            <a:ext cx="2383334" cy="520601"/>
          </a:xfrm>
          <a:prstGeom prst="rect">
            <a:avLst/>
          </a:prstGeom>
          <a:noFill/>
          <a:ln/>
        </p:spPr>
        <p:txBody>
          <a:bodyPr wrap="square" lIns="88900" tIns="50800" rIns="88900" bIns="5080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Builds simple apps from descriptions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4114502" y="2269331"/>
            <a:ext cx="3031084" cy="520601"/>
          </a:xfrm>
          <a:prstGeom prst="rect">
            <a:avLst/>
          </a:prstGeom>
          <a:noFill/>
          <a:ln/>
        </p:spPr>
        <p:txBody>
          <a:bodyPr wrap="square" lIns="88900" tIns="50800" rIns="88900" bIns="5080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Farmhand who builds a tool from your sketch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7086154" y="2269331"/>
            <a:ext cx="1632659" cy="520601"/>
          </a:xfrm>
          <a:prstGeom prst="rect">
            <a:avLst/>
          </a:prstGeom>
          <a:noFill/>
          <a:ln/>
        </p:spPr>
        <p:txBody>
          <a:bodyPr wrap="square" lIns="88900" tIns="50800" rIns="88900" bIns="5080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Today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" y="2850207"/>
            <a:ext cx="8229600" cy="580876"/>
          </a:xfrm>
          <a:prstGeom prst="rect">
            <a:avLst/>
          </a:prstGeom>
          <a:solidFill>
            <a:srgbClr val="F4F1D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Shape 21"/>
          <p:cNvSpPr/>
          <p:nvPr/>
        </p:nvSpPr>
        <p:spPr>
          <a:xfrm>
            <a:off x="457200" y="3426321"/>
            <a:ext cx="82296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57200" y="2850207"/>
            <a:ext cx="1347115" cy="520601"/>
          </a:xfrm>
          <a:prstGeom prst="rect">
            <a:avLst/>
          </a:prstGeom>
          <a:noFill/>
          <a:ln/>
        </p:spPr>
        <p:txBody>
          <a:bodyPr wrap="square" lIns="88900" tIns="50800" rIns="88900" bIns="5080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Agents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1777901" y="2850207"/>
            <a:ext cx="2383334" cy="520601"/>
          </a:xfrm>
          <a:prstGeom prst="rect">
            <a:avLst/>
          </a:prstGeom>
          <a:noFill/>
          <a:ln/>
        </p:spPr>
        <p:txBody>
          <a:bodyPr wrap="square" lIns="88900" tIns="50800" rIns="88900" bIns="5080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Follows multi-step instructions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4114502" y="2850207"/>
            <a:ext cx="3031084" cy="520601"/>
          </a:xfrm>
          <a:prstGeom prst="rect">
            <a:avLst/>
          </a:prstGeom>
          <a:noFill/>
          <a:ln/>
        </p:spPr>
        <p:txBody>
          <a:bodyPr wrap="square" lIns="88900" tIns="50800" rIns="88900" bIns="5080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Farmhand who handles a whole job list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7086154" y="2850207"/>
            <a:ext cx="1632659" cy="520601"/>
          </a:xfrm>
          <a:prstGeom prst="rect">
            <a:avLst/>
          </a:prstGeom>
          <a:noFill/>
          <a:ln/>
        </p:spPr>
        <p:txBody>
          <a:bodyPr wrap="square" lIns="88900" tIns="50800" rIns="88900" bIns="5080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Today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457200" y="3481834"/>
            <a:ext cx="8394192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 three share the same foundation: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457200" y="3742134"/>
            <a:ext cx="8229600" cy="625376"/>
          </a:xfrm>
          <a:prstGeom prst="rect">
            <a:avLst/>
          </a:prstGeom>
          <a:noFill/>
          <a:ln/>
        </p:spPr>
        <p:txBody>
          <a:bodyPr wrap="square" lIns="152400" tIns="0" rIns="0" bIns="0" rtlCol="0" anchor="t"/>
          <a:lstStyle/>
          <a:p>
            <a:pPr algn="l" marL="152400" indent="-152400">
              <a:spcAft>
                <a:spcPts val="100"/>
              </a:spcAft>
              <a:buSzPct val="100000"/>
              <a:buChar char="•"/>
            </a:pPr>
            <a:r>
              <a:rPr lang="en-US" sz="13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 give clear instructions (prompt)</a:t>
            </a:r>
            <a:endParaRPr lang="en-US" sz="1300" dirty="0"/>
          </a:p>
          <a:p>
            <a:pPr algn="l" marL="152400" indent="-152400">
              <a:spcAft>
                <a:spcPts val="100"/>
              </a:spcAft>
              <a:buSzPct val="100000"/>
              <a:buChar char="•"/>
            </a:pPr>
            <a:r>
              <a:rPr lang="en-US" sz="13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AI does work for you (output)</a:t>
            </a:r>
            <a:endParaRPr lang="en-US" sz="1300" dirty="0"/>
          </a:p>
          <a:p>
            <a:pPr algn="l" marL="152400" indent="-152400">
              <a:spcAft>
                <a:spcPts val="100"/>
              </a:spcAft>
              <a:buSzPct val="100000"/>
              <a:buChar char="•"/>
            </a:pPr>
            <a:r>
              <a:rPr lang="en-US" sz="13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 review and approve (evaluation)</a:t>
            </a:r>
            <a:endParaRPr lang="en-US" sz="13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863501"/>
          </a:xfrm>
          <a:prstGeom prst="rect">
            <a:avLst/>
          </a:prstGeom>
          <a:solidFill>
            <a:srgbClr val="1E512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355550" y="246013"/>
            <a:ext cx="4621390" cy="3714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Guided Practice Introduction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355550" y="1130052"/>
            <a:ext cx="8601557" cy="3256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65"/>
              </a:lnSpc>
              <a:spcBef>
                <a:spcPts val="500"/>
              </a:spcBef>
              <a:spcAft>
                <a:spcPts val="500"/>
              </a:spcAft>
              <a:buNone/>
            </a:pPr>
            <a:r>
              <a:rPr lang="en-US" sz="1900" b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Your turn! Follow along with me.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355550" y="1582489"/>
            <a:ext cx="8432899" cy="1493044"/>
          </a:xfrm>
          <a:prstGeom prst="rect">
            <a:avLst/>
          </a:prstGeom>
          <a:noFill/>
          <a:ln/>
        </p:spPr>
        <p:txBody>
          <a:bodyPr wrap="square" lIns="165100" tIns="0" rIns="0" bIns="0" rtlCol="0" anchor="t"/>
          <a:lstStyle/>
          <a:p>
            <a:pPr algn="l" marL="165100" indent="-165100">
              <a:lnSpc>
                <a:spcPts val="2565"/>
              </a:lnSpc>
              <a:spcAft>
                <a:spcPts val="300"/>
              </a:spcAft>
              <a:buSzPct val="100000"/>
              <a:buChar char="•"/>
            </a:pPr>
            <a:r>
              <a:rPr lang="en-US" sz="19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Explore a pre-built Spark app (a farm tool already created)</a:t>
            </a:r>
            <a:endParaRPr lang="en-US" sz="1900" dirty="0"/>
          </a:p>
          <a:p>
            <a:pPr algn="l" marL="165100" indent="-165100">
              <a:lnSpc>
                <a:spcPts val="2565"/>
              </a:lnSpc>
              <a:spcAft>
                <a:spcPts val="300"/>
              </a:spcAft>
              <a:buSzPct val="100000"/>
              <a:buChar char="•"/>
            </a:pPr>
            <a:r>
              <a:rPr lang="en-US" sz="19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 it with your own numbers</a:t>
            </a:r>
            <a:endParaRPr lang="en-US" sz="1900" dirty="0"/>
          </a:p>
          <a:p>
            <a:pPr algn="l" marL="165100" indent="-165100">
              <a:lnSpc>
                <a:spcPts val="2565"/>
              </a:lnSpc>
              <a:spcAft>
                <a:spcPts val="300"/>
              </a:spcAft>
              <a:buSzPct val="100000"/>
              <a:buChar char="•"/>
            </a:pPr>
            <a:r>
              <a:rPr lang="en-US" sz="19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Identify what works and what you'd change</a:t>
            </a:r>
            <a:endParaRPr lang="en-US" sz="1900" dirty="0"/>
          </a:p>
          <a:p>
            <a:pPr algn="l" marL="165100" indent="-165100">
              <a:lnSpc>
                <a:spcPts val="2565"/>
              </a:lnSpc>
              <a:spcAft>
                <a:spcPts val="300"/>
              </a:spcAft>
              <a:buSzPct val="100000"/>
              <a:buChar char="•"/>
            </a:pPr>
            <a:r>
              <a:rPr lang="en-US" sz="19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 a simple modification using the refine step</a:t>
            </a:r>
            <a:endParaRPr lang="en-US" sz="1900" dirty="0"/>
          </a:p>
        </p:txBody>
      </p:sp>
      <p:sp>
        <p:nvSpPr>
          <p:cNvPr id="6" name="Text 4"/>
          <p:cNvSpPr/>
          <p:nvPr/>
        </p:nvSpPr>
        <p:spPr>
          <a:xfrm>
            <a:off x="355550" y="3202335"/>
            <a:ext cx="8601557" cy="3256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65"/>
              </a:lnSpc>
              <a:spcBef>
                <a:spcPts val="500"/>
              </a:spcBef>
              <a:spcAft>
                <a:spcPts val="500"/>
              </a:spcAft>
              <a:buNone/>
            </a:pPr>
            <a:r>
              <a:rPr lang="en-US" sz="1900" b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 your lab exercise handout to Part 1.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355550" y="3654772"/>
            <a:ext cx="8601557" cy="3256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65"/>
              </a:lnSpc>
              <a:spcBef>
                <a:spcPts val="500"/>
              </a:spcBef>
              <a:spcAft>
                <a:spcPts val="500"/>
              </a:spcAft>
              <a:buNone/>
            </a:pPr>
            <a:r>
              <a:rPr lang="en-US" sz="19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If you get stuck: check the guide, ask your partner, or raise your hand.</a:t>
            </a:r>
            <a:endParaRPr lang="en-US" sz="1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863501"/>
          </a:xfrm>
          <a:prstGeom prst="rect">
            <a:avLst/>
          </a:prstGeom>
          <a:solidFill>
            <a:srgbClr val="1E512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355550" y="246013"/>
            <a:ext cx="5095628" cy="3714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Exploring a Pre-Built Spark App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355550" y="1130052"/>
            <a:ext cx="8601557" cy="3256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65"/>
              </a:lnSpc>
              <a:spcBef>
                <a:spcPts val="500"/>
              </a:spcBef>
              <a:spcAft>
                <a:spcPts val="500"/>
              </a:spcAft>
              <a:buNone/>
            </a:pPr>
            <a:r>
              <a:rPr lang="en-US" sz="1900" b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Let's look at a "Planting Date Calculator" built with Spark.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355550" y="1582489"/>
            <a:ext cx="8432899" cy="1129308"/>
          </a:xfrm>
          <a:prstGeom prst="rect">
            <a:avLst/>
          </a:prstGeom>
          <a:noFill/>
          <a:ln/>
        </p:spPr>
        <p:txBody>
          <a:bodyPr wrap="square" lIns="165100" tIns="0" rIns="0" bIns="0" rtlCol="0" anchor="t"/>
          <a:lstStyle/>
          <a:p>
            <a:pPr algn="l" marL="165100" indent="-165100">
              <a:lnSpc>
                <a:spcPts val="2565"/>
              </a:lnSpc>
              <a:spcAft>
                <a:spcPts val="300"/>
              </a:spcAft>
              <a:buSzPct val="100000"/>
              <a:buChar char="•"/>
            </a:pPr>
            <a:r>
              <a:rPr lang="en-US" sz="19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Select a crop from a dropdown</a:t>
            </a:r>
            <a:endParaRPr lang="en-US" sz="1900" dirty="0"/>
          </a:p>
          <a:p>
            <a:pPr algn="l" marL="165100" indent="-165100">
              <a:lnSpc>
                <a:spcPts val="2565"/>
              </a:lnSpc>
              <a:spcAft>
                <a:spcPts val="300"/>
              </a:spcAft>
              <a:buSzPct val="100000"/>
              <a:buChar char="•"/>
            </a:pPr>
            <a:r>
              <a:rPr lang="en-US" sz="19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Enter your USDA hardiness zone</a:t>
            </a:r>
            <a:endParaRPr lang="en-US" sz="1900" dirty="0"/>
          </a:p>
          <a:p>
            <a:pPr algn="l" marL="165100" indent="-165100">
              <a:lnSpc>
                <a:spcPts val="2565"/>
              </a:lnSpc>
              <a:spcAft>
                <a:spcPts val="300"/>
              </a:spcAft>
              <a:buSzPct val="100000"/>
              <a:buChar char="•"/>
            </a:pPr>
            <a:r>
              <a:rPr lang="en-US" sz="19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See the recommended planting window</a:t>
            </a:r>
            <a:endParaRPr lang="en-US" sz="1900" dirty="0"/>
          </a:p>
        </p:txBody>
      </p:sp>
      <p:sp>
        <p:nvSpPr>
          <p:cNvPr id="6" name="Text 4"/>
          <p:cNvSpPr/>
          <p:nvPr/>
        </p:nvSpPr>
        <p:spPr>
          <a:xfrm>
            <a:off x="355550" y="2838599"/>
            <a:ext cx="8601557" cy="3256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65"/>
              </a:lnSpc>
              <a:spcBef>
                <a:spcPts val="500"/>
              </a:spcBef>
              <a:spcAft>
                <a:spcPts val="500"/>
              </a:spcAft>
              <a:buNone/>
            </a:pPr>
            <a:r>
              <a:rPr lang="en-US" sz="1900" b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 a group, let's evaluate: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355550" y="3291036"/>
            <a:ext cx="8432899" cy="1129308"/>
          </a:xfrm>
          <a:prstGeom prst="rect">
            <a:avLst/>
          </a:prstGeom>
          <a:noFill/>
          <a:ln/>
        </p:spPr>
        <p:txBody>
          <a:bodyPr wrap="square" lIns="165100" tIns="0" rIns="0" bIns="0" rtlCol="0" anchor="t"/>
          <a:lstStyle/>
          <a:p>
            <a:pPr algn="l" marL="165100" indent="-165100">
              <a:lnSpc>
                <a:spcPts val="2565"/>
              </a:lnSpc>
              <a:spcAft>
                <a:spcPts val="300"/>
              </a:spcAft>
              <a:buSzPct val="100000"/>
              <a:buChar char="•"/>
            </a:pPr>
            <a:r>
              <a:rPr lang="en-US" sz="19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Does it give reasonable planting dates?</a:t>
            </a:r>
            <a:endParaRPr lang="en-US" sz="1900" dirty="0"/>
          </a:p>
          <a:p>
            <a:pPr algn="l" marL="165100" indent="-165100">
              <a:lnSpc>
                <a:spcPts val="2565"/>
              </a:lnSpc>
              <a:spcAft>
                <a:spcPts val="300"/>
              </a:spcAft>
              <a:buSzPct val="100000"/>
              <a:buChar char="•"/>
            </a:pPr>
            <a:r>
              <a:rPr lang="en-US" sz="19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crops are missing that you'd want?</a:t>
            </a:r>
            <a:endParaRPr lang="en-US" sz="1900" dirty="0"/>
          </a:p>
          <a:p>
            <a:pPr algn="l" marL="165100" indent="-165100">
              <a:lnSpc>
                <a:spcPts val="2565"/>
              </a:lnSpc>
              <a:spcAft>
                <a:spcPts val="300"/>
              </a:spcAft>
              <a:buSzPct val="100000"/>
              <a:buChar char="•"/>
            </a:pPr>
            <a:r>
              <a:rPr lang="en-US" sz="19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Would you trust this or verify with your county extension?</a:t>
            </a:r>
            <a:endParaRPr lang="en-US" sz="1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4F1D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2175156" y="1560761"/>
            <a:ext cx="4793688" cy="523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1600"/>
              </a:spcAft>
              <a:buNone/>
            </a:pPr>
            <a:r>
              <a:rPr lang="en-US" sz="3600" b="1" dirty="0">
                <a:solidFill>
                  <a:srgbClr val="1E51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BREAK — 15 Minutes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531718" y="2351187"/>
            <a:ext cx="8080564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500"/>
              </a:spcBef>
              <a:spcAft>
                <a:spcPts val="500"/>
              </a:spcAft>
              <a:buNone/>
            </a:pPr>
            <a:r>
              <a:rPr lang="en-US" sz="21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When we come back, you'll build your own Spark app from scratch.</a:t>
            </a:r>
            <a:endParaRPr lang="en-US" sz="2100" dirty="0"/>
          </a:p>
        </p:txBody>
      </p:sp>
      <p:sp>
        <p:nvSpPr>
          <p:cNvPr id="5" name="Text 3"/>
          <p:cNvSpPr/>
          <p:nvPr/>
        </p:nvSpPr>
        <p:spPr>
          <a:xfrm>
            <a:off x="1963692" y="2782788"/>
            <a:ext cx="5216616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500"/>
              </a:spcBef>
              <a:spcAft>
                <a:spcPts val="500"/>
              </a:spcAft>
              <a:buNone/>
            </a:pPr>
            <a:r>
              <a:rPr lang="en-US" sz="21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Think about which scenario you want to try:</a:t>
            </a:r>
            <a:endParaRPr lang="en-US" sz="2100" dirty="0"/>
          </a:p>
        </p:txBody>
      </p:sp>
      <p:sp>
        <p:nvSpPr>
          <p:cNvPr id="6" name="Text 4"/>
          <p:cNvSpPr/>
          <p:nvPr/>
        </p:nvSpPr>
        <p:spPr>
          <a:xfrm>
            <a:off x="2626775" y="3214390"/>
            <a:ext cx="3890451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500"/>
              </a:spcBef>
              <a:spcAft>
                <a:spcPts val="500"/>
              </a:spcAft>
              <a:buNone/>
            </a:pPr>
            <a:r>
              <a:rPr lang="en-US" sz="2100" b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Crops</a:t>
            </a:r>
            <a:pPr algn="ctr" indent="0" marL="0">
              <a:spcBef>
                <a:spcPts val="500"/>
              </a:spcBef>
              <a:spcAft>
                <a:spcPts val="500"/>
              </a:spcAft>
              <a:buNone/>
            </a:pPr>
            <a:r>
              <a:rPr lang="en-US" sz="21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| </a:t>
            </a:r>
            <a:pPr algn="ctr" indent="0" marL="0">
              <a:spcBef>
                <a:spcPts val="500"/>
              </a:spcBef>
              <a:spcAft>
                <a:spcPts val="500"/>
              </a:spcAft>
              <a:buNone/>
            </a:pPr>
            <a:r>
              <a:rPr lang="en-US" sz="2100" b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Equipment</a:t>
            </a:r>
            <a:pPr algn="ctr" indent="0" marL="0">
              <a:spcBef>
                <a:spcPts val="500"/>
              </a:spcBef>
              <a:spcAft>
                <a:spcPts val="500"/>
              </a:spcAft>
              <a:buNone/>
            </a:pPr>
            <a:r>
              <a:rPr lang="en-US" sz="21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| </a:t>
            </a:r>
            <a:pPr algn="ctr" indent="0" marL="0">
              <a:spcBef>
                <a:spcPts val="500"/>
              </a:spcBef>
              <a:spcAft>
                <a:spcPts val="500"/>
              </a:spcAft>
              <a:buNone/>
            </a:pPr>
            <a:r>
              <a:rPr lang="en-US" sz="2100" b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Livestock</a:t>
            </a:r>
            <a:endParaRPr lang="en-US" sz="2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863501"/>
          </a:xfrm>
          <a:prstGeom prst="rect">
            <a:avLst/>
          </a:prstGeom>
          <a:solidFill>
            <a:srgbClr val="1E512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355550" y="246013"/>
            <a:ext cx="3405738" cy="3714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Independent Practice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355550" y="1130052"/>
            <a:ext cx="8601557" cy="3256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65"/>
              </a:lnSpc>
              <a:spcBef>
                <a:spcPts val="500"/>
              </a:spcBef>
              <a:spcAft>
                <a:spcPts val="500"/>
              </a:spcAft>
              <a:buNone/>
            </a:pPr>
            <a:r>
              <a:rPr lang="en-US" sz="1900" b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 a simple farm tool with Spark and evaluate the result.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355550" y="1582489"/>
            <a:ext cx="8601557" cy="651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65"/>
              </a:lnSpc>
              <a:spcBef>
                <a:spcPts val="500"/>
              </a:spcBef>
              <a:spcAft>
                <a:spcPts val="500"/>
              </a:spcAft>
              <a:buNone/>
            </a:pPr>
            <a:r>
              <a:rPr lang="en-US" sz="19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Choose your scenario: </a:t>
            </a:r>
            <a:pPr algn="l" indent="0" marL="0">
              <a:lnSpc>
                <a:spcPts val="2565"/>
              </a:lnSpc>
              <a:spcBef>
                <a:spcPts val="500"/>
              </a:spcBef>
              <a:spcAft>
                <a:spcPts val="500"/>
              </a:spcAft>
              <a:buNone/>
            </a:pPr>
            <a:r>
              <a:rPr lang="en-US" sz="1900" b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A)</a:t>
            </a:r>
            <a:pPr algn="l" indent="0" marL="0">
              <a:lnSpc>
                <a:spcPts val="2565"/>
              </a:lnSpc>
              <a:spcBef>
                <a:spcPts val="500"/>
              </a:spcBef>
              <a:spcAft>
                <a:spcPts val="500"/>
              </a:spcAft>
              <a:buNone/>
            </a:pPr>
            <a:r>
              <a:rPr lang="en-US" sz="19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Seed Calculator | </a:t>
            </a:r>
            <a:pPr algn="l" indent="0" marL="0">
              <a:lnSpc>
                <a:spcPts val="2565"/>
              </a:lnSpc>
              <a:spcBef>
                <a:spcPts val="500"/>
              </a:spcBef>
              <a:spcAft>
                <a:spcPts val="500"/>
              </a:spcAft>
              <a:buNone/>
            </a:pPr>
            <a:r>
              <a:rPr lang="en-US" sz="1900" b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B)</a:t>
            </a:r>
            <a:pPr algn="l" indent="0" marL="0">
              <a:lnSpc>
                <a:spcPts val="2565"/>
              </a:lnSpc>
              <a:spcBef>
                <a:spcPts val="500"/>
              </a:spcBef>
              <a:spcAft>
                <a:spcPts val="500"/>
              </a:spcAft>
              <a:buNone/>
            </a:pPr>
            <a:r>
              <a:rPr lang="en-US" sz="19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Equipment Checklist | </a:t>
            </a:r>
            <a:pPr algn="l" indent="0" marL="0">
              <a:lnSpc>
                <a:spcPts val="2565"/>
              </a:lnSpc>
              <a:spcBef>
                <a:spcPts val="500"/>
              </a:spcBef>
              <a:spcAft>
                <a:spcPts val="500"/>
              </a:spcAft>
              <a:buNone/>
            </a:pPr>
            <a:r>
              <a:rPr lang="en-US" sz="1900" b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C)</a:t>
            </a:r>
            <a:pPr algn="l" indent="0" marL="0">
              <a:lnSpc>
                <a:spcPts val="2565"/>
              </a:lnSpc>
              <a:spcBef>
                <a:spcPts val="500"/>
              </a:spcBef>
              <a:spcAft>
                <a:spcPts val="500"/>
              </a:spcAft>
              <a:buNone/>
            </a:pPr>
            <a:r>
              <a:rPr lang="en-US" sz="19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Livestock Log</a:t>
            </a:r>
            <a:endParaRPr lang="en-US" sz="1900" dirty="0"/>
          </a:p>
        </p:txBody>
      </p:sp>
      <p:sp>
        <p:nvSpPr>
          <p:cNvPr id="6" name="Text 4"/>
          <p:cNvSpPr/>
          <p:nvPr/>
        </p:nvSpPr>
        <p:spPr>
          <a:xfrm>
            <a:off x="355550" y="2360563"/>
            <a:ext cx="8432899" cy="1856780"/>
          </a:xfrm>
          <a:prstGeom prst="rect">
            <a:avLst/>
          </a:prstGeom>
          <a:noFill/>
          <a:ln/>
        </p:spPr>
        <p:txBody>
          <a:bodyPr wrap="square" lIns="165100" tIns="0" rIns="0" bIns="0" rtlCol="0" anchor="t"/>
          <a:lstStyle/>
          <a:p>
            <a:pPr algn="l" marL="165100" indent="-165100">
              <a:lnSpc>
                <a:spcPts val="2565"/>
              </a:lnSpc>
              <a:spcAft>
                <a:spcPts val="300"/>
              </a:spcAft>
              <a:buSzPct val="100000"/>
              <a:buChar char="•"/>
            </a:pPr>
            <a:r>
              <a:rPr lang="en-US" sz="1900" b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Describe:</a:t>
            </a:r>
            <a:pPr algn="l" indent="0" marL="0">
              <a:lnSpc>
                <a:spcPts val="2565"/>
              </a:lnSpc>
              <a:spcAft>
                <a:spcPts val="300"/>
              </a:spcAft>
              <a:buNone/>
            </a:pPr>
            <a:r>
              <a:rPr lang="en-US" sz="19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Write a prompt telling Spark what to build — 5 min</a:t>
            </a:r>
            <a:endParaRPr lang="en-US" sz="1900" dirty="0"/>
          </a:p>
          <a:p>
            <a:pPr algn="l" marL="165100" indent="-165100">
              <a:lnSpc>
                <a:spcPts val="2565"/>
              </a:lnSpc>
              <a:spcAft>
                <a:spcPts val="300"/>
              </a:spcAft>
              <a:buSzPct val="100000"/>
              <a:buChar char="•"/>
            </a:pPr>
            <a:r>
              <a:rPr lang="en-US" sz="1900" b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Review:</a:t>
            </a:r>
            <a:pPr algn="l" indent="0" marL="0">
              <a:lnSpc>
                <a:spcPts val="2565"/>
              </a:lnSpc>
              <a:spcAft>
                <a:spcPts val="300"/>
              </a:spcAft>
              <a:buNone/>
            </a:pPr>
            <a:r>
              <a:rPr lang="en-US" sz="19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Test what Spark creates with real data — 10 min</a:t>
            </a:r>
            <a:endParaRPr lang="en-US" sz="1900" dirty="0"/>
          </a:p>
          <a:p>
            <a:pPr algn="l" marL="165100" indent="-165100">
              <a:lnSpc>
                <a:spcPts val="2565"/>
              </a:lnSpc>
              <a:spcAft>
                <a:spcPts val="300"/>
              </a:spcAft>
              <a:buSzPct val="100000"/>
              <a:buChar char="•"/>
            </a:pPr>
            <a:r>
              <a:rPr lang="en-US" sz="1900" b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Refine:</a:t>
            </a:r>
            <a:pPr algn="l" indent="0" marL="0">
              <a:lnSpc>
                <a:spcPts val="2565"/>
              </a:lnSpc>
              <a:spcAft>
                <a:spcPts val="300"/>
              </a:spcAft>
              <a:buNone/>
            </a:pPr>
            <a:r>
              <a:rPr lang="en-US" sz="19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Ask Spark to fix or improve one thing — 10 min</a:t>
            </a:r>
            <a:endParaRPr lang="en-US" sz="1900" dirty="0"/>
          </a:p>
          <a:p>
            <a:pPr algn="l" marL="165100" indent="-165100">
              <a:lnSpc>
                <a:spcPts val="2565"/>
              </a:lnSpc>
              <a:spcAft>
                <a:spcPts val="300"/>
              </a:spcAft>
              <a:buSzPct val="100000"/>
              <a:buChar char="•"/>
            </a:pPr>
            <a:r>
              <a:rPr lang="en-US" sz="1900" b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Compare:</a:t>
            </a:r>
            <a:pPr algn="l" indent="0" marL="0">
              <a:lnSpc>
                <a:spcPts val="2565"/>
              </a:lnSpc>
              <a:spcAft>
                <a:spcPts val="300"/>
              </a:spcAft>
              <a:buNone/>
            </a:pPr>
            <a:r>
              <a:rPr lang="en-US" sz="19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How does this compare to doing it manually? — 5 min</a:t>
            </a:r>
            <a:endParaRPr lang="en-US" sz="1900" dirty="0"/>
          </a:p>
          <a:p>
            <a:pPr algn="l" marL="165100" indent="-165100">
              <a:lnSpc>
                <a:spcPts val="2565"/>
              </a:lnSpc>
              <a:spcAft>
                <a:spcPts val="300"/>
              </a:spcAft>
              <a:buSzPct val="100000"/>
              <a:buChar char="•"/>
            </a:pPr>
            <a:r>
              <a:rPr lang="en-US" sz="1900" b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Reflect:</a:t>
            </a:r>
            <a:pPr algn="l" indent="0" marL="0">
              <a:lnSpc>
                <a:spcPts val="2565"/>
              </a:lnSpc>
              <a:spcAft>
                <a:spcPts val="300"/>
              </a:spcAft>
              <a:buNone/>
            </a:pPr>
            <a:r>
              <a:rPr lang="en-US" sz="19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When would you use Spark on your farm? — 5 min</a:t>
            </a:r>
            <a:endParaRPr lang="en-US" sz="1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4F1D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914102"/>
          </a:xfrm>
          <a:prstGeom prst="rect">
            <a:avLst/>
          </a:prstGeom>
          <a:solidFill>
            <a:srgbClr val="1E512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57200" y="271314"/>
            <a:ext cx="4265256" cy="3714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 Exploration (Bonus)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57200" y="1066502"/>
            <a:ext cx="8394192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500"/>
              </a:spcAft>
              <a:buNone/>
            </a:pPr>
            <a:r>
              <a:rPr lang="en-US" sz="1400" b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Finished your Spark app early? Try this with your partner: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457200" y="1339453"/>
            <a:ext cx="8229600" cy="704850"/>
          </a:xfrm>
          <a:prstGeom prst="rect">
            <a:avLst/>
          </a:prstGeom>
          <a:noFill/>
          <a:ln/>
        </p:spPr>
        <p:txBody>
          <a:bodyPr wrap="square" lIns="152400" tIns="0" rIns="0" bIns="0" rtlCol="0" anchor="t"/>
          <a:lstStyle/>
          <a:p>
            <a:pPr algn="l" marL="152400" indent="-1524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 Copilot Chat in your farm repository</a:t>
            </a:r>
            <a:endParaRPr lang="en-US" sz="1400" dirty="0"/>
          </a:p>
          <a:p>
            <a:pPr algn="l" marL="152400" indent="-1524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Try a multi-step request (pick one below)</a:t>
            </a:r>
            <a:endParaRPr lang="en-US" sz="1400" dirty="0"/>
          </a:p>
          <a:p>
            <a:pPr algn="l" marL="152400" indent="-1524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Evaluate: Did the agent understand your request?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762000" y="2107704"/>
            <a:ext cx="7924800" cy="853678"/>
          </a:xfrm>
          <a:prstGeom prst="rect">
            <a:avLst/>
          </a:prstGeom>
          <a:solidFill>
            <a:srgbClr val="E8F5E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Shape 5"/>
          <p:cNvSpPr/>
          <p:nvPr/>
        </p:nvSpPr>
        <p:spPr>
          <a:xfrm>
            <a:off x="785813" y="2107704"/>
            <a:ext cx="0" cy="853678"/>
          </a:xfrm>
          <a:prstGeom prst="line">
            <a:avLst/>
          </a:prstGeom>
          <a:noFill/>
          <a:ln w="47625">
            <a:solidFill>
              <a:srgbClr val="4E9F3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62025" y="2209205"/>
            <a:ext cx="7723823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1300" i="1" dirty="0">
                <a:solidFill>
                  <a:srgbClr val="1E51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“Suggest which open Issues should be worked on first”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962025" y="2434530"/>
            <a:ext cx="7723823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1300" i="1" dirty="0">
                <a:solidFill>
                  <a:srgbClr val="1E51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“Create three Issues for end-of-season tasks”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962025" y="2659856"/>
            <a:ext cx="7723823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1300" i="1" dirty="0">
                <a:solidFill>
                  <a:srgbClr val="1E51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“Review my most recent PR and suggest improvements”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57200" y="3037582"/>
            <a:ext cx="8394192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500"/>
              </a:spcAft>
              <a:buNone/>
            </a:pPr>
            <a:r>
              <a:rPr lang="en-US" sz="1400" b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agent proposes, you decide.</a:t>
            </a:r>
            <a:endParaRPr lang="en-US" sz="14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863501"/>
          </a:xfrm>
          <a:prstGeom prst="rect">
            <a:avLst/>
          </a:prstGeom>
          <a:solidFill>
            <a:srgbClr val="1E512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355550" y="246013"/>
            <a:ext cx="3393138" cy="3714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Sharing Your Results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355550" y="1130052"/>
            <a:ext cx="8601557" cy="3256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65"/>
              </a:lnSpc>
              <a:spcBef>
                <a:spcPts val="500"/>
              </a:spcBef>
              <a:spcAft>
                <a:spcPts val="500"/>
              </a:spcAft>
              <a:buNone/>
            </a:pPr>
            <a:r>
              <a:rPr lang="en-US" sz="1900" b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Let's see what you built.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355550" y="1582489"/>
            <a:ext cx="8432899" cy="1856780"/>
          </a:xfrm>
          <a:prstGeom prst="rect">
            <a:avLst/>
          </a:prstGeom>
          <a:noFill/>
          <a:ln/>
        </p:spPr>
        <p:txBody>
          <a:bodyPr wrap="square" lIns="165100" tIns="0" rIns="0" bIns="0" rtlCol="0" anchor="t"/>
          <a:lstStyle/>
          <a:p>
            <a:pPr algn="l" marL="165100" indent="-165100">
              <a:lnSpc>
                <a:spcPts val="2565"/>
              </a:lnSpc>
              <a:spcAft>
                <a:spcPts val="300"/>
              </a:spcAft>
              <a:buSzPct val="100000"/>
              <a:buChar char="•"/>
            </a:pPr>
            <a:r>
              <a:rPr lang="en-US" sz="19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Who built a calculator? Does the math check out?</a:t>
            </a:r>
            <a:endParaRPr lang="en-US" sz="1900" dirty="0"/>
          </a:p>
          <a:p>
            <a:pPr algn="l" marL="165100" indent="-165100">
              <a:lnSpc>
                <a:spcPts val="2565"/>
              </a:lnSpc>
              <a:spcAft>
                <a:spcPts val="300"/>
              </a:spcAft>
              <a:buSzPct val="100000"/>
              <a:buChar char="•"/>
            </a:pPr>
            <a:r>
              <a:rPr lang="en-US" sz="19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Who built a checklist? Would you actually use it in the field?</a:t>
            </a:r>
            <a:endParaRPr lang="en-US" sz="1900" dirty="0"/>
          </a:p>
          <a:p>
            <a:pPr algn="l" marL="165100" indent="-165100">
              <a:lnSpc>
                <a:spcPts val="2565"/>
              </a:lnSpc>
              <a:spcAft>
                <a:spcPts val="300"/>
              </a:spcAft>
              <a:buSzPct val="100000"/>
              <a:buChar char="•"/>
            </a:pPr>
            <a:r>
              <a:rPr lang="en-US" sz="19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Who built a log? How does it compare to paper records?</a:t>
            </a:r>
            <a:endParaRPr lang="en-US" sz="1900" dirty="0"/>
          </a:p>
          <a:p>
            <a:pPr algn="l" marL="165100" indent="-165100">
              <a:lnSpc>
                <a:spcPts val="2565"/>
              </a:lnSpc>
              <a:spcAft>
                <a:spcPts val="300"/>
              </a:spcAft>
              <a:buSzPct val="100000"/>
              <a:buChar char="•"/>
            </a:pPr>
            <a:r>
              <a:rPr lang="en-US" sz="19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surprised you about what Spark could (or couldn't) do?</a:t>
            </a:r>
            <a:endParaRPr lang="en-US" sz="1900" dirty="0"/>
          </a:p>
          <a:p>
            <a:pPr algn="l" marL="165100" indent="-165100">
              <a:lnSpc>
                <a:spcPts val="2565"/>
              </a:lnSpc>
              <a:spcAft>
                <a:spcPts val="300"/>
              </a:spcAft>
              <a:buSzPct val="100000"/>
              <a:buChar char="•"/>
            </a:pPr>
            <a:r>
              <a:rPr lang="en-US" sz="19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Did anyone try the agent exploration? What happened?</a:t>
            </a:r>
            <a:endParaRPr lang="en-US" sz="1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4F1D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914102"/>
          </a:xfrm>
          <a:prstGeom prst="rect">
            <a:avLst/>
          </a:prstGeom>
          <a:solidFill>
            <a:srgbClr val="1E512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57200" y="271314"/>
            <a:ext cx="3755800" cy="3714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Vocabulary Review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57200" y="1041053"/>
            <a:ext cx="8394192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500"/>
              </a:spcAft>
              <a:buNone/>
            </a:pPr>
            <a:r>
              <a:rPr lang="en-US" sz="1400" b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New terms from today: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457200" y="1314004"/>
            <a:ext cx="8229600" cy="399752"/>
          </a:xfrm>
          <a:prstGeom prst="roundRect">
            <a:avLst>
              <a:gd name="adj" fmla="val 12708"/>
            </a:avLst>
          </a:prstGeom>
          <a:solidFill>
            <a:srgbClr val="1E512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457200" y="1314004"/>
            <a:ext cx="2512975" cy="336352"/>
          </a:xfrm>
          <a:prstGeom prst="rect">
            <a:avLst/>
          </a:prstGeom>
          <a:noFill/>
          <a:ln/>
        </p:spPr>
        <p:txBody>
          <a:bodyPr wrap="square" lIns="88900" tIns="63500" rIns="88900" bIns="63500" rtlCol="0" anchor="t"/>
          <a:lstStyle/>
          <a:p>
            <a:pPr algn="l" indent="0" marL="0">
              <a:spcAft>
                <a:spcPts val="500"/>
              </a:spcAft>
              <a:buNone/>
            </a:pPr>
            <a:r>
              <a:rPr lang="en-US" sz="1400" b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2920901" y="1314004"/>
            <a:ext cx="5881217" cy="336352"/>
          </a:xfrm>
          <a:prstGeom prst="rect">
            <a:avLst/>
          </a:prstGeom>
          <a:noFill/>
          <a:ln/>
        </p:spPr>
        <p:txBody>
          <a:bodyPr wrap="square" lIns="88900" tIns="63500" rIns="88900" bIns="63500" rtlCol="0" anchor="t"/>
          <a:lstStyle/>
          <a:p>
            <a:pPr algn="l" indent="0" marL="0">
              <a:spcAft>
                <a:spcPts val="500"/>
              </a:spcAft>
              <a:buNone/>
            </a:pPr>
            <a:r>
              <a:rPr lang="en-US" sz="1400" b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Meaning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457200" y="1713756"/>
            <a:ext cx="8229600" cy="383977"/>
          </a:xfrm>
          <a:prstGeom prst="rect">
            <a:avLst/>
          </a:prstGeom>
          <a:solidFill>
            <a:srgbClr val="F4F1D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Shape 7"/>
          <p:cNvSpPr/>
          <p:nvPr/>
        </p:nvSpPr>
        <p:spPr>
          <a:xfrm>
            <a:off x="457200" y="2092970"/>
            <a:ext cx="82296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7200" y="1713756"/>
            <a:ext cx="2512975" cy="311051"/>
          </a:xfrm>
          <a:prstGeom prst="rect">
            <a:avLst/>
          </a:prstGeom>
          <a:noFill/>
          <a:ln/>
        </p:spPr>
        <p:txBody>
          <a:bodyPr wrap="square" lIns="88900" tIns="50800" rIns="88900" bIns="50800" rtlCol="0" anchor="t"/>
          <a:lstStyle/>
          <a:p>
            <a:pPr algn="l" indent="0" marL="0">
              <a:spcAft>
                <a:spcPts val="500"/>
              </a:spcAft>
              <a:buNone/>
            </a:pPr>
            <a:r>
              <a:rPr lang="en-US" sz="1400" b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GitHub Spark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2920901" y="1713756"/>
            <a:ext cx="5881217" cy="311051"/>
          </a:xfrm>
          <a:prstGeom prst="rect">
            <a:avLst/>
          </a:prstGeom>
          <a:noFill/>
          <a:ln/>
        </p:spPr>
        <p:txBody>
          <a:bodyPr wrap="square" lIns="88900" tIns="50800" rIns="88900" bIns="50800" rtlCol="0" anchor="t"/>
          <a:lstStyle/>
          <a:p>
            <a:pPr algn="l" indent="0" marL="0">
              <a:spcAft>
                <a:spcPts val="500"/>
              </a:spcAft>
              <a:buNone/>
            </a:pPr>
            <a:r>
              <a:rPr lang="en-US" sz="14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Builds simple web apps from plain English descriptions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457200" y="2097732"/>
            <a:ext cx="8229600" cy="383977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Shape 11"/>
          <p:cNvSpPr/>
          <p:nvPr/>
        </p:nvSpPr>
        <p:spPr>
          <a:xfrm>
            <a:off x="457200" y="2476946"/>
            <a:ext cx="82296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57200" y="2097732"/>
            <a:ext cx="2512975" cy="311051"/>
          </a:xfrm>
          <a:prstGeom prst="rect">
            <a:avLst/>
          </a:prstGeom>
          <a:noFill/>
          <a:ln/>
        </p:spPr>
        <p:txBody>
          <a:bodyPr wrap="square" lIns="88900" tIns="50800" rIns="88900" bIns="50800" rtlCol="0" anchor="t"/>
          <a:lstStyle/>
          <a:p>
            <a:pPr algn="l" indent="0" marL="0">
              <a:spcAft>
                <a:spcPts val="500"/>
              </a:spcAft>
              <a:buNone/>
            </a:pPr>
            <a:r>
              <a:rPr lang="en-US" sz="1400" b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2920901" y="2097732"/>
            <a:ext cx="5881217" cy="311051"/>
          </a:xfrm>
          <a:prstGeom prst="rect">
            <a:avLst/>
          </a:prstGeom>
          <a:noFill/>
          <a:ln/>
        </p:spPr>
        <p:txBody>
          <a:bodyPr wrap="square" lIns="88900" tIns="50800" rIns="88900" bIns="50800" rtlCol="0" anchor="t"/>
          <a:lstStyle/>
          <a:p>
            <a:pPr algn="l" indent="0" marL="0">
              <a:spcAft>
                <a:spcPts val="500"/>
              </a:spcAft>
              <a:buNone/>
            </a:pPr>
            <a:r>
              <a:rPr lang="en-US" sz="14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small program you use in a web browser (calculator, form)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457200" y="2481709"/>
            <a:ext cx="8229600" cy="383977"/>
          </a:xfrm>
          <a:prstGeom prst="rect">
            <a:avLst/>
          </a:prstGeom>
          <a:solidFill>
            <a:srgbClr val="F4F1D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Shape 15"/>
          <p:cNvSpPr/>
          <p:nvPr/>
        </p:nvSpPr>
        <p:spPr>
          <a:xfrm>
            <a:off x="457200" y="2860923"/>
            <a:ext cx="82296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57200" y="2481709"/>
            <a:ext cx="2512975" cy="311051"/>
          </a:xfrm>
          <a:prstGeom prst="rect">
            <a:avLst/>
          </a:prstGeom>
          <a:noFill/>
          <a:ln/>
        </p:spPr>
        <p:txBody>
          <a:bodyPr wrap="square" lIns="88900" tIns="50800" rIns="88900" bIns="50800" rtlCol="0" anchor="t"/>
          <a:lstStyle/>
          <a:p>
            <a:pPr algn="l" indent="0" marL="0">
              <a:spcAft>
                <a:spcPts val="500"/>
              </a:spcAft>
              <a:buNone/>
            </a:pPr>
            <a:r>
              <a:rPr lang="en-US" sz="1400" b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2920901" y="2481709"/>
            <a:ext cx="5881217" cy="311051"/>
          </a:xfrm>
          <a:prstGeom prst="rect">
            <a:avLst/>
          </a:prstGeom>
          <a:noFill/>
          <a:ln/>
        </p:spPr>
        <p:txBody>
          <a:bodyPr wrap="square" lIns="88900" tIns="50800" rIns="88900" bIns="50800" rtlCol="0" anchor="t"/>
          <a:lstStyle/>
          <a:p>
            <a:pPr algn="l" indent="0" marL="0">
              <a:spcAft>
                <a:spcPts val="500"/>
              </a:spcAft>
              <a:buNone/>
            </a:pPr>
            <a:r>
              <a:rPr lang="en-US" sz="14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that follows multi-step instructions through a plan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457200" y="2865686"/>
            <a:ext cx="8229600" cy="383977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" name="Shape 19"/>
          <p:cNvSpPr/>
          <p:nvPr/>
        </p:nvSpPr>
        <p:spPr>
          <a:xfrm>
            <a:off x="457200" y="3244900"/>
            <a:ext cx="82296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57200" y="2865686"/>
            <a:ext cx="2512975" cy="311051"/>
          </a:xfrm>
          <a:prstGeom prst="rect">
            <a:avLst/>
          </a:prstGeom>
          <a:noFill/>
          <a:ln/>
        </p:spPr>
        <p:txBody>
          <a:bodyPr wrap="square" lIns="88900" tIns="50800" rIns="88900" bIns="50800" rtlCol="0" anchor="t"/>
          <a:lstStyle/>
          <a:p>
            <a:pPr algn="l" indent="0" marL="0">
              <a:spcAft>
                <a:spcPts val="500"/>
              </a:spcAft>
              <a:buNone/>
            </a:pPr>
            <a:r>
              <a:rPr lang="en-US" sz="1400" b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Natural language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2920901" y="2865686"/>
            <a:ext cx="5881217" cy="311051"/>
          </a:xfrm>
          <a:prstGeom prst="rect">
            <a:avLst/>
          </a:prstGeom>
          <a:noFill/>
          <a:ln/>
        </p:spPr>
        <p:txBody>
          <a:bodyPr wrap="square" lIns="88900" tIns="50800" rIns="88900" bIns="50800" rtlCol="0" anchor="t"/>
          <a:lstStyle/>
          <a:p>
            <a:pPr algn="l" indent="0" marL="0">
              <a:spcAft>
                <a:spcPts val="500"/>
              </a:spcAft>
              <a:buNone/>
            </a:pPr>
            <a:r>
              <a:rPr lang="en-US" sz="14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Everyday English, as opposed to code or commands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457200" y="3249662"/>
            <a:ext cx="8229600" cy="383977"/>
          </a:xfrm>
          <a:prstGeom prst="rect">
            <a:avLst/>
          </a:prstGeom>
          <a:solidFill>
            <a:srgbClr val="F4F1D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Shape 23"/>
          <p:cNvSpPr/>
          <p:nvPr/>
        </p:nvSpPr>
        <p:spPr>
          <a:xfrm>
            <a:off x="457200" y="3628876"/>
            <a:ext cx="82296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57200" y="3249662"/>
            <a:ext cx="2512975" cy="311051"/>
          </a:xfrm>
          <a:prstGeom prst="rect">
            <a:avLst/>
          </a:prstGeom>
          <a:noFill/>
          <a:ln/>
        </p:spPr>
        <p:txBody>
          <a:bodyPr wrap="square" lIns="88900" tIns="50800" rIns="88900" bIns="50800" rtlCol="0" anchor="t"/>
          <a:lstStyle/>
          <a:p>
            <a:pPr algn="l" indent="0" marL="0">
              <a:spcAft>
                <a:spcPts val="500"/>
              </a:spcAft>
              <a:buNone/>
            </a:pPr>
            <a:r>
              <a:rPr lang="en-US" sz="1400" b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Prompt engineering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2920901" y="3249662"/>
            <a:ext cx="5881217" cy="311051"/>
          </a:xfrm>
          <a:prstGeom prst="rect">
            <a:avLst/>
          </a:prstGeom>
          <a:noFill/>
          <a:ln/>
        </p:spPr>
        <p:txBody>
          <a:bodyPr wrap="square" lIns="88900" tIns="50800" rIns="88900" bIns="50800" rtlCol="0" anchor="t"/>
          <a:lstStyle/>
          <a:p>
            <a:pPr algn="l" indent="0" marL="0">
              <a:spcAft>
                <a:spcPts val="500"/>
              </a:spcAft>
              <a:buNone/>
            </a:pPr>
            <a:r>
              <a:rPr lang="en-US" sz="14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Writing clear instructions to get good AI results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457200" y="3633639"/>
            <a:ext cx="8229600" cy="383977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9" name="Shape 27"/>
          <p:cNvSpPr/>
          <p:nvPr/>
        </p:nvSpPr>
        <p:spPr>
          <a:xfrm>
            <a:off x="457200" y="4012853"/>
            <a:ext cx="82296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57200" y="3633639"/>
            <a:ext cx="2512975" cy="311051"/>
          </a:xfrm>
          <a:prstGeom prst="rect">
            <a:avLst/>
          </a:prstGeom>
          <a:noFill/>
          <a:ln/>
        </p:spPr>
        <p:txBody>
          <a:bodyPr wrap="square" lIns="88900" tIns="50800" rIns="88900" bIns="50800" rtlCol="0" anchor="t"/>
          <a:lstStyle/>
          <a:p>
            <a:pPr algn="l" indent="0" marL="0">
              <a:spcAft>
                <a:spcPts val="500"/>
              </a:spcAft>
              <a:buNone/>
            </a:pPr>
            <a:r>
              <a:rPr lang="en-US" sz="1400" b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Guardrails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2920901" y="3633639"/>
            <a:ext cx="5881217" cy="311051"/>
          </a:xfrm>
          <a:prstGeom prst="rect">
            <a:avLst/>
          </a:prstGeom>
          <a:noFill/>
          <a:ln/>
        </p:spPr>
        <p:txBody>
          <a:bodyPr wrap="square" lIns="88900" tIns="50800" rIns="88900" bIns="50800" rtlCol="0" anchor="t"/>
          <a:lstStyle/>
          <a:p>
            <a:pPr algn="l" indent="0" marL="0">
              <a:spcAft>
                <a:spcPts val="500"/>
              </a:spcAft>
              <a:buNone/>
            </a:pPr>
            <a:r>
              <a:rPr lang="en-US" sz="14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Limits that prevent AI from acting without permission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457200" y="4017615"/>
            <a:ext cx="8229600" cy="383977"/>
          </a:xfrm>
          <a:prstGeom prst="rect">
            <a:avLst/>
          </a:prstGeom>
          <a:solidFill>
            <a:srgbClr val="F4F1D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3" name="Shape 31"/>
          <p:cNvSpPr/>
          <p:nvPr/>
        </p:nvSpPr>
        <p:spPr>
          <a:xfrm>
            <a:off x="457200" y="4396829"/>
            <a:ext cx="82296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457200" y="4017615"/>
            <a:ext cx="2512975" cy="311051"/>
          </a:xfrm>
          <a:prstGeom prst="rect">
            <a:avLst/>
          </a:prstGeom>
          <a:noFill/>
          <a:ln/>
        </p:spPr>
        <p:txBody>
          <a:bodyPr wrap="square" lIns="88900" tIns="50800" rIns="88900" bIns="50800" rtlCol="0" anchor="t"/>
          <a:lstStyle/>
          <a:p>
            <a:pPr algn="l" indent="0" marL="0">
              <a:spcAft>
                <a:spcPts val="500"/>
              </a:spcAft>
              <a:buNone/>
            </a:pPr>
            <a:r>
              <a:rPr lang="en-US" sz="1400" b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Human-in-the-loop</a:t>
            </a:r>
            <a:endParaRPr lang="en-US" sz="1400" dirty="0"/>
          </a:p>
        </p:txBody>
      </p:sp>
      <p:sp>
        <p:nvSpPr>
          <p:cNvPr id="35" name="Text 33"/>
          <p:cNvSpPr/>
          <p:nvPr/>
        </p:nvSpPr>
        <p:spPr>
          <a:xfrm>
            <a:off x="2920901" y="4017615"/>
            <a:ext cx="5881217" cy="311051"/>
          </a:xfrm>
          <a:prstGeom prst="rect">
            <a:avLst/>
          </a:prstGeom>
          <a:noFill/>
          <a:ln/>
        </p:spPr>
        <p:txBody>
          <a:bodyPr wrap="square" lIns="88900" tIns="50800" rIns="88900" bIns="50800" rtlCol="0" anchor="t"/>
          <a:lstStyle/>
          <a:p>
            <a:pPr algn="l" indent="0" marL="0">
              <a:spcAft>
                <a:spcPts val="500"/>
              </a:spcAft>
              <a:buNone/>
            </a:pPr>
            <a:r>
              <a:rPr lang="en-US" sz="14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person reviews and approves AI work before it takes effect</a:t>
            </a:r>
            <a:endParaRPr lang="en-US" sz="14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863501"/>
          </a:xfrm>
          <a:prstGeom prst="rect">
            <a:avLst/>
          </a:prstGeom>
          <a:solidFill>
            <a:srgbClr val="1E512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355550" y="246013"/>
            <a:ext cx="1627802" cy="3714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Reflection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355550" y="1130052"/>
            <a:ext cx="8601557" cy="3256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65"/>
              </a:lnSpc>
              <a:spcBef>
                <a:spcPts val="500"/>
              </a:spcBef>
              <a:spcAft>
                <a:spcPts val="500"/>
              </a:spcAft>
              <a:buNone/>
            </a:pPr>
            <a:r>
              <a:rPr lang="en-US" sz="1900" b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Think about your farm: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355550" y="1582489"/>
            <a:ext cx="8432899" cy="1129308"/>
          </a:xfrm>
          <a:prstGeom prst="rect">
            <a:avLst/>
          </a:prstGeom>
          <a:noFill/>
          <a:ln/>
        </p:spPr>
        <p:txBody>
          <a:bodyPr wrap="square" lIns="165100" tIns="0" rIns="0" bIns="0" rtlCol="0" anchor="t"/>
          <a:lstStyle/>
          <a:p>
            <a:pPr algn="l" marL="165100" indent="-165100">
              <a:lnSpc>
                <a:spcPts val="2565"/>
              </a:lnSpc>
              <a:spcAft>
                <a:spcPts val="300"/>
              </a:spcAft>
              <a:buSzPct val="100000"/>
              <a:buChar char="•"/>
            </a:pPr>
            <a:r>
              <a:rPr lang="en-US" sz="19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simple tool would save you the most time if Spark built it?</a:t>
            </a:r>
            <a:endParaRPr lang="en-US" sz="1900" dirty="0"/>
          </a:p>
          <a:p>
            <a:pPr algn="l" marL="165100" indent="-165100">
              <a:lnSpc>
                <a:spcPts val="2565"/>
              </a:lnSpc>
              <a:spcAft>
                <a:spcPts val="300"/>
              </a:spcAft>
              <a:buSzPct val="100000"/>
              <a:buChar char="•"/>
            </a:pPr>
            <a:r>
              <a:rPr lang="en-US" sz="19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would you explain the difference between Copilot and an agent?</a:t>
            </a:r>
            <a:endParaRPr lang="en-US" sz="1900" dirty="0"/>
          </a:p>
          <a:p>
            <a:pPr algn="l" marL="165100" indent="-165100">
              <a:lnSpc>
                <a:spcPts val="2565"/>
              </a:lnSpc>
              <a:spcAft>
                <a:spcPts val="300"/>
              </a:spcAft>
              <a:buSzPct val="100000"/>
              <a:buChar char="•"/>
            </a:pPr>
            <a:r>
              <a:rPr lang="en-US" sz="19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What's one task you'd trust an agent to handle? One you wouldn't?</a:t>
            </a:r>
            <a:endParaRPr lang="en-US" sz="1900" dirty="0"/>
          </a:p>
        </p:txBody>
      </p:sp>
      <p:sp>
        <p:nvSpPr>
          <p:cNvPr id="6" name="Text 4"/>
          <p:cNvSpPr/>
          <p:nvPr/>
        </p:nvSpPr>
        <p:spPr>
          <a:xfrm>
            <a:off x="355550" y="2876699"/>
            <a:ext cx="8432899" cy="579239"/>
          </a:xfrm>
          <a:prstGeom prst="rect">
            <a:avLst/>
          </a:prstGeom>
          <a:solidFill>
            <a:srgbClr val="E8F5E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Shape 5"/>
          <p:cNvSpPr/>
          <p:nvPr/>
        </p:nvSpPr>
        <p:spPr>
          <a:xfrm>
            <a:off x="384125" y="2876699"/>
            <a:ext cx="0" cy="579239"/>
          </a:xfrm>
          <a:prstGeom prst="line">
            <a:avLst/>
          </a:prstGeom>
          <a:noFill/>
          <a:ln w="57150">
            <a:solidFill>
              <a:srgbClr val="4E9F3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90401" y="3003500"/>
            <a:ext cx="8180755" cy="3256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65"/>
              </a:lnSpc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1900" b="1" dirty="0">
                <a:solidFill>
                  <a:srgbClr val="1E51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Turn to your partner and share your answers. (3 minutes)</a:t>
            </a:r>
            <a:endParaRPr lang="en-US" sz="19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863501"/>
          </a:xfrm>
          <a:prstGeom prst="rect">
            <a:avLst/>
          </a:prstGeom>
          <a:solidFill>
            <a:srgbClr val="1E512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355550" y="246013"/>
            <a:ext cx="1913802" cy="3714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What's Next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355550" y="1130052"/>
            <a:ext cx="8601557" cy="3256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65"/>
              </a:lnSpc>
              <a:spcBef>
                <a:spcPts val="500"/>
              </a:spcBef>
              <a:spcAft>
                <a:spcPts val="500"/>
              </a:spcAft>
              <a:buNone/>
            </a:pPr>
            <a:r>
              <a:rPr lang="en-US" sz="1900" b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Session 12: Capstone Project — Putting It All Together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355550" y="1582489"/>
            <a:ext cx="8601557" cy="651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65"/>
              </a:lnSpc>
              <a:spcBef>
                <a:spcPts val="500"/>
              </a:spcBef>
              <a:spcAft>
                <a:spcPts val="500"/>
              </a:spcAft>
              <a:buNone/>
            </a:pPr>
            <a:r>
              <a:rPr lang="en-US" sz="19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 a complete farm management workflow in GitHub — from repository to Issues, Projects, templates, automations, and AI tools.</a:t>
            </a:r>
            <a:endParaRPr lang="en-US" sz="1900" dirty="0"/>
          </a:p>
        </p:txBody>
      </p:sp>
      <p:sp>
        <p:nvSpPr>
          <p:cNvPr id="6" name="Text 4"/>
          <p:cNvSpPr/>
          <p:nvPr/>
        </p:nvSpPr>
        <p:spPr>
          <a:xfrm>
            <a:off x="355550" y="2360563"/>
            <a:ext cx="8601557" cy="3256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65"/>
              </a:lnSpc>
              <a:spcBef>
                <a:spcPts val="500"/>
              </a:spcBef>
              <a:spcAft>
                <a:spcPts val="500"/>
              </a:spcAft>
              <a:buNone/>
            </a:pPr>
            <a:r>
              <a:rPr lang="en-US" sz="1900" b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Optional between-session practice: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355550" y="2813000"/>
            <a:ext cx="8432899" cy="1493044"/>
          </a:xfrm>
          <a:prstGeom prst="rect">
            <a:avLst/>
          </a:prstGeom>
          <a:noFill/>
          <a:ln/>
        </p:spPr>
        <p:txBody>
          <a:bodyPr wrap="square" lIns="165100" tIns="0" rIns="0" bIns="0" rtlCol="0" anchor="t"/>
          <a:lstStyle/>
          <a:p>
            <a:pPr algn="l" marL="165100" indent="-165100">
              <a:lnSpc>
                <a:spcPts val="2565"/>
              </a:lnSpc>
              <a:spcAft>
                <a:spcPts val="300"/>
              </a:spcAft>
              <a:buSzPct val="100000"/>
              <a:buChar char="•"/>
            </a:pPr>
            <a:r>
              <a:rPr lang="en-US" sz="19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Show your Spark app to someone on your farm — get feedback</a:t>
            </a:r>
            <a:endParaRPr lang="en-US" sz="1900" dirty="0"/>
          </a:p>
          <a:p>
            <a:pPr algn="l" marL="165100" indent="-165100">
              <a:lnSpc>
                <a:spcPts val="2565"/>
              </a:lnSpc>
              <a:spcAft>
                <a:spcPts val="300"/>
              </a:spcAft>
              <a:buSzPct val="100000"/>
              <a:buChar char="•"/>
            </a:pPr>
            <a:r>
              <a:rPr lang="en-US" sz="19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Try building a second Spark tool for a different task</a:t>
            </a:r>
            <a:endParaRPr lang="en-US" sz="1900" dirty="0"/>
          </a:p>
          <a:p>
            <a:pPr algn="l" marL="165100" indent="-165100">
              <a:lnSpc>
                <a:spcPts val="2565"/>
              </a:lnSpc>
              <a:spcAft>
                <a:spcPts val="300"/>
              </a:spcAft>
              <a:buSzPct val="100000"/>
              <a:buChar char="•"/>
            </a:pPr>
            <a:r>
              <a:rPr lang="en-US" sz="19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Practice writing multi-step requests for Copilot</a:t>
            </a:r>
            <a:endParaRPr lang="en-US" sz="1900" dirty="0"/>
          </a:p>
          <a:p>
            <a:pPr algn="l" marL="165100" indent="-165100">
              <a:lnSpc>
                <a:spcPts val="2565"/>
              </a:lnSpc>
              <a:spcAft>
                <a:spcPts val="300"/>
              </a:spcAft>
              <a:buSzPct val="100000"/>
              <a:buChar char="•"/>
            </a:pPr>
            <a:r>
              <a:rPr lang="en-US" sz="19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Think about what you'd include in your capstone project</a:t>
            </a:r>
            <a:endParaRPr lang="en-US" sz="1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1E51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531986" y="1114574"/>
            <a:ext cx="2080028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1000"/>
              </a:spcAft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Thank You!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064050" y="1847850"/>
            <a:ext cx="1015901" cy="38100"/>
          </a:xfrm>
          <a:prstGeom prst="rect">
            <a:avLst/>
          </a:prstGeom>
          <a:solidFill>
            <a:srgbClr val="A5D6A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374904" y="2139851"/>
            <a:ext cx="8394192" cy="552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600"/>
              </a:spcBef>
              <a:spcAft>
                <a:spcPts val="600"/>
              </a:spcAft>
              <a:buNone/>
            </a:pPr>
            <a:r>
              <a:rPr lang="en-US" sz="1900" dirty="0">
                <a:solidFill>
                  <a:srgbClr val="E8F5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You've gone from learning what a repository is to building your own AI-powered farm tools.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374904" y="2844701"/>
            <a:ext cx="8394192" cy="552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600"/>
              </a:spcBef>
              <a:spcAft>
                <a:spcPts val="600"/>
              </a:spcAft>
              <a:buNone/>
            </a:pPr>
            <a:r>
              <a:rPr lang="en-US" sz="1900" dirty="0">
                <a:solidFill>
                  <a:srgbClr val="E8F5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our final session, you'll put all of these skills together into a complete project.</a:t>
            </a:r>
            <a:endParaRPr lang="en-US" sz="1900" dirty="0"/>
          </a:p>
        </p:txBody>
      </p:sp>
      <p:sp>
        <p:nvSpPr>
          <p:cNvPr id="6" name="Text 4"/>
          <p:cNvSpPr/>
          <p:nvPr/>
        </p:nvSpPr>
        <p:spPr>
          <a:xfrm>
            <a:off x="974988" y="3676501"/>
            <a:ext cx="7194024" cy="276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1600"/>
              </a:spcBef>
              <a:spcAft>
                <a:spcPts val="600"/>
              </a:spcAft>
              <a:buNone/>
            </a:pPr>
            <a:r>
              <a:rPr lang="en-US" sz="1900" b="1" dirty="0">
                <a:solidFill>
                  <a:srgbClr val="A5D6A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Please fill out the 2-minute feedback survey before you leave.</a:t>
            </a:r>
            <a:endParaRPr lang="en-US" sz="1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24</Slides>
  <Notes>24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2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Session 11: GitHub Spark &amp; Agents</dc:title>
  <dc:subject>GitHub Training for Farmers — Session 11 of 12</dc:subject>
  <dc:creator>GitHub4Farms Training</dc:creator>
  <cp:lastModifiedBy>GitHub4Farms Training</cp:lastModifiedBy>
  <cp:revision>1</cp:revision>
  <dcterms:created xsi:type="dcterms:W3CDTF">2026-01-30T16:51:38Z</dcterms:created>
  <dcterms:modified xsi:type="dcterms:W3CDTF">2026-01-30T16:51:38Z</dcterms:modified>
</cp:coreProperties>
</file>