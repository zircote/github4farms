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51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56159" y="1077962"/>
            <a:ext cx="8031682" cy="112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Introduction to GitHub &amp; Repositories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1736594" y="2303413"/>
            <a:ext cx="5670664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600"/>
              </a:spcAft>
              <a:buNone/>
            </a:pPr>
            <a:r>
              <a:rPr lang="en-US" sz="2600" i="1" dirty="0">
                <a:solidFill>
                  <a:srgbClr val="A5D6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Digital Barn for Farm Information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810000" y="3081189"/>
            <a:ext cx="1524000" cy="38100"/>
          </a:xfrm>
          <a:prstGeom prst="rect">
            <a:avLst/>
          </a:prstGeom>
          <a:solidFill>
            <a:srgbClr val="4E9F3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3679086" y="3360539"/>
            <a:ext cx="1785679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2000" dirty="0">
                <a:solidFill>
                  <a:srgbClr val="E8F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1 of 12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2966971" y="3732014"/>
            <a:ext cx="320991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2000" dirty="0">
                <a:solidFill>
                  <a:srgbClr val="E8F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Training for Farmers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1584386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Welcome!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Today's goal: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601557" cy="651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session, you will have explored a real GitHub repository and know how to find information stored inside it.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2398663"/>
            <a:ext cx="8432899" cy="579239"/>
          </a:xfrm>
          <a:prstGeom prst="rect">
            <a:avLst/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384125" y="2398663"/>
            <a:ext cx="0" cy="579239"/>
          </a:xfrm>
          <a:prstGeom prst="line">
            <a:avLst/>
          </a:prstGeom>
          <a:noFill/>
          <a:ln w="57150">
            <a:solidFill>
              <a:srgbClr val="4E9F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0401" y="2525464"/>
            <a:ext cx="8180755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900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coding. No technical background needed. Just curiosity.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5307699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Matters for YOUR Farm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42851"/>
            <a:ext cx="8432899" cy="958751"/>
          </a:xfrm>
          <a:prstGeom prst="roundRect">
            <a:avLst>
              <a:gd name="adj" fmla="val 10597"/>
            </a:avLst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30200" y="1269802"/>
            <a:ext cx="8083600" cy="704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do you keep your farm's important information right now?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355550" y="2228552"/>
            <a:ext cx="8432899" cy="1429048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2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Filing cabinet?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2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Notebook?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2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phone?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2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head?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55550" y="3759101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happens when you can't find something?</a:t>
            </a:r>
            <a:endParaRPr lang="en-US" sz="1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434024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 We're Solving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Farm information is scattered: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432899" cy="1493044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 gets lost or damaged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Files live on one computer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 is in one person's head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record of what changed and when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3240435"/>
            <a:ext cx="8432899" cy="904875"/>
          </a:xfrm>
          <a:prstGeom prst="rect">
            <a:avLst/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384125" y="3240435"/>
            <a:ext cx="0" cy="904875"/>
          </a:xfrm>
          <a:prstGeom prst="line">
            <a:avLst/>
          </a:prstGeom>
          <a:noFill/>
          <a:ln w="57150">
            <a:solidFill>
              <a:srgbClr val="4E9F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0401" y="3367236"/>
            <a:ext cx="8180755" cy="651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9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gives your farm a single, organized, always-accessible home for information.</a:t>
            </a:r>
            <a:endParaRPr lang="en-US" sz="1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2618783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GitHub?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is a website where you store, organize, and share information.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 of it as a 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barn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your farm: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2034927"/>
            <a:ext cx="8432899" cy="1493044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in one place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Organized into sections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Accessible from any device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can always see what changed and when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55550" y="365477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It's free. It works on any device with a browser.</a:t>
            </a: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3049301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Uses GitHub?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40+ million people use GitHub.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Originally built for software developers, but now used by: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2034927"/>
            <a:ext cx="8432899" cy="1856780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Researchers documenting experiments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Writers collaborating on books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Teachers sharing lesson plans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Governments publishing public data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soon — farmers managing farm operations!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55550" y="4018508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You're joining a massive community.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353629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a Repository?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42851"/>
            <a:ext cx="8432899" cy="663476"/>
          </a:xfrm>
          <a:prstGeom prst="roundRect">
            <a:avLst>
              <a:gd name="adj" fmla="val 15313"/>
            </a:avLst>
          </a:prstGeom>
          <a:solidFill>
            <a:srgbClr val="E8F5E9"/>
          </a:solidFill>
          <a:ln w="19050">
            <a:solidFill>
              <a:srgbClr val="4E9F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23824" y="1288852"/>
            <a:ext cx="8096351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Repository = Your Digital Barn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355550" y="1945928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repository (or "repo") is a container that holds: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55550" y="2398365"/>
            <a:ext cx="8432899" cy="1129308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Files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documents, spreadsheets, photos, plans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Folders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organized sections for different topics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History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 record of every change ever made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355550" y="3654475"/>
            <a:ext cx="8601557" cy="651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 like a barn holds your tools, supplies, and records — a repository holds your farm's digital information.</a:t>
            </a:r>
            <a:endParaRPr lang="en-US" sz="1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3280651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Repository Anatomy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Inside a Repository: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646039"/>
            <a:ext cx="8432899" cy="469106"/>
          </a:xfrm>
          <a:prstGeom prst="roundRect">
            <a:avLst>
              <a:gd name="adj" fmla="val 10829"/>
            </a:avLst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55550" y="1646039"/>
            <a:ext cx="2202231" cy="469106"/>
          </a:xfrm>
          <a:prstGeom prst="rect">
            <a:avLst/>
          </a:prstGeom>
          <a:noFill/>
          <a:ln/>
        </p:spPr>
        <p:txBody>
          <a:bodyPr wrap="square" lIns="101600" tIns="88900" rIns="101600" bIns="88900" rtlCol="0" anchor="t"/>
          <a:lstStyle/>
          <a:p>
            <a:pPr algn="l" indent="0" marL="0">
              <a:lnSpc>
                <a:spcPts val="2295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2514600" y="1646039"/>
            <a:ext cx="3000116" cy="469106"/>
          </a:xfrm>
          <a:prstGeom prst="rect">
            <a:avLst/>
          </a:prstGeom>
          <a:noFill/>
          <a:ln/>
        </p:spPr>
        <p:txBody>
          <a:bodyPr wrap="square" lIns="101600" tIns="88900" rIns="101600" bIns="88900" rtlCol="0" anchor="t"/>
          <a:lstStyle/>
          <a:p>
            <a:pPr algn="l" indent="0" marL="0">
              <a:lnSpc>
                <a:spcPts val="2295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Farm Analogy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455890" y="1646039"/>
            <a:ext cx="3399211" cy="469106"/>
          </a:xfrm>
          <a:prstGeom prst="rect">
            <a:avLst/>
          </a:prstGeom>
          <a:noFill/>
          <a:ln/>
        </p:spPr>
        <p:txBody>
          <a:bodyPr wrap="square" lIns="101600" tIns="88900" rIns="101600" bIns="88900" rtlCol="0" anchor="t"/>
          <a:lstStyle/>
          <a:p>
            <a:pPr algn="l" indent="0" marL="0">
              <a:lnSpc>
                <a:spcPts val="2295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Does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55550" y="2115145"/>
            <a:ext cx="8432899" cy="461367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355550" y="2571750"/>
            <a:ext cx="8432899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5550" y="2115145"/>
            <a:ext cx="2202231" cy="451842"/>
          </a:xfrm>
          <a:prstGeom prst="rect">
            <a:avLst/>
          </a:prstGeom>
          <a:noFill/>
          <a:ln/>
        </p:spPr>
        <p:txBody>
          <a:bodyPr wrap="square" lIns="101600" tIns="88900" rIns="101600" bIns="8890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6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README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514600" y="2115145"/>
            <a:ext cx="3000116" cy="451842"/>
          </a:xfrm>
          <a:prstGeom prst="rect">
            <a:avLst/>
          </a:prstGeom>
          <a:noFill/>
          <a:ln/>
        </p:spPr>
        <p:txBody>
          <a:bodyPr wrap="square" lIns="101600" tIns="88900" rIns="101600" bIns="8890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 on the barn door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455890" y="2115145"/>
            <a:ext cx="3399211" cy="451842"/>
          </a:xfrm>
          <a:prstGeom prst="rect">
            <a:avLst/>
          </a:prstGeom>
          <a:noFill/>
          <a:ln/>
        </p:spPr>
        <p:txBody>
          <a:bodyPr wrap="square" lIns="101600" tIns="88900" rIns="101600" bIns="8890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Explains what's inside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55550" y="2576513"/>
            <a:ext cx="8432899" cy="46136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355550" y="3033117"/>
            <a:ext cx="8432899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5550" y="2576513"/>
            <a:ext cx="2202231" cy="451842"/>
          </a:xfrm>
          <a:prstGeom prst="rect">
            <a:avLst/>
          </a:prstGeom>
          <a:noFill/>
          <a:ln/>
        </p:spPr>
        <p:txBody>
          <a:bodyPr wrap="square" lIns="101600" tIns="88900" rIns="101600" bIns="8890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6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514600" y="2576513"/>
            <a:ext cx="3000116" cy="451842"/>
          </a:xfrm>
          <a:prstGeom prst="rect">
            <a:avLst/>
          </a:prstGeom>
          <a:noFill/>
          <a:ln/>
        </p:spPr>
        <p:txBody>
          <a:bodyPr wrap="square" lIns="101600" tIns="88900" rIns="101600" bIns="8890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Items on shelves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455890" y="2576513"/>
            <a:ext cx="3399211" cy="451842"/>
          </a:xfrm>
          <a:prstGeom prst="rect">
            <a:avLst/>
          </a:prstGeom>
          <a:noFill/>
          <a:ln/>
        </p:spPr>
        <p:txBody>
          <a:bodyPr wrap="square" lIns="101600" tIns="88900" rIns="101600" bIns="8890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actual documents and data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55550" y="3037880"/>
            <a:ext cx="8432899" cy="461367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355550" y="3494484"/>
            <a:ext cx="8432899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55550" y="3037880"/>
            <a:ext cx="2202231" cy="451842"/>
          </a:xfrm>
          <a:prstGeom prst="rect">
            <a:avLst/>
          </a:prstGeom>
          <a:noFill/>
          <a:ln/>
        </p:spPr>
        <p:txBody>
          <a:bodyPr wrap="square" lIns="101600" tIns="88900" rIns="101600" bIns="8890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6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Folders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2514600" y="3037880"/>
            <a:ext cx="3000116" cy="451842"/>
          </a:xfrm>
          <a:prstGeom prst="rect">
            <a:avLst/>
          </a:prstGeom>
          <a:noFill/>
          <a:ln/>
        </p:spPr>
        <p:txBody>
          <a:bodyPr wrap="square" lIns="101600" tIns="88900" rIns="101600" bIns="8890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Stalls and sections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455890" y="3037880"/>
            <a:ext cx="3399211" cy="451842"/>
          </a:xfrm>
          <a:prstGeom prst="rect">
            <a:avLst/>
          </a:prstGeom>
          <a:noFill/>
          <a:ln/>
        </p:spPr>
        <p:txBody>
          <a:bodyPr wrap="square" lIns="101600" tIns="88900" rIns="101600" bIns="8890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Organization by category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355550" y="3499247"/>
            <a:ext cx="8432899" cy="46136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hape 23"/>
          <p:cNvSpPr/>
          <p:nvPr/>
        </p:nvSpPr>
        <p:spPr>
          <a:xfrm>
            <a:off x="355550" y="3955852"/>
            <a:ext cx="8432899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55550" y="3499247"/>
            <a:ext cx="2202231" cy="451842"/>
          </a:xfrm>
          <a:prstGeom prst="rect">
            <a:avLst/>
          </a:prstGeom>
          <a:noFill/>
          <a:ln/>
        </p:spPr>
        <p:txBody>
          <a:bodyPr wrap="square" lIns="101600" tIns="88900" rIns="101600" bIns="8890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6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History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2514600" y="3499247"/>
            <a:ext cx="3000116" cy="451842"/>
          </a:xfrm>
          <a:prstGeom prst="rect">
            <a:avLst/>
          </a:prstGeom>
          <a:noFill/>
          <a:ln/>
        </p:spPr>
        <p:txBody>
          <a:bodyPr wrap="square" lIns="101600" tIns="88900" rIns="101600" bIns="8890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Logbook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5455890" y="3499247"/>
            <a:ext cx="3399211" cy="451842"/>
          </a:xfrm>
          <a:prstGeom prst="rect">
            <a:avLst/>
          </a:prstGeom>
          <a:noFill/>
          <a:ln/>
        </p:spPr>
        <p:txBody>
          <a:bodyPr wrap="square" lIns="101600" tIns="88900" rIns="101600" bIns="8890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 of every change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2825237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README File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README is the welcome sign for your repository.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It's the first thing anyone sees. A good README answers: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2034927"/>
            <a:ext cx="8432899" cy="1129308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this repository for?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inside?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do I use it?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55550" y="3329136"/>
            <a:ext cx="8432899" cy="904875"/>
          </a:xfrm>
          <a:prstGeom prst="rect">
            <a:avLst/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384125" y="3329136"/>
            <a:ext cx="0" cy="904875"/>
          </a:xfrm>
          <a:prstGeom prst="line">
            <a:avLst/>
          </a:prstGeom>
          <a:noFill/>
          <a:ln w="57150">
            <a:solidFill>
              <a:srgbClr val="4E9F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0401" y="3455938"/>
            <a:ext cx="8180755" cy="651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900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 of it as the sign on your barn door that tells visitors what they'll find inside.</a:t>
            </a:r>
            <a:endParaRPr lang="en-US" sz="1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489630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Demo: A Farm Repository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42851"/>
            <a:ext cx="8432899" cy="644426"/>
          </a:xfrm>
          <a:prstGeom prst="roundRect">
            <a:avLst>
              <a:gd name="adj" fmla="val 15766"/>
            </a:avLst>
          </a:prstGeom>
          <a:solidFill>
            <a:srgbClr val="F4F1DE"/>
          </a:solidFill>
          <a:ln w="19050">
            <a:solidFill>
              <a:srgbClr val="4E9F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23824" y="1288852"/>
            <a:ext cx="809635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Let's look at a real repository together.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355550" y="1926878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I'm going to show you: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55550" y="2379315"/>
            <a:ext cx="8432899" cy="1493044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repository name and description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README file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file list and folders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open and read a file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355550" y="4037261"/>
            <a:ext cx="8432899" cy="579239"/>
          </a:xfrm>
          <a:prstGeom prst="rect">
            <a:avLst/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384125" y="4037261"/>
            <a:ext cx="0" cy="579239"/>
          </a:xfrm>
          <a:prstGeom prst="line">
            <a:avLst/>
          </a:prstGeom>
          <a:noFill/>
          <a:ln w="57150">
            <a:solidFill>
              <a:srgbClr val="4E9F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0401" y="4164062"/>
            <a:ext cx="8180755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9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 watch for now — you'll try it yourself in a few minutes.</a:t>
            </a:r>
            <a:endParaRPr lang="en-US" sz="1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3817281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Navigating the Interface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areas of the GitHub page: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57189"/>
            <a:ext cx="8432899" cy="507950"/>
          </a:xfrm>
          <a:prstGeom prst="roundRect">
            <a:avLst>
              <a:gd name="adj" fmla="val 12501"/>
            </a:avLst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07950" y="1633389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25673" y="1665387"/>
            <a:ext cx="122506" cy="291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95"/>
              </a:lnSpc>
              <a:buNone/>
            </a:pPr>
            <a:r>
              <a:rPr lang="en-US" sz="17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90451" y="1665387"/>
            <a:ext cx="4290456" cy="291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95"/>
              </a:lnSpc>
              <a:buNone/>
            </a:pPr>
            <a:r>
              <a:rPr lang="en-US" sz="17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bar</a:t>
            </a:r>
            <a:pPr algn="l" indent="0" marL="0">
              <a:lnSpc>
                <a:spcPts val="2295"/>
              </a:lnSpc>
              <a:buNone/>
            </a:pPr>
            <a:r>
              <a:rPr lang="en-US" sz="17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search, notifications, your profile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55550" y="2141339"/>
            <a:ext cx="8432899" cy="507950"/>
          </a:xfrm>
          <a:prstGeom prst="roundRect">
            <a:avLst>
              <a:gd name="adj" fmla="val 12501"/>
            </a:avLst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507950" y="2217539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25673" y="2249537"/>
            <a:ext cx="122506" cy="291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95"/>
              </a:lnSpc>
              <a:buNone/>
            </a:pPr>
            <a:r>
              <a:rPr lang="en-US" sz="17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990451" y="2249537"/>
            <a:ext cx="4209696" cy="291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95"/>
              </a:lnSpc>
              <a:buNone/>
            </a:pPr>
            <a:r>
              <a:rPr lang="en-US" sz="17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Repository name</a:t>
            </a:r>
            <a:pPr algn="l" indent="0" marL="0">
              <a:lnSpc>
                <a:spcPts val="2295"/>
              </a:lnSpc>
              <a:buNone/>
            </a:pPr>
            <a:r>
              <a:rPr lang="en-US" sz="17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at the top of the page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55550" y="2725489"/>
            <a:ext cx="8432899" cy="507950"/>
          </a:xfrm>
          <a:prstGeom prst="roundRect">
            <a:avLst>
              <a:gd name="adj" fmla="val 12501"/>
            </a:avLst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507950" y="2801689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25673" y="2833688"/>
            <a:ext cx="122506" cy="291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95"/>
              </a:lnSpc>
              <a:buNone/>
            </a:pPr>
            <a:r>
              <a:rPr lang="en-US" sz="17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990451" y="2833688"/>
            <a:ext cx="4919231" cy="291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95"/>
              </a:lnSpc>
              <a:buNone/>
            </a:pPr>
            <a:r>
              <a:rPr lang="en-US" sz="17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 list</a:t>
            </a:r>
            <a:pPr algn="l" indent="0" marL="0">
              <a:lnSpc>
                <a:spcPts val="2295"/>
              </a:lnSpc>
              <a:buNone/>
            </a:pPr>
            <a:r>
              <a:rPr lang="en-US" sz="17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main area showing files and folders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355550" y="3309640"/>
            <a:ext cx="8432899" cy="507950"/>
          </a:xfrm>
          <a:prstGeom prst="roundRect">
            <a:avLst>
              <a:gd name="adj" fmla="val 12501"/>
            </a:avLst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07950" y="3385840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25673" y="3417838"/>
            <a:ext cx="122506" cy="291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95"/>
              </a:lnSpc>
              <a:buNone/>
            </a:pPr>
            <a:r>
              <a:rPr lang="en-US" sz="17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990451" y="3417838"/>
            <a:ext cx="3903202" cy="291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95"/>
              </a:lnSpc>
              <a:buNone/>
            </a:pPr>
            <a:r>
              <a:rPr lang="en-US" sz="17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README</a:t>
            </a:r>
            <a:pPr algn="l" indent="0" marL="0">
              <a:lnSpc>
                <a:spcPts val="2295"/>
              </a:lnSpc>
              <a:buNone/>
            </a:pPr>
            <a:r>
              <a:rPr lang="en-US" sz="17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displayed below the file list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355550" y="3893790"/>
            <a:ext cx="8432899" cy="507950"/>
          </a:xfrm>
          <a:prstGeom prst="roundRect">
            <a:avLst>
              <a:gd name="adj" fmla="val 12501"/>
            </a:avLst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507950" y="3969990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25673" y="4001988"/>
            <a:ext cx="122506" cy="291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95"/>
              </a:lnSpc>
              <a:buNone/>
            </a:pPr>
            <a:r>
              <a:rPr lang="en-US" sz="17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990451" y="4001988"/>
            <a:ext cx="4502679" cy="291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95"/>
              </a:lnSpc>
              <a:buNone/>
            </a:pPr>
            <a:r>
              <a:rPr lang="en-US" sz="17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About section</a:t>
            </a:r>
            <a:pPr algn="l" indent="0" marL="0">
              <a:lnSpc>
                <a:spcPts val="2295"/>
              </a:lnSpc>
              <a:buNone/>
            </a:pPr>
            <a:r>
              <a:rPr lang="en-US" sz="17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description on the right side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2320031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 a File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320552"/>
            <a:ext cx="8432899" cy="1783407"/>
          </a:xfrm>
          <a:prstGeom prst="roundRect">
            <a:avLst>
              <a:gd name="adj" fmla="val 8545"/>
            </a:avLst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85648" y="1676102"/>
            <a:ext cx="7772704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200"/>
              </a:spcAft>
              <a:buNone/>
            </a:pPr>
            <a:r>
              <a:rPr lang="en-US" sz="32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read a file, click its name.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85648" y="2295227"/>
            <a:ext cx="7772704" cy="376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97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22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That's it. One click.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355550" y="3421261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file opens and you can read it right in your browser. No download needed.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355550" y="3873698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go back to the file list, click the repository name at the top.</a:t>
            </a:r>
            <a:endParaRPr lang="en-US" sz="1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1216259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Folders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Folders organize your files into categories.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601557" cy="651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a folder name to see what's inside. Just like opening a section of your barn.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2360563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farm repository folders: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55550" y="2851100"/>
            <a:ext cx="2012900" cy="1619548"/>
          </a:xfrm>
          <a:prstGeom prst="roundRect">
            <a:avLst>
              <a:gd name="adj" fmla="val 4705"/>
            </a:avLst>
          </a:prstGeom>
          <a:solidFill>
            <a:srgbClr val="F4F1DE"/>
          </a:solidFill>
          <a:ln w="19050">
            <a:solidFill>
              <a:srgbClr val="4E9F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510300" y="2996952"/>
            <a:ext cx="1703400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6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crops/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510300" y="3347889"/>
            <a:ext cx="1703400" cy="976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6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Planting schedules, crop records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2495401" y="2851100"/>
            <a:ext cx="2013049" cy="1619548"/>
          </a:xfrm>
          <a:prstGeom prst="roundRect">
            <a:avLst>
              <a:gd name="adj" fmla="val 4705"/>
            </a:avLst>
          </a:prstGeom>
          <a:solidFill>
            <a:srgbClr val="F4F1DE"/>
          </a:solidFill>
          <a:ln w="19050">
            <a:solidFill>
              <a:srgbClr val="4E9F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650150" y="2996952"/>
            <a:ext cx="1703552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6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equipment/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2650150" y="3347889"/>
            <a:ext cx="1703552" cy="651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6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Maintenance logs, manuals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4635401" y="2851100"/>
            <a:ext cx="2013049" cy="1619548"/>
          </a:xfrm>
          <a:prstGeom prst="roundRect">
            <a:avLst>
              <a:gd name="adj" fmla="val 4705"/>
            </a:avLst>
          </a:prstGeom>
          <a:solidFill>
            <a:srgbClr val="F4F1DE"/>
          </a:solidFill>
          <a:ln w="19050">
            <a:solidFill>
              <a:srgbClr val="4E9F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790149" y="2996952"/>
            <a:ext cx="1703552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6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livestock/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4790149" y="3347889"/>
            <a:ext cx="1703552" cy="976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6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records, feeding schedules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6775400" y="2851100"/>
            <a:ext cx="2013049" cy="1619548"/>
          </a:xfrm>
          <a:prstGeom prst="roundRect">
            <a:avLst>
              <a:gd name="adj" fmla="val 4705"/>
            </a:avLst>
          </a:prstGeom>
          <a:solidFill>
            <a:srgbClr val="F4F1DE"/>
          </a:solidFill>
          <a:ln w="19050">
            <a:solidFill>
              <a:srgbClr val="4E9F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930149" y="2996952"/>
            <a:ext cx="1703552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6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compliance/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6930149" y="3347889"/>
            <a:ext cx="1703552" cy="976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6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Grant documents, certifications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462139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Guided Practice Introduction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42851"/>
            <a:ext cx="8432899" cy="1060847"/>
          </a:xfrm>
          <a:prstGeom prst="roundRect">
            <a:avLst>
              <a:gd name="adj" fmla="val 9577"/>
            </a:avLst>
          </a:prstGeom>
          <a:solidFill>
            <a:srgbClr val="4E9F3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04393" y="1295251"/>
            <a:ext cx="8135213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it's your turn!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04393" y="1717477"/>
            <a:ext cx="8135213" cy="3085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800" dirty="0">
                <a:solidFill>
                  <a:srgbClr val="E8F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and your partner will explore the sample farm repository together.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55550" y="2343299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I'll walk you through each step. Follow along on your screen.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355550" y="2795736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 get stuck: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355550" y="3248174"/>
            <a:ext cx="8432899" cy="765572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partner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Raise your hand — I'll come to you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355550" y="4178647"/>
            <a:ext cx="8432899" cy="562124"/>
          </a:xfrm>
          <a:prstGeom prst="rect">
            <a:avLst/>
          </a:prstGeom>
          <a:solidFill>
            <a:srgbClr val="FFF8E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384125" y="4178647"/>
            <a:ext cx="0" cy="562124"/>
          </a:xfrm>
          <a:prstGeom prst="line">
            <a:avLst/>
          </a:prstGeom>
          <a:noFill/>
          <a:ln w="57150">
            <a:solidFill>
              <a:srgbClr val="F9A82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0401" y="4305449"/>
            <a:ext cx="8180755" cy="3085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5D40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 is no wrong way to click. You cannot break anything.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3574545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Guided Practice Steps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 along with me: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69839"/>
            <a:ext cx="8432899" cy="1637705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340"/>
              </a:lnSpc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your browser (Chrome, Safari, or Firefox)</a:t>
            </a:r>
            <a:endParaRPr lang="en-US" sz="1800" dirty="0"/>
          </a:p>
          <a:p>
            <a:pPr algn="l" marL="165100" indent="-165100">
              <a:lnSpc>
                <a:spcPts val="2340"/>
              </a:lnSpc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to: </a:t>
            </a:r>
            <a:pPr algn="l" indent="0" marL="0">
              <a:lnSpc>
                <a:spcPts val="2340"/>
              </a:lnSpc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[demo repository URL]</a:t>
            </a:r>
            <a:endParaRPr lang="en-US" sz="1800" dirty="0"/>
          </a:p>
          <a:p>
            <a:pPr algn="l" marL="165100" indent="-165100">
              <a:lnSpc>
                <a:spcPts val="2340"/>
              </a:lnSpc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the README — what does it say?</a:t>
            </a:r>
            <a:endParaRPr lang="en-US" sz="1800" dirty="0"/>
          </a:p>
          <a:p>
            <a:pPr algn="l" marL="165100" indent="-165100">
              <a:lnSpc>
                <a:spcPts val="2340"/>
              </a:lnSpc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the </a:t>
            </a:r>
            <a:pPr algn="l" indent="0" marL="0">
              <a:lnSpc>
                <a:spcPts val="2340"/>
              </a:lnSpc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crops/</a:t>
            </a:r>
            <a:pPr algn="l" indent="0" marL="0">
              <a:lnSpc>
                <a:spcPts val="2340"/>
              </a:lnSpc>
              <a:spcAft>
                <a:spcPts val="300"/>
              </a:spcAft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folder — click to open it</a:t>
            </a:r>
            <a:endParaRPr lang="en-US" sz="1800" dirty="0"/>
          </a:p>
          <a:p>
            <a:pPr algn="l" marL="165100" indent="-165100">
              <a:lnSpc>
                <a:spcPts val="2340"/>
              </a:lnSpc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</a:t>
            </a:r>
            <a:pPr algn="l" indent="0" marL="0">
              <a:lnSpc>
                <a:spcPts val="2340"/>
              </a:lnSpc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planting-schedule.md</a:t>
            </a:r>
            <a:pPr algn="l" indent="0" marL="0">
              <a:lnSpc>
                <a:spcPts val="2340"/>
              </a:lnSpc>
              <a:spcAft>
                <a:spcPts val="300"/>
              </a:spcAft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click to read it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55550" y="3359795"/>
            <a:ext cx="8432899" cy="549622"/>
          </a:xfrm>
          <a:prstGeom prst="roundRect">
            <a:avLst>
              <a:gd name="adj" fmla="val 13864"/>
            </a:avLst>
          </a:prstGeom>
          <a:solidFill>
            <a:srgbClr val="E8F5E9"/>
          </a:solidFill>
          <a:ln w="19050">
            <a:solidFill>
              <a:srgbClr val="4E9F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71907" y="3480346"/>
            <a:ext cx="8200186" cy="3085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Checkpoint:</a:t>
            </a:r>
            <a:pPr algn="ctr" indent="0" marL="0">
              <a:lnSpc>
                <a:spcPts val="2430"/>
              </a:lnSpc>
              <a:buNone/>
            </a:pPr>
            <a:r>
              <a:rPr lang="en-US" sz="1800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You should see a table with crop names and dates.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468363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Understanding What You See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Let's talk about what you just did.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You: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2009626"/>
            <a:ext cx="8432899" cy="460921"/>
          </a:xfrm>
          <a:prstGeom prst="roundRect">
            <a:avLst>
              <a:gd name="adj" fmla="val 13777"/>
            </a:avLst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7950" y="2087612"/>
            <a:ext cx="330101" cy="304800"/>
          </a:xfrm>
          <a:prstGeom prst="roundRect">
            <a:avLst>
              <a:gd name="adj" fmla="val 300000"/>
            </a:avLst>
          </a:prstGeom>
          <a:solidFill>
            <a:srgbClr val="4E9F3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585639" y="2085826"/>
            <a:ext cx="178219" cy="3085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65002" y="2085826"/>
            <a:ext cx="3382816" cy="3085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Navigated to a GitHub repository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55550" y="2546747"/>
            <a:ext cx="8432899" cy="460921"/>
          </a:xfrm>
          <a:prstGeom prst="roundRect">
            <a:avLst>
              <a:gd name="adj" fmla="val 13777"/>
            </a:avLst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07950" y="2624733"/>
            <a:ext cx="330101" cy="304800"/>
          </a:xfrm>
          <a:prstGeom prst="roundRect">
            <a:avLst>
              <a:gd name="adj" fmla="val 300000"/>
            </a:avLst>
          </a:prstGeom>
          <a:solidFill>
            <a:srgbClr val="4E9F3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585639" y="2622947"/>
            <a:ext cx="178219" cy="3085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65002" y="2622947"/>
            <a:ext cx="4704883" cy="3085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README to understand its purpose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55550" y="3083868"/>
            <a:ext cx="8432899" cy="460921"/>
          </a:xfrm>
          <a:prstGeom prst="roundRect">
            <a:avLst>
              <a:gd name="adj" fmla="val 13777"/>
            </a:avLst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07950" y="3161854"/>
            <a:ext cx="330101" cy="304800"/>
          </a:xfrm>
          <a:prstGeom prst="roundRect">
            <a:avLst>
              <a:gd name="adj" fmla="val 300000"/>
            </a:avLst>
          </a:prstGeom>
          <a:solidFill>
            <a:srgbClr val="4E9F3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585639" y="3160068"/>
            <a:ext cx="178219" cy="3085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65002" y="3160068"/>
            <a:ext cx="2981748" cy="3085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 a folder and opened it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355550" y="3620988"/>
            <a:ext cx="8432899" cy="460921"/>
          </a:xfrm>
          <a:prstGeom prst="roundRect">
            <a:avLst>
              <a:gd name="adj" fmla="val 13777"/>
            </a:avLst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07950" y="3698974"/>
            <a:ext cx="330101" cy="304800"/>
          </a:xfrm>
          <a:prstGeom prst="roundRect">
            <a:avLst>
              <a:gd name="adj" fmla="val 300000"/>
            </a:avLst>
          </a:prstGeom>
          <a:solidFill>
            <a:srgbClr val="4E9F3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585639" y="3697188"/>
            <a:ext cx="178219" cy="3085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965002" y="3697188"/>
            <a:ext cx="3097575" cy="3085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a file with real farm data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355550" y="4183410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That's the foundation of everything we'll learn.</a:t>
            </a:r>
            <a:endParaRPr lang="en-US" sz="1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3643161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Vocabulary So Far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42851"/>
            <a:ext cx="8432899" cy="426541"/>
          </a:xfrm>
          <a:prstGeom prst="roundRect">
            <a:avLst>
              <a:gd name="adj" fmla="val 11910"/>
            </a:avLst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355550" y="1142851"/>
            <a:ext cx="2281928" cy="426541"/>
          </a:xfrm>
          <a:prstGeom prst="rect">
            <a:avLst/>
          </a:prstGeom>
          <a:noFill/>
          <a:ln/>
        </p:spPr>
        <p:txBody>
          <a:bodyPr wrap="square" lIns="101600" tIns="76200" rIns="101600" bIns="7620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Term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592735" y="1142851"/>
            <a:ext cx="2601173" cy="426541"/>
          </a:xfrm>
          <a:prstGeom prst="rect">
            <a:avLst/>
          </a:prstGeom>
          <a:noFill/>
          <a:ln/>
        </p:spPr>
        <p:txBody>
          <a:bodyPr wrap="square" lIns="101600" tIns="76200" rIns="101600" bIns="7620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Farm Analogy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142905" y="1142851"/>
            <a:ext cx="3718456" cy="426541"/>
          </a:xfrm>
          <a:prstGeom prst="rect">
            <a:avLst/>
          </a:prstGeom>
          <a:noFill/>
          <a:ln/>
        </p:spPr>
        <p:txBody>
          <a:bodyPr wrap="square" lIns="101600" tIns="76200" rIns="101600" bIns="7620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Meaning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55550" y="1569393"/>
            <a:ext cx="8432899" cy="393502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355550" y="1958132"/>
            <a:ext cx="8432899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5550" y="1569393"/>
            <a:ext cx="2281928" cy="383977"/>
          </a:xfrm>
          <a:prstGeom prst="rect">
            <a:avLst/>
          </a:prstGeom>
          <a:noFill/>
          <a:ln/>
        </p:spPr>
        <p:txBody>
          <a:bodyPr wrap="square" lIns="101600" tIns="63500" rIns="101600" bIns="6350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Repository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592735" y="1569393"/>
            <a:ext cx="2601173" cy="383977"/>
          </a:xfrm>
          <a:prstGeom prst="rect">
            <a:avLst/>
          </a:prstGeom>
          <a:noFill/>
          <a:ln/>
        </p:spPr>
        <p:txBody>
          <a:bodyPr wrap="square" lIns="101600" tIns="63500" rIns="101600" bIns="6350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Barn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142905" y="1569393"/>
            <a:ext cx="3718456" cy="383977"/>
          </a:xfrm>
          <a:prstGeom prst="rect">
            <a:avLst/>
          </a:prstGeom>
          <a:noFill/>
          <a:ln/>
        </p:spPr>
        <p:txBody>
          <a:bodyPr wrap="square" lIns="101600" tIns="63500" rIns="101600" bIns="6350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 for all your farm's files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55550" y="1962894"/>
            <a:ext cx="8432899" cy="39350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355550" y="2351633"/>
            <a:ext cx="8432899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5550" y="1962894"/>
            <a:ext cx="2281928" cy="383977"/>
          </a:xfrm>
          <a:prstGeom prst="rect">
            <a:avLst/>
          </a:prstGeom>
          <a:noFill/>
          <a:ln/>
        </p:spPr>
        <p:txBody>
          <a:bodyPr wrap="square" lIns="101600" tIns="63500" rIns="101600" bIns="6350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README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2592735" y="1962894"/>
            <a:ext cx="2601173" cy="383977"/>
          </a:xfrm>
          <a:prstGeom prst="rect">
            <a:avLst/>
          </a:prstGeom>
          <a:noFill/>
          <a:ln/>
        </p:spPr>
        <p:txBody>
          <a:bodyPr wrap="square" lIns="101600" tIns="63500" rIns="101600" bIns="6350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Barn door sign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142905" y="1962894"/>
            <a:ext cx="3718456" cy="383977"/>
          </a:xfrm>
          <a:prstGeom prst="rect">
            <a:avLst/>
          </a:prstGeom>
          <a:noFill/>
          <a:ln/>
        </p:spPr>
        <p:txBody>
          <a:bodyPr wrap="square" lIns="101600" tIns="63500" rIns="101600" bIns="6350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Explains what's inside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55550" y="2356396"/>
            <a:ext cx="8432899" cy="393502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355550" y="2745135"/>
            <a:ext cx="8432899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5550" y="2356396"/>
            <a:ext cx="2281928" cy="383977"/>
          </a:xfrm>
          <a:prstGeom prst="rect">
            <a:avLst/>
          </a:prstGeom>
          <a:noFill/>
          <a:ln/>
        </p:spPr>
        <p:txBody>
          <a:bodyPr wrap="square" lIns="101600" tIns="63500" rIns="101600" bIns="6350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2592735" y="2356396"/>
            <a:ext cx="2601173" cy="383977"/>
          </a:xfrm>
          <a:prstGeom prst="rect">
            <a:avLst/>
          </a:prstGeom>
          <a:noFill/>
          <a:ln/>
        </p:spPr>
        <p:txBody>
          <a:bodyPr wrap="square" lIns="101600" tIns="63500" rIns="101600" bIns="6350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Item on a shelf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142905" y="2356396"/>
            <a:ext cx="3718456" cy="383977"/>
          </a:xfrm>
          <a:prstGeom prst="rect">
            <a:avLst/>
          </a:prstGeom>
          <a:noFill/>
          <a:ln/>
        </p:spPr>
        <p:txBody>
          <a:bodyPr wrap="square" lIns="101600" tIns="63500" rIns="101600" bIns="6350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document or record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55550" y="2749897"/>
            <a:ext cx="8432899" cy="39350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Shape 22"/>
          <p:cNvSpPr/>
          <p:nvPr/>
        </p:nvSpPr>
        <p:spPr>
          <a:xfrm>
            <a:off x="355550" y="3138636"/>
            <a:ext cx="8432899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55550" y="2749897"/>
            <a:ext cx="2281928" cy="383977"/>
          </a:xfrm>
          <a:prstGeom prst="rect">
            <a:avLst/>
          </a:prstGeom>
          <a:noFill/>
          <a:ln/>
        </p:spPr>
        <p:txBody>
          <a:bodyPr wrap="square" lIns="101600" tIns="63500" rIns="101600" bIns="6350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Folder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2592735" y="2749897"/>
            <a:ext cx="2601173" cy="383977"/>
          </a:xfrm>
          <a:prstGeom prst="rect">
            <a:avLst/>
          </a:prstGeom>
          <a:noFill/>
          <a:ln/>
        </p:spPr>
        <p:txBody>
          <a:bodyPr wrap="square" lIns="101600" tIns="63500" rIns="101600" bIns="6350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Stall or section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5142905" y="2749897"/>
            <a:ext cx="3718456" cy="383977"/>
          </a:xfrm>
          <a:prstGeom prst="rect">
            <a:avLst/>
          </a:prstGeom>
          <a:noFill/>
          <a:ln/>
        </p:spPr>
        <p:txBody>
          <a:bodyPr wrap="square" lIns="101600" tIns="63500" rIns="101600" bIns="6350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Organizes files by category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355550" y="3321100"/>
            <a:ext cx="8432899" cy="511522"/>
          </a:xfrm>
          <a:prstGeom prst="rect">
            <a:avLst/>
          </a:prstGeom>
          <a:solidFill>
            <a:srgbClr val="FFF8E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Shape 27"/>
          <p:cNvSpPr/>
          <p:nvPr/>
        </p:nvSpPr>
        <p:spPr>
          <a:xfrm>
            <a:off x="384125" y="3321100"/>
            <a:ext cx="0" cy="511522"/>
          </a:xfrm>
          <a:prstGeom prst="line">
            <a:avLst/>
          </a:prstGeom>
          <a:noFill/>
          <a:ln w="57150">
            <a:solidFill>
              <a:srgbClr val="F9A82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5100" y="3422600"/>
            <a:ext cx="8232368" cy="3085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b="1" dirty="0">
                <a:solidFill>
                  <a:srgbClr val="5D40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Don't memorize these</a:t>
            </a:r>
            <a:pPr algn="l" indent="0" marL="0">
              <a:lnSpc>
                <a:spcPts val="2430"/>
              </a:lnSpc>
              <a:buNone/>
            </a:pPr>
            <a:r>
              <a:rPr lang="en-US" sz="1800" dirty="0">
                <a:solidFill>
                  <a:srgbClr val="5D40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you'll get a cheat sheet to take home!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9801" y="705296"/>
            <a:ext cx="2784250" cy="581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400"/>
              </a:spcAft>
              <a:buNone/>
            </a:pPr>
            <a:r>
              <a:rPr lang="en-US" sz="40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 Time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3378101" y="1845022"/>
            <a:ext cx="2387798" cy="758726"/>
          </a:xfrm>
          <a:prstGeom prst="roundRect">
            <a:avLst>
              <a:gd name="adj" fmla="val 20086"/>
            </a:avLst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3768650" y="2048173"/>
            <a:ext cx="160670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Minutes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288948" y="2959150"/>
            <a:ext cx="256595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800"/>
              </a:spcBef>
              <a:spcAft>
                <a:spcPts val="800"/>
              </a:spcAft>
              <a:buNone/>
            </a:pPr>
            <a:r>
              <a:rPr lang="en-US" sz="22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Stretch, grab a drink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178129" y="3486001"/>
            <a:ext cx="2787741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800"/>
              </a:spcBef>
              <a:spcAft>
                <a:spcPts val="800"/>
              </a:spcAft>
              <a:buNone/>
            </a:pPr>
            <a:r>
              <a:rPr lang="en-US" sz="22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me any questions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2584118" y="4012853"/>
            <a:ext cx="397576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800"/>
              </a:spcBef>
              <a:spcAft>
                <a:spcPts val="800"/>
              </a:spcAft>
              <a:buNone/>
            </a:pPr>
            <a:r>
              <a:rPr lang="en-US" sz="22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Help your partner if they need it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483923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Creating Your GitHub Account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68152"/>
            <a:ext cx="8432899" cy="676275"/>
          </a:xfrm>
          <a:prstGeom prst="roundRect">
            <a:avLst>
              <a:gd name="adj" fmla="val 15024"/>
            </a:avLst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04393" y="1320552"/>
            <a:ext cx="8135213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Let's set up your own GitHub account.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355550" y="2009329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You'll need: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55550" y="2461766"/>
            <a:ext cx="8432899" cy="765572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email address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password (write it down somewhere safe!)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355550" y="3354139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I'll walk you through every step.</a:t>
            </a:r>
            <a:endParaRPr lang="en-US" sz="1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3816977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 Creation Steps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17402"/>
            <a:ext cx="8432899" cy="2553593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340"/>
              </a:lnSpc>
              <a:spcAft>
                <a:spcPts val="2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to </a:t>
            </a:r>
            <a:pPr algn="l" indent="0" marL="0">
              <a:lnSpc>
                <a:spcPts val="2340"/>
              </a:lnSpc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</a:t>
            </a:r>
            <a:endParaRPr lang="en-US" sz="1800" dirty="0"/>
          </a:p>
          <a:p>
            <a:pPr algn="l" marL="165100" indent="-165100">
              <a:lnSpc>
                <a:spcPts val="2340"/>
              </a:lnSpc>
              <a:spcAft>
                <a:spcPts val="2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</a:t>
            </a:r>
            <a:pPr algn="l" indent="0" marL="0">
              <a:lnSpc>
                <a:spcPts val="2340"/>
              </a:lnSpc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"Sign up"</a:t>
            </a:r>
            <a:pPr algn="l" indent="0" marL="0">
              <a:lnSpc>
                <a:spcPts val="2340"/>
              </a:lnSpc>
              <a:spcAft>
                <a:spcPts val="200"/>
              </a:spcAft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(top right)</a:t>
            </a:r>
            <a:endParaRPr lang="en-US" sz="1800" dirty="0"/>
          </a:p>
          <a:p>
            <a:pPr algn="l" marL="165100" indent="-165100">
              <a:lnSpc>
                <a:spcPts val="2340"/>
              </a:lnSpc>
              <a:spcAft>
                <a:spcPts val="2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 your email address</a:t>
            </a:r>
            <a:endParaRPr lang="en-US" sz="1800" dirty="0"/>
          </a:p>
          <a:p>
            <a:pPr algn="l" marL="165100" indent="-165100">
              <a:lnSpc>
                <a:spcPts val="2340"/>
              </a:lnSpc>
              <a:spcAft>
                <a:spcPts val="2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a password (8+ characters)</a:t>
            </a:r>
            <a:endParaRPr lang="en-US" sz="1800" dirty="0"/>
          </a:p>
          <a:p>
            <a:pPr algn="l" marL="165100" indent="-165100">
              <a:lnSpc>
                <a:spcPts val="2340"/>
              </a:lnSpc>
              <a:spcAft>
                <a:spcPts val="2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a username (your name or farm name works great)</a:t>
            </a:r>
            <a:endParaRPr lang="en-US" sz="1800" dirty="0"/>
          </a:p>
          <a:p>
            <a:pPr algn="l" marL="165100" indent="-165100">
              <a:lnSpc>
                <a:spcPts val="2340"/>
              </a:lnSpc>
              <a:spcAft>
                <a:spcPts val="2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the verification puzzle</a:t>
            </a:r>
            <a:endParaRPr lang="en-US" sz="1800" dirty="0"/>
          </a:p>
          <a:p>
            <a:pPr algn="l" marL="165100" indent="-165100">
              <a:lnSpc>
                <a:spcPts val="2340"/>
              </a:lnSpc>
              <a:spcAft>
                <a:spcPts val="2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your email for the verification code</a:t>
            </a:r>
            <a:endParaRPr lang="en-US" sz="1800" dirty="0"/>
          </a:p>
          <a:p>
            <a:pPr algn="l" marL="165100" indent="-165100">
              <a:lnSpc>
                <a:spcPts val="2340"/>
              </a:lnSpc>
              <a:spcAft>
                <a:spcPts val="2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 the code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355550" y="3823246"/>
            <a:ext cx="8432899" cy="549622"/>
          </a:xfrm>
          <a:prstGeom prst="roundRect">
            <a:avLst>
              <a:gd name="adj" fmla="val 13864"/>
            </a:avLst>
          </a:prstGeom>
          <a:solidFill>
            <a:srgbClr val="E8F5E9"/>
          </a:solidFill>
          <a:ln w="19050">
            <a:solidFill>
              <a:srgbClr val="4E9F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71907" y="3943796"/>
            <a:ext cx="8200186" cy="3085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Checkpoint:</a:t>
            </a:r>
            <a:pPr algn="ctr" indent="0" marL="0">
              <a:lnSpc>
                <a:spcPts val="2430"/>
              </a:lnSpc>
              <a:buNone/>
            </a:pPr>
            <a:r>
              <a:rPr lang="en-US" sz="1800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You should see your GitHub dashboard.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3673673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Customize Your Profile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GitHub feel like yours.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69839"/>
            <a:ext cx="8432899" cy="1770906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470"/>
              </a:lnSpc>
              <a:spcAft>
                <a:spcPts val="4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your profile icon (top right)</a:t>
            </a:r>
            <a:endParaRPr lang="en-US" sz="1900" dirty="0"/>
          </a:p>
          <a:p>
            <a:pPr algn="l" marL="165100" indent="-165100">
              <a:lnSpc>
                <a:spcPts val="2470"/>
              </a:lnSpc>
              <a:spcAft>
                <a:spcPts val="4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</a:t>
            </a:r>
            <a:pPr algn="l" indent="0" marL="0">
              <a:lnSpc>
                <a:spcPts val="2470"/>
              </a:lnSpc>
              <a:spcAft>
                <a:spcPts val="4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"Your profile"</a:t>
            </a:r>
            <a:endParaRPr lang="en-US" sz="1900" dirty="0"/>
          </a:p>
          <a:p>
            <a:pPr algn="l" marL="165100" indent="-165100">
              <a:lnSpc>
                <a:spcPts val="2470"/>
              </a:lnSpc>
              <a:spcAft>
                <a:spcPts val="4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</a:t>
            </a:r>
            <a:pPr algn="l" indent="0" marL="0">
              <a:lnSpc>
                <a:spcPts val="2470"/>
              </a:lnSpc>
              <a:spcAft>
                <a:spcPts val="4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"Edit profile"</a:t>
            </a:r>
            <a:endParaRPr lang="en-US" sz="1900" dirty="0"/>
          </a:p>
          <a:p>
            <a:pPr algn="l" marL="165100" indent="-165100">
              <a:lnSpc>
                <a:spcPts val="2470"/>
              </a:lnSpc>
              <a:spcAft>
                <a:spcPts val="4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your name (or farm name)</a:t>
            </a:r>
            <a:endParaRPr lang="en-US" sz="1900" dirty="0"/>
          </a:p>
          <a:p>
            <a:pPr algn="l" marL="165100" indent="-165100">
              <a:lnSpc>
                <a:spcPts val="2470"/>
              </a:lnSpc>
              <a:spcAft>
                <a:spcPts val="4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Optionally add a photo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3518446"/>
            <a:ext cx="8432899" cy="820043"/>
          </a:xfrm>
          <a:prstGeom prst="rect">
            <a:avLst/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384125" y="3518446"/>
            <a:ext cx="0" cy="820043"/>
          </a:xfrm>
          <a:prstGeom prst="line">
            <a:avLst/>
          </a:prstGeom>
          <a:noFill/>
          <a:ln w="57150">
            <a:solidFill>
              <a:srgbClr val="4E9F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0401" y="3619946"/>
            <a:ext cx="8180755" cy="6170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your GitHub identity. Other farmers in this group will see your name when you collaborate.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5463147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Independent Practice Introduction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42851"/>
            <a:ext cx="8432899" cy="1394222"/>
          </a:xfrm>
          <a:prstGeom prst="roundRect">
            <a:avLst>
              <a:gd name="adj" fmla="val 7287"/>
            </a:avLst>
          </a:prstGeom>
          <a:solidFill>
            <a:srgbClr val="4E9F3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04393" y="1295251"/>
            <a:ext cx="8135213" cy="704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challenge: Explore the farm repository on your own.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04393" y="2050852"/>
            <a:ext cx="8135213" cy="3085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800" dirty="0">
                <a:solidFill>
                  <a:srgbClr val="E8F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You'll have 30 minutes to complete the lab exercise.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55550" y="2676674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the farm scenario that interests you most: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355550" y="3192661"/>
            <a:ext cx="2726234" cy="1344811"/>
          </a:xfrm>
          <a:prstGeom prst="roundRect">
            <a:avLst>
              <a:gd name="adj" fmla="val 5666"/>
            </a:avLst>
          </a:prstGeom>
          <a:solidFill>
            <a:srgbClr val="F4F1DE"/>
          </a:solidFill>
          <a:ln w="19050">
            <a:solidFill>
              <a:srgbClr val="1E512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28974" y="3363962"/>
            <a:ext cx="237938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6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A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528974" y="3714899"/>
            <a:ext cx="237938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6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Crop farming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3208734" y="3192661"/>
            <a:ext cx="2726382" cy="1344811"/>
          </a:xfrm>
          <a:prstGeom prst="roundRect">
            <a:avLst>
              <a:gd name="adj" fmla="val 5666"/>
            </a:avLst>
          </a:prstGeom>
          <a:solidFill>
            <a:srgbClr val="F4F1DE"/>
          </a:solidFill>
          <a:ln w="19050">
            <a:solidFill>
              <a:srgbClr val="1E512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3382156" y="3363962"/>
            <a:ext cx="2379538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6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B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3382156" y="3714899"/>
            <a:ext cx="2379538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6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Livestock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6062067" y="3192661"/>
            <a:ext cx="2726382" cy="1344811"/>
          </a:xfrm>
          <a:prstGeom prst="roundRect">
            <a:avLst>
              <a:gd name="adj" fmla="val 5666"/>
            </a:avLst>
          </a:prstGeom>
          <a:solidFill>
            <a:srgbClr val="F4F1DE"/>
          </a:solidFill>
          <a:ln w="19050">
            <a:solidFill>
              <a:srgbClr val="1E512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235489" y="3363962"/>
            <a:ext cx="2379538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6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C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6235489" y="3714899"/>
            <a:ext cx="2379538" cy="651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6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Equipment &amp; maintenance</a:t>
            </a:r>
            <a:endParaRPr lang="en-US" sz="1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1627802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Reflection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we wrap up, think about this: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646039"/>
            <a:ext cx="8432899" cy="1269802"/>
          </a:xfrm>
          <a:prstGeom prst="roundRect">
            <a:avLst>
              <a:gd name="adj" fmla="val 8001"/>
            </a:avLst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09451" y="1899940"/>
            <a:ext cx="8083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20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one thing you learned today that surprised you?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09451" y="2319040"/>
            <a:ext cx="8083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20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one farm task you could see organizing in a GitHub repository?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55550" y="3169741"/>
            <a:ext cx="8432899" cy="579537"/>
          </a:xfrm>
          <a:prstGeom prst="roundRect">
            <a:avLst>
              <a:gd name="adj" fmla="val 13148"/>
            </a:avLst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52476" y="3296692"/>
            <a:ext cx="8239048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65"/>
              </a:lnSpc>
              <a:buNone/>
            </a:pPr>
            <a:r>
              <a:rPr lang="en-US" sz="19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to your partner and share your answers. (2 minutes)</a:t>
            </a:r>
            <a:endParaRPr lang="en-US" sz="1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1913802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Next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42851"/>
            <a:ext cx="8432899" cy="1041797"/>
          </a:xfrm>
          <a:prstGeom prst="roundRect">
            <a:avLst>
              <a:gd name="adj" fmla="val 9752"/>
            </a:avLst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04393" y="1295251"/>
            <a:ext cx="8135213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2: GitHub Issues for Task Tracking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04393" y="1698427"/>
            <a:ext cx="8135213" cy="3085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800" dirty="0">
                <a:solidFill>
                  <a:srgbClr val="A5D6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digital work orders for real farm tasks and track them to completion.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55550" y="2362349"/>
            <a:ext cx="8432899" cy="1690836"/>
          </a:xfrm>
          <a:prstGeom prst="roundRect">
            <a:avLst>
              <a:gd name="adj" fmla="val 4507"/>
            </a:avLst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533251" y="2540050"/>
            <a:ext cx="8239048" cy="3085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Between now and then (optional):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33251" y="2899321"/>
            <a:ext cx="8077498" cy="976164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430"/>
              </a:lnSpc>
              <a:spcAft>
                <a:spcPts val="2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 into your GitHub account from your phone</a:t>
            </a:r>
            <a:endParaRPr lang="en-US" sz="1800" dirty="0"/>
          </a:p>
          <a:p>
            <a:pPr algn="l" marL="165100" indent="-165100">
              <a:lnSpc>
                <a:spcPts val="2430"/>
              </a:lnSpc>
              <a:spcAft>
                <a:spcPts val="2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at the farm repository we explored today</a:t>
            </a:r>
            <a:endParaRPr lang="en-US" sz="1800" dirty="0"/>
          </a:p>
          <a:p>
            <a:pPr algn="l" marL="165100" indent="-165100">
              <a:lnSpc>
                <a:spcPts val="2430"/>
              </a:lnSpc>
              <a:spcAft>
                <a:spcPts val="200"/>
              </a:spcAft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 of 3 farm tasks you'd want to track digitally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E51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867083" y="541734"/>
            <a:ext cx="3409685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600"/>
              </a:spcAft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Feedback Survey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88628" y="1465511"/>
            <a:ext cx="7766596" cy="1384102"/>
          </a:xfrm>
          <a:prstGeom prst="roundRect">
            <a:avLst>
              <a:gd name="adj" fmla="val 9176"/>
            </a:avLst>
          </a:prstGeom>
          <a:solidFill>
            <a:srgbClr val="4E9F3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973623" y="1795611"/>
            <a:ext cx="719660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Please fill out this 2-minute survey before you leave.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73623" y="2195661"/>
            <a:ext cx="719660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feedback helps me make this training better for you.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936950" y="3306663"/>
            <a:ext cx="1269950" cy="38100"/>
          </a:xfrm>
          <a:prstGeom prst="rect">
            <a:avLst/>
          </a:prstGeom>
          <a:solidFill>
            <a:srgbClr val="A5D6A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2635125" y="3649414"/>
            <a:ext cx="3873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800"/>
              </a:spcBef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E8F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 for coming today.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2074663" y="4176266"/>
            <a:ext cx="499452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800"/>
              </a:spcBef>
              <a:spcAft>
                <a:spcPts val="800"/>
              </a:spcAft>
              <a:buNone/>
            </a:pPr>
            <a:r>
              <a:rPr lang="en-US" sz="2200" dirty="0">
                <a:solidFill>
                  <a:srgbClr val="E8F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just took your first step into GitHub!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1: Introduction to GitHub &amp; Repositories</dc:title>
  <dc:subject>GitHub Training for Farmers — Session 1 of 12</dc:subject>
  <dc:creator>GitHub4Farms Training</dc:creator>
  <cp:lastModifiedBy>GitHub4Farms Training</cp:lastModifiedBy>
  <cp:revision>1</cp:revision>
  <dcterms:created xsi:type="dcterms:W3CDTF">2026-01-30T06:50:40Z</dcterms:created>
  <dcterms:modified xsi:type="dcterms:W3CDTF">2026-01-30T06:50:40Z</dcterms:modified>
</cp:coreProperties>
</file>