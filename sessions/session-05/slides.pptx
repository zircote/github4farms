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51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1652" y="1470273"/>
            <a:ext cx="6880547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Notifications &amp; Team Communication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536817" y="2051149"/>
            <a:ext cx="607036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E8F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Staying Connected Without Information Overload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064050" y="2574875"/>
            <a:ext cx="1015901" cy="38100"/>
          </a:xfrm>
          <a:prstGeom prst="rect">
            <a:avLst/>
          </a:prstGeom>
          <a:solidFill>
            <a:srgbClr val="A5D6A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287884" y="3095327"/>
            <a:ext cx="256823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600" dirty="0">
                <a:solidFill>
                  <a:srgbClr val="A5D6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5 of 12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287884" y="3384203"/>
            <a:ext cx="256823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600" dirty="0">
                <a:solidFill>
                  <a:srgbClr val="A5D6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Training for Farmers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2370886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Welcome Back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Welcome to Session 5!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far you've learned to: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2034927"/>
            <a:ext cx="8432899" cy="1493044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Navigate repositories and files (Session 1)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tasks with Issues (Session 2)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Organize work with Projects (Session 3)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Collaborate with Pull Requests (Session 4)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55550" y="3692872"/>
            <a:ext cx="8432899" cy="904875"/>
          </a:xfrm>
          <a:prstGeom prst="rect">
            <a:avLst/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384125" y="3692872"/>
            <a:ext cx="0" cy="904875"/>
          </a:xfrm>
          <a:prstGeom prst="line">
            <a:avLst/>
          </a:prstGeom>
          <a:noFill/>
          <a:ln w="57150">
            <a:solidFill>
              <a:srgbClr val="4E9F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0401" y="3819674"/>
            <a:ext cx="8180755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you'll learn to </a:t>
            </a:r>
            <a:pPr algn="l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stay updated</a:t>
            </a:r>
            <a:pPr algn="l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 what's happening — without checking GitHub every five minutes.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530769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Matters for YOUR Farm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68152"/>
            <a:ext cx="8432899" cy="630882"/>
          </a:xfrm>
          <a:prstGeom prst="roundRect">
            <a:avLst>
              <a:gd name="adj" fmla="val 12078"/>
            </a:avLst>
          </a:prstGeom>
          <a:solidFill>
            <a:srgbClr val="4E9F3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78435" y="1295102"/>
            <a:ext cx="8187130" cy="376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97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Question: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55550" y="1963936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 you find out when something changes on your farm right now?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55550" y="2416373"/>
            <a:ext cx="8432899" cy="1129308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Someone calls or texts you?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notice it in person?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find out too late?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355550" y="3672483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i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 anyone ever missed an important update because nobody told them?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203964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Important updates get missed.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432899" cy="1493044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Someone closes an Issue and you don't know the task is done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Pull Request sits waiting for review because nobody saw it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teammate adds a comment to an Issue but you never check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check GitHub constantly "just in case" — that's exhausting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3240435"/>
            <a:ext cx="8432899" cy="904875"/>
          </a:xfrm>
          <a:prstGeom prst="rect">
            <a:avLst/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384125" y="3240435"/>
            <a:ext cx="0" cy="904875"/>
          </a:xfrm>
          <a:prstGeom prst="line">
            <a:avLst/>
          </a:prstGeom>
          <a:noFill/>
          <a:ln w="57150">
            <a:solidFill>
              <a:srgbClr val="4E9F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0401" y="3367236"/>
            <a:ext cx="8180755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if GitHub could tell you when something happens that matters to you?</a:t>
            </a:r>
            <a:endParaRPr lang="en-US" sz="1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6330104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Ways to Communicate on GitHub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has three built-in communication tools: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95289"/>
            <a:ext cx="2709267" cy="1448395"/>
          </a:xfrm>
          <a:prstGeom prst="roundRect">
            <a:avLst>
              <a:gd name="adj" fmla="val 5261"/>
            </a:avLst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355550" y="1619101"/>
            <a:ext cx="2709267" cy="0"/>
          </a:xfrm>
          <a:prstGeom prst="line">
            <a:avLst/>
          </a:prstGeom>
          <a:noFill/>
          <a:ln w="47625">
            <a:solidFill>
              <a:srgbClr val="4E9F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947" y="1769715"/>
            <a:ext cx="2504474" cy="274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6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947" y="2069157"/>
            <a:ext cx="2504474" cy="274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6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Notifications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947" y="2368600"/>
            <a:ext cx="2504474" cy="5482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6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tells you when something happens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217218" y="1595289"/>
            <a:ext cx="2709416" cy="1448395"/>
          </a:xfrm>
          <a:prstGeom prst="roundRect">
            <a:avLst>
              <a:gd name="adj" fmla="val 5261"/>
            </a:avLst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3217218" y="1619101"/>
            <a:ext cx="2709416" cy="0"/>
          </a:xfrm>
          <a:prstGeom prst="line">
            <a:avLst/>
          </a:prstGeom>
          <a:noFill/>
          <a:ln w="47625">
            <a:solidFill>
              <a:srgbClr val="4E9F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19613" y="1769715"/>
            <a:ext cx="2504626" cy="274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6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319613" y="2069157"/>
            <a:ext cx="2504626" cy="274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6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@mentions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319613" y="2368600"/>
            <a:ext cx="2504626" cy="5482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6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 a specific person to get their attention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079034" y="1595289"/>
            <a:ext cx="2709416" cy="1448395"/>
          </a:xfrm>
          <a:prstGeom prst="roundRect">
            <a:avLst>
              <a:gd name="adj" fmla="val 5261"/>
            </a:avLst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6079034" y="1619101"/>
            <a:ext cx="2709416" cy="0"/>
          </a:xfrm>
          <a:prstGeom prst="line">
            <a:avLst/>
          </a:prstGeom>
          <a:noFill/>
          <a:ln w="47625">
            <a:solidFill>
              <a:srgbClr val="4E9F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81429" y="1769715"/>
            <a:ext cx="2504626" cy="274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6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181429" y="2069157"/>
            <a:ext cx="2504626" cy="274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6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Discussions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181429" y="2368600"/>
            <a:ext cx="2504626" cy="5482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6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Forum-style space for questions and ideas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355550" y="3183285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one works differently. Today you'll learn when to use which.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5188077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Notifications: Your GitHub Inbox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Notifications = Automatic Updates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you 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repository, GitHub notifies you when: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2034927"/>
            <a:ext cx="8432899" cy="1129308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 Issue is created or someone comments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Pull Request is opened or merged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Someone @mentions you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55550" y="3291036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do notifications appear?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355550" y="3743474"/>
            <a:ext cx="8432899" cy="765572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Bell icon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(top right) — your notification inbox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GitHub can email you too (you choose)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3636026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Watching a Repository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08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start getting notifications, "watch" a repository: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355550" y="1565374"/>
            <a:ext cx="8432899" cy="1077962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430"/>
              </a:lnSpc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to the repository</a:t>
            </a:r>
            <a:endParaRPr lang="en-US" sz="1800" dirty="0"/>
          </a:p>
          <a:p>
            <a:pPr algn="l" marL="165100" indent="-165100">
              <a:lnSpc>
                <a:spcPts val="2430"/>
              </a:lnSpc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</a:t>
            </a:r>
            <a:pPr algn="l" indent="0" marL="0">
              <a:lnSpc>
                <a:spcPts val="2430"/>
              </a:lnSpc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"Watch"</a:t>
            </a:r>
            <a:pPr algn="l" indent="0" marL="0">
              <a:lnSpc>
                <a:spcPts val="2430"/>
              </a:lnSpc>
              <a:spcAft>
                <a:spcPts val="300"/>
              </a:spcAft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(top right, near Fork and Star)</a:t>
            </a:r>
            <a:endParaRPr lang="en-US" sz="1800" dirty="0"/>
          </a:p>
          <a:p>
            <a:pPr algn="l" marL="165100" indent="-165100">
              <a:lnSpc>
                <a:spcPts val="2430"/>
              </a:lnSpc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your level: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55550" y="2770138"/>
            <a:ext cx="8432899" cy="1424583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430"/>
              </a:lnSpc>
              <a:spcAft>
                <a:spcPts val="300"/>
              </a:spcAft>
              <a:buSzPct val="100000"/>
              <a:buChar char="•"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Participating and @mentions</a:t>
            </a:r>
            <a:pPr algn="l" indent="0" marL="0">
              <a:lnSpc>
                <a:spcPts val="2430"/>
              </a:lnSpc>
              <a:spcAft>
                <a:spcPts val="300"/>
              </a:spcAft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Only when involved (default)</a:t>
            </a:r>
            <a:endParaRPr lang="en-US" sz="1800" dirty="0"/>
          </a:p>
          <a:p>
            <a:pPr algn="l" marL="165100" indent="-165100">
              <a:lnSpc>
                <a:spcPts val="2430"/>
              </a:lnSpc>
              <a:spcAft>
                <a:spcPts val="300"/>
              </a:spcAft>
              <a:buSzPct val="100000"/>
              <a:buChar char="•"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Activity</a:t>
            </a:r>
            <a:pPr algn="l" indent="0" marL="0">
              <a:lnSpc>
                <a:spcPts val="2430"/>
              </a:lnSpc>
              <a:spcAft>
                <a:spcPts val="300"/>
              </a:spcAft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Notified about everything</a:t>
            </a:r>
            <a:endParaRPr lang="en-US" sz="1800" dirty="0"/>
          </a:p>
          <a:p>
            <a:pPr algn="l" marL="165100" indent="-165100">
              <a:lnSpc>
                <a:spcPts val="2430"/>
              </a:lnSpc>
              <a:spcAft>
                <a:spcPts val="300"/>
              </a:spcAft>
              <a:buSzPct val="100000"/>
              <a:buChar char="•"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Ignore</a:t>
            </a:r>
            <a:pPr algn="l" indent="0" marL="0">
              <a:lnSpc>
                <a:spcPts val="2430"/>
              </a:lnSpc>
              <a:spcAft>
                <a:spcPts val="300"/>
              </a:spcAft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No notifications</a:t>
            </a:r>
            <a:endParaRPr lang="en-US" sz="1800" dirty="0"/>
          </a:p>
          <a:p>
            <a:pPr algn="l" marL="165100" indent="-165100">
              <a:lnSpc>
                <a:spcPts val="2430"/>
              </a:lnSpc>
              <a:spcAft>
                <a:spcPts val="300"/>
              </a:spcAft>
              <a:buSzPct val="100000"/>
              <a:buChar char="•"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</a:t>
            </a:r>
            <a:pPr algn="l" indent="0" marL="0">
              <a:lnSpc>
                <a:spcPts val="2430"/>
              </a:lnSpc>
              <a:spcAft>
                <a:spcPts val="300"/>
              </a:spcAft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Pick exactly what you want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55550" y="4321522"/>
            <a:ext cx="8601557" cy="308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Recommended:</a:t>
            </a:r>
            <a:pPr algn="l" indent="0" marL="0">
              <a:lnSpc>
                <a:spcPts val="2430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Start with "All Activity" on your main farm repo.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3678987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Notification Inbox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bell icon is your GitHub inbox.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the 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bell icon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(top right of any page) to see your notifications: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2034927"/>
            <a:ext cx="8432899" cy="1493044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Unread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notifications appear with a blue dot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a notification to go directly to the Issue, PR, or comment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"Done"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mark it as read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"Unsubscribe"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stop notifications for that specific thread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55550" y="3692872"/>
            <a:ext cx="8432899" cy="904875"/>
          </a:xfrm>
          <a:prstGeom prst="rect">
            <a:avLst/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384125" y="3692872"/>
            <a:ext cx="0" cy="904875"/>
          </a:xfrm>
          <a:prstGeom prst="line">
            <a:avLst/>
          </a:prstGeom>
          <a:noFill/>
          <a:ln w="57150">
            <a:solidFill>
              <a:srgbClr val="4E9F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0401" y="3819674"/>
            <a:ext cx="8180755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inbox groups notifications by repository</a:t>
            </a:r>
            <a:pPr algn="l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so you can see all farm updates together.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3031236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 Notifications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can also send notifications to your email.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check your email settings: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2034927"/>
            <a:ext cx="8432899" cy="1493044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your 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profile icon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(top right) then 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"Settings"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"Notifications"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the left menu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sure your email is listed under email preferences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what gets emailed vs. shown only on GitHub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55550" y="3692872"/>
            <a:ext cx="8432899" cy="904875"/>
          </a:xfrm>
          <a:prstGeom prst="rect">
            <a:avLst/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384125" y="3692872"/>
            <a:ext cx="0" cy="904875"/>
          </a:xfrm>
          <a:prstGeom prst="line">
            <a:avLst/>
          </a:prstGeom>
          <a:noFill/>
          <a:ln w="57150">
            <a:solidFill>
              <a:srgbClr val="4E9F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0401" y="3819674"/>
            <a:ext cx="8180755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Tip:</a:t>
            </a:r>
            <a:pPr algn="l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If you check email more than GitHub, turn on email notifications. Otherwise, turn email off to avoid a flooded inbox.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6644491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@mentions: Getting Someone's Attention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42851"/>
            <a:ext cx="8432899" cy="495300"/>
          </a:xfrm>
          <a:prstGeom prst="roundRect">
            <a:avLst>
              <a:gd name="adj" fmla="val 15385"/>
            </a:avLst>
          </a:prstGeom>
          <a:solidFill>
            <a:srgbClr val="4E9F3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78435" y="1219051"/>
            <a:ext cx="818713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@mention = Tapping someone on the shoulder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55550" y="17777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 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followed by their username in any comment: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55550" y="2268289"/>
            <a:ext cx="8432899" cy="579239"/>
          </a:xfrm>
          <a:prstGeom prst="rect">
            <a:avLst/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384125" y="2268289"/>
            <a:ext cx="0" cy="579239"/>
          </a:xfrm>
          <a:prstGeom prst="line">
            <a:avLst/>
          </a:prstGeom>
          <a:noFill/>
          <a:ln w="57150">
            <a:solidFill>
              <a:srgbClr val="4E9F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0401" y="2395091"/>
            <a:ext cx="8180755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"@maria Can you check the irrigation pump this week?"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355550" y="3012430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to use @mentions: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355550" y="3464868"/>
            <a:ext cx="8432899" cy="1129308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Assigning a task to someone in a comment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Asking a specific person a question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Letting someone know about a change that affects them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5361893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@mention Examples for the Farm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farm examples of @mentions: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3919240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Tip: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You can @mention more than one person in the same comment.</a:t>
            </a:r>
            <a:endParaRPr lang="en-US" sz="1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55550" y="1569839"/>
          <a:ext cx="8382000" cy="2286000"/>
        </p:xfrm>
        <a:graphic>
          <a:graphicData uri="http://schemas.openxmlformats.org/drawingml/2006/table">
            <a:tbl>
              <a:tblPr/>
              <a:tblGrid>
                <a:gridCol w="2286000"/>
                <a:gridCol w="59436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Situation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1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@mention Comment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12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Irrigation check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"@tom Pump in Field 2 making noise. Check before Friday?"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Vet visit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"@maria Vet confirmed Tuesday 9am, Herd B vaccinations."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Equipment order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"@allen Replacement nozzle ordered. Arrives Thursday."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Grant deadline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"@sarah EQIP report due June 15. Review draft this week?"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619940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Discussions: Your Farm Forum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17402"/>
            <a:ext cx="8432899" cy="478036"/>
          </a:xfrm>
          <a:prstGeom prst="roundRect">
            <a:avLst>
              <a:gd name="adj" fmla="val 15940"/>
            </a:avLst>
          </a:prstGeom>
          <a:solidFill>
            <a:srgbClr val="4E9F3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78435" y="1193602"/>
            <a:ext cx="8187130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65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Discussions = Bulletin Board for Your Farm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1709589"/>
            <a:ext cx="8601557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team can ask questions, share ideas, make announcements, and have conversations that don't belong in an Issue.</a:t>
            </a:r>
            <a:endParaRPr lang="en-US" sz="19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55550" y="2475012"/>
          <a:ext cx="8382000" cy="1905000"/>
        </p:xfrm>
        <a:graphic>
          <a:graphicData uri="http://schemas.openxmlformats.org/drawingml/2006/table">
            <a:tbl>
              <a:tblPr/>
              <a:tblGrid>
                <a:gridCol w="1828800"/>
                <a:gridCol w="3200400"/>
                <a:gridCol w="3200400"/>
              </a:tblGrid>
              <a:tr h="47625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1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Issue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1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Discussion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128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Purpose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A task to be done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A conversation to have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Outcome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Gets closed when done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Stays open for ongoing talk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Example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"Fix fence in north pasture"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"What cover crops work best?"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301286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Discussions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start a Discussion: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432899" cy="2220516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to your repository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the 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"Discussions"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tab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"New discussion"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a category: 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Q&amp;A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Ideas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or 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and tell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your question or topic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"Start discussion"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3967907"/>
            <a:ext cx="8432899" cy="579239"/>
          </a:xfrm>
          <a:prstGeom prst="rect">
            <a:avLst/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384125" y="3967907"/>
            <a:ext cx="0" cy="579239"/>
          </a:xfrm>
          <a:prstGeom prst="line">
            <a:avLst/>
          </a:prstGeom>
          <a:noFill/>
          <a:ln w="57150">
            <a:solidFill>
              <a:srgbClr val="4E9F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0401" y="4094708"/>
            <a:ext cx="8180755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reply:</a:t>
            </a:r>
            <a:pPr algn="l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Scroll to the bottom, type your response, click </a:t>
            </a:r>
            <a:pPr algn="l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"Comment"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4433456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to Use Which Method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the right tool for the situation:</a:t>
            </a:r>
            <a:endParaRPr lang="en-US" sz="19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55550" y="1569839"/>
          <a:ext cx="8382000" cy="2793950"/>
        </p:xfrm>
        <a:graphic>
          <a:graphicData uri="http://schemas.openxmlformats.org/drawingml/2006/table">
            <a:tbl>
              <a:tblPr/>
              <a:tblGrid>
                <a:gridCol w="2743200"/>
                <a:gridCol w="1828800"/>
                <a:gridCol w="3657600"/>
              </a:tblGrid>
              <a:tr h="3991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Situation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1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Best Tool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1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Why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128"/>
                    </a:solidFill>
                  </a:tcPr>
                </a:tc>
              </a:tr>
              <a:tr h="3991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"Fix the broken fence"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Issue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Task with a clear 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</a:tr>
              <a:tr h="3991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"Check irrigation pump"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@mention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Directing to a person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91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"Best cover crops?"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Discussion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Open-ended question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</a:tr>
              <a:tr h="3991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"Available Saturday?"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Discussion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Group coordination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91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"PR ready for review"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@mention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Reviewer's attention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</a:tr>
              <a:tr h="3991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Stay up to date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Watch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Automatic notifications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4801734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Managing Notification Volume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 many notifications? Here's how to manage them.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432899" cy="1493044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your Watch level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switch to "Participating and @mentions"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Unsubscribe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from specific threads you don't need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 notifications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show only Issues, PRs, or @mentions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Adjust email settings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turn off email for low-priority items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3240435"/>
            <a:ext cx="8432899" cy="904875"/>
          </a:xfrm>
          <a:prstGeom prst="rect">
            <a:avLst/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384125" y="3240435"/>
            <a:ext cx="0" cy="904875"/>
          </a:xfrm>
          <a:prstGeom prst="line">
            <a:avLst/>
          </a:prstGeom>
          <a:noFill/>
          <a:ln w="57150">
            <a:solidFill>
              <a:srgbClr val="4E9F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0401" y="3367236"/>
            <a:ext cx="8180755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more notifications, then trim down.</a:t>
            </a:r>
            <a:pPr algn="l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It's easier to turn things off than to miss something important.</a:t>
            </a:r>
            <a:endParaRPr lang="en-US" sz="1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170294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17402"/>
            <a:ext cx="8432899" cy="495300"/>
          </a:xfrm>
          <a:prstGeom prst="roundRect">
            <a:avLst>
              <a:gd name="adj" fmla="val 15385"/>
            </a:avLst>
          </a:prstGeom>
          <a:solidFill>
            <a:srgbClr val="4E9F3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78435" y="1193602"/>
            <a:ext cx="818713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me demonstrate all three communication tools.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55550" y="1726853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I'm going to: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55550" y="2179290"/>
            <a:ext cx="8432899" cy="1694408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430"/>
              </a:lnSpc>
              <a:spcAft>
                <a:spcPts val="200"/>
              </a:spcAft>
              <a:buSzPct val="100000"/>
              <a:buChar char="•"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</a:t>
            </a:r>
            <a:pPr algn="l" indent="0" marL="0">
              <a:lnSpc>
                <a:spcPts val="2430"/>
              </a:lnSpc>
              <a:spcAft>
                <a:spcPts val="200"/>
              </a:spcAft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demo farm repository (set to All Activity)</a:t>
            </a:r>
            <a:endParaRPr lang="en-US" sz="1800" dirty="0"/>
          </a:p>
          <a:p>
            <a:pPr algn="l" marL="165100" indent="-165100">
              <a:lnSpc>
                <a:spcPts val="2430"/>
              </a:lnSpc>
              <a:spcAft>
                <a:spcPts val="2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an Issue and </a:t>
            </a:r>
            <a:pPr algn="l" indent="0" marL="0">
              <a:lnSpc>
                <a:spcPts val="2430"/>
              </a:lnSpc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@mention</a:t>
            </a:r>
            <a:pPr algn="l" indent="0" marL="0">
              <a:lnSpc>
                <a:spcPts val="2430"/>
              </a:lnSpc>
              <a:spcAft>
                <a:spcPts val="200"/>
              </a:spcAft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someone in a comment</a:t>
            </a:r>
            <a:endParaRPr lang="en-US" sz="1800" dirty="0"/>
          </a:p>
          <a:p>
            <a:pPr algn="l" marL="165100" indent="-165100">
              <a:lnSpc>
                <a:spcPts val="2430"/>
              </a:lnSpc>
              <a:spcAft>
                <a:spcPts val="2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the </a:t>
            </a:r>
            <a:pPr algn="l" indent="0" marL="0">
              <a:lnSpc>
                <a:spcPts val="2430"/>
              </a:lnSpc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notification inbox</a:t>
            </a:r>
            <a:pPr algn="l" indent="0" marL="0">
              <a:lnSpc>
                <a:spcPts val="2430"/>
              </a:lnSpc>
              <a:spcAft>
                <a:spcPts val="200"/>
              </a:spcAft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@mention appears</a:t>
            </a:r>
            <a:endParaRPr lang="en-US" sz="1800" dirty="0"/>
          </a:p>
          <a:p>
            <a:pPr algn="l" marL="165100" indent="-165100">
              <a:lnSpc>
                <a:spcPts val="2430"/>
              </a:lnSpc>
              <a:spcAft>
                <a:spcPts val="2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 new </a:t>
            </a:r>
            <a:pPr algn="l" indent="0" marL="0">
              <a:lnSpc>
                <a:spcPts val="2430"/>
              </a:lnSpc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Discussion</a:t>
            </a:r>
            <a:pPr algn="l" indent="0" marL="0">
              <a:lnSpc>
                <a:spcPts val="2430"/>
              </a:lnSpc>
              <a:spcAft>
                <a:spcPts val="200"/>
              </a:spcAft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"What should we plant in Field 4?"</a:t>
            </a:r>
            <a:endParaRPr lang="en-US" sz="1800" dirty="0"/>
          </a:p>
          <a:p>
            <a:pPr algn="l" marL="165100" indent="-165100">
              <a:lnSpc>
                <a:spcPts val="2430"/>
              </a:lnSpc>
              <a:spcAft>
                <a:spcPts val="2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Reply to the Discussion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55550" y="4000500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 watch — you'll practice all of this next.</a:t>
            </a:r>
            <a:endParaRPr lang="en-US" sz="1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462139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Guided Practice Introduction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turn! Follow along with me.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and your partner will: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2034927"/>
            <a:ext cx="8432899" cy="1493044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the demo repository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@mention each other in Issue comments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your notification inbox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in a Discussion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55550" y="3692872"/>
            <a:ext cx="8432899" cy="904875"/>
          </a:xfrm>
          <a:prstGeom prst="rect">
            <a:avLst/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384125" y="3692872"/>
            <a:ext cx="0" cy="904875"/>
          </a:xfrm>
          <a:prstGeom prst="line">
            <a:avLst/>
          </a:prstGeom>
          <a:noFill/>
          <a:ln w="57150">
            <a:solidFill>
              <a:srgbClr val="4E9F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0401" y="3819674"/>
            <a:ext cx="8180755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I'll walk through each step. If you get stuck, ask your partner or raise your hand.</a:t>
            </a:r>
            <a:endParaRPr lang="en-US" sz="1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357454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Guided Practice Steps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091952"/>
            <a:ext cx="8601557" cy="308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1: Watch the repository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355550" y="1451074"/>
            <a:ext cx="8432899" cy="609451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250"/>
              </a:lnSpc>
              <a:spcAft>
                <a:spcPts val="1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to the demo farm repository</a:t>
            </a:r>
            <a:endParaRPr lang="en-US" sz="1800" dirty="0"/>
          </a:p>
          <a:p>
            <a:pPr algn="l" marL="165100" indent="-165100">
              <a:lnSpc>
                <a:spcPts val="2250"/>
              </a:lnSpc>
              <a:spcAft>
                <a:spcPts val="1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</a:t>
            </a:r>
            <a:pPr algn="l" indent="0" marL="0">
              <a:lnSpc>
                <a:spcPts val="2250"/>
              </a:lnSpc>
              <a:spcAft>
                <a:spcPts val="100"/>
              </a:spcAft>
              <a:buNone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"Watch"</a:t>
            </a:r>
            <a:pPr algn="l" indent="0" marL="0">
              <a:lnSpc>
                <a:spcPts val="2250"/>
              </a:lnSpc>
              <a:spcAft>
                <a:spcPts val="100"/>
              </a:spcAft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then select </a:t>
            </a:r>
            <a:pPr algn="l" indent="0" marL="0">
              <a:lnSpc>
                <a:spcPts val="2250"/>
              </a:lnSpc>
              <a:spcAft>
                <a:spcPts val="100"/>
              </a:spcAft>
              <a:buNone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"All Activity"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55550" y="2111127"/>
            <a:ext cx="8601557" cy="308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2: @mention your partner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55550" y="2470249"/>
            <a:ext cx="8432899" cy="907852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250"/>
              </a:lnSpc>
              <a:spcAft>
                <a:spcPts val="1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any existing Issue, scroll to the comment box</a:t>
            </a:r>
            <a:endParaRPr lang="en-US" sz="1800" dirty="0"/>
          </a:p>
          <a:p>
            <a:pPr algn="l" marL="165100" indent="-165100">
              <a:lnSpc>
                <a:spcPts val="2250"/>
              </a:lnSpc>
              <a:spcAft>
                <a:spcPts val="1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Type: "@[partner] What do you think about this task?"</a:t>
            </a:r>
            <a:endParaRPr lang="en-US" sz="1800" dirty="0"/>
          </a:p>
          <a:p>
            <a:pPr algn="l" marL="165100" indent="-165100">
              <a:lnSpc>
                <a:spcPts val="2250"/>
              </a:lnSpc>
              <a:spcAft>
                <a:spcPts val="1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</a:t>
            </a:r>
            <a:pPr algn="l" indent="0" marL="0">
              <a:lnSpc>
                <a:spcPts val="2250"/>
              </a:lnSpc>
              <a:spcAft>
                <a:spcPts val="100"/>
              </a:spcAft>
              <a:buNone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"Comment"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55550" y="3428702"/>
            <a:ext cx="8601557" cy="308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3: Check your notifications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55550" y="3787825"/>
            <a:ext cx="8432899" cy="311051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250"/>
              </a:lnSpc>
              <a:spcAft>
                <a:spcPts val="1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the </a:t>
            </a:r>
            <a:pPr algn="l" indent="0" marL="0">
              <a:lnSpc>
                <a:spcPts val="2250"/>
              </a:lnSpc>
              <a:spcAft>
                <a:spcPts val="100"/>
              </a:spcAft>
              <a:buNone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bell icon</a:t>
            </a:r>
            <a:pPr algn="l" indent="0" marL="0">
              <a:lnSpc>
                <a:spcPts val="2250"/>
              </a:lnSpc>
              <a:spcAft>
                <a:spcPts val="100"/>
              </a:spcAft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find your partner's notification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55550" y="4225677"/>
            <a:ext cx="8432899" cy="527745"/>
          </a:xfrm>
          <a:prstGeom prst="rect">
            <a:avLst/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384125" y="4225677"/>
            <a:ext cx="0" cy="527745"/>
          </a:xfrm>
          <a:prstGeom prst="line">
            <a:avLst/>
          </a:prstGeom>
          <a:noFill/>
          <a:ln w="57150">
            <a:solidFill>
              <a:srgbClr val="4E9F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0401" y="4352479"/>
            <a:ext cx="8180755" cy="274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Checkpoint:</a:t>
            </a:r>
            <a:pPr algn="l" indent="0" marL="0">
              <a:lnSpc>
                <a:spcPts val="216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600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Both partners should have a notification.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742844" y="1624161"/>
            <a:ext cx="1658163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3485839" y="2414588"/>
            <a:ext cx="217217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21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15 minutes.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374904" y="2846189"/>
            <a:ext cx="8394192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2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we come back, you'll practice using all three communication tools on your own!</a:t>
            </a:r>
            <a:endParaRPr lang="en-US" sz="2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340573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 Practice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challenge: Use all three communication tools.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432899" cy="1297335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430"/>
              </a:lnSpc>
              <a:spcAft>
                <a:spcPts val="100"/>
              </a:spcAft>
              <a:buSzPct val="100000"/>
              <a:buChar char="•"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 new Issue</a:t>
            </a:r>
            <a:pPr algn="l" indent="0" marL="0">
              <a:lnSpc>
                <a:spcPts val="2430"/>
              </a:lnSpc>
              <a:spcAft>
                <a:spcPts val="100"/>
              </a:spcAft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2430"/>
              </a:lnSpc>
              <a:spcAft>
                <a:spcPts val="100"/>
              </a:spcAft>
              <a:buNone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@mention a classmate</a:t>
            </a:r>
            <a:endParaRPr lang="en-US" sz="1800" dirty="0"/>
          </a:p>
          <a:p>
            <a:pPr algn="l" marL="165100" indent="-165100">
              <a:lnSpc>
                <a:spcPts val="2430"/>
              </a:lnSpc>
              <a:spcAft>
                <a:spcPts val="100"/>
              </a:spcAft>
              <a:buSzPct val="100000"/>
              <a:buChar char="•"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Reply to someone's @mention</a:t>
            </a:r>
            <a:endParaRPr lang="en-US" sz="1800" dirty="0"/>
          </a:p>
          <a:p>
            <a:pPr algn="l" marL="165100" indent="-165100">
              <a:lnSpc>
                <a:spcPts val="2430"/>
              </a:lnSpc>
              <a:spcAft>
                <a:spcPts val="100"/>
              </a:spcAft>
              <a:buSzPct val="100000"/>
              <a:buChar char="•"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a Discussion</a:t>
            </a:r>
            <a:pPr algn="l" indent="0" marL="0">
              <a:lnSpc>
                <a:spcPts val="2430"/>
              </a:lnSpc>
              <a:spcAft>
                <a:spcPts val="100"/>
              </a:spcAft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(or reply to one)</a:t>
            </a:r>
            <a:endParaRPr lang="en-US" sz="1800" dirty="0"/>
          </a:p>
          <a:p>
            <a:pPr algn="l" marL="165100" indent="-165100">
              <a:lnSpc>
                <a:spcPts val="2430"/>
              </a:lnSpc>
              <a:spcAft>
                <a:spcPts val="100"/>
              </a:spcAft>
              <a:buSzPct val="100000"/>
              <a:buChar char="•"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your notification inbox</a:t>
            </a:r>
            <a:pPr algn="l" indent="0" marL="0">
              <a:lnSpc>
                <a:spcPts val="2430"/>
              </a:lnSpc>
              <a:spcAft>
                <a:spcPts val="100"/>
              </a:spcAft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handle notifications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55550" y="3006626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your scenario: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55550" y="3446413"/>
            <a:ext cx="2743200" cy="789087"/>
          </a:xfrm>
          <a:prstGeom prst="roundRect">
            <a:avLst>
              <a:gd name="adj" fmla="val 9657"/>
            </a:avLst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355550" y="3465463"/>
            <a:ext cx="2743200" cy="0"/>
          </a:xfrm>
          <a:prstGeom prst="line">
            <a:avLst/>
          </a:prstGeom>
          <a:noFill/>
          <a:ln w="38100">
            <a:solidFill>
              <a:srgbClr val="4E9F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051" y="3573214"/>
            <a:ext cx="2591002" cy="274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A: Crop Planning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051" y="3872657"/>
            <a:ext cx="2591002" cy="274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Discussion + planting Issue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200251" y="3446413"/>
            <a:ext cx="2743349" cy="789087"/>
          </a:xfrm>
          <a:prstGeom prst="roundRect">
            <a:avLst>
              <a:gd name="adj" fmla="val 9657"/>
            </a:avLst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3200251" y="3465463"/>
            <a:ext cx="2743349" cy="0"/>
          </a:xfrm>
          <a:prstGeom prst="line">
            <a:avLst/>
          </a:prstGeom>
          <a:noFill/>
          <a:ln w="38100">
            <a:solidFill>
              <a:srgbClr val="4E9F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01752" y="3573214"/>
            <a:ext cx="2591154" cy="274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B: Equipment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301752" y="3872657"/>
            <a:ext cx="2591154" cy="274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Discussion + repair Issue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045101" y="3446413"/>
            <a:ext cx="2743349" cy="789087"/>
          </a:xfrm>
          <a:prstGeom prst="roundRect">
            <a:avLst>
              <a:gd name="adj" fmla="val 9657"/>
            </a:avLst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6045101" y="3465463"/>
            <a:ext cx="2743349" cy="0"/>
          </a:xfrm>
          <a:prstGeom prst="line">
            <a:avLst/>
          </a:prstGeom>
          <a:noFill/>
          <a:ln w="38100">
            <a:solidFill>
              <a:srgbClr val="4E9F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46602" y="3573214"/>
            <a:ext cx="2591154" cy="274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C: Livestock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146602" y="3872657"/>
            <a:ext cx="2591154" cy="274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Discussion + vet visit Issue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3050363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Stretch Challenges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Finished early? Try these: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432899" cy="1818680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your Watch setting to 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"Custom"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pick specific notification types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to Settings then Notifications and explore your email preferences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@mention two people in the same comment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a 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Q&amp;A Discussion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see if someone marks your answer as accepted</a:t>
            </a:r>
            <a:endParaRPr lang="en-US" sz="1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375580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Vocabulary Review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55550" y="1117402"/>
          <a:ext cx="8382000" cy="2920901"/>
        </p:xfrm>
        <a:graphic>
          <a:graphicData uri="http://schemas.openxmlformats.org/drawingml/2006/table">
            <a:tbl>
              <a:tblPr/>
              <a:tblGrid>
                <a:gridCol w="1828800"/>
                <a:gridCol w="2286000"/>
                <a:gridCol w="4114800"/>
              </a:tblGrid>
              <a:tr h="4172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GitHub Term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1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Farm Analogy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1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Meaning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128"/>
                    </a:solidFill>
                  </a:tcPr>
                </a:tc>
              </a:tr>
              <a:tr h="4172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Watch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Sign up for alerts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Subscribe to updates from a repository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</a:tr>
              <a:tr h="4172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Notification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Text alert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A message telling you something happened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72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@mention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Tap on the shoulder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Tag a specific person to get their attention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</a:tr>
              <a:tr h="4172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Discussion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Bulletin board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Forum for questions and conversations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72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Unsubscribe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Cancel alerts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Stop getting notifications for one thread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</a:tr>
              <a:tr h="4172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Inbox (bell)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Mailbox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Where your notifications appear on GitHub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1627802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Reflection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 about your farm: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432899" cy="1454944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kind of notifications would be most useful for you?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would you use an @mention vs. just adding a comment?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a question your farm team discusses often that could be a GitHub Discussion?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3202335"/>
            <a:ext cx="8432899" cy="579239"/>
          </a:xfrm>
          <a:prstGeom prst="rect">
            <a:avLst/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384125" y="3202335"/>
            <a:ext cx="0" cy="579239"/>
          </a:xfrm>
          <a:prstGeom prst="line">
            <a:avLst/>
          </a:prstGeom>
          <a:noFill/>
          <a:ln w="57150">
            <a:solidFill>
              <a:srgbClr val="4E9F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0401" y="3329136"/>
            <a:ext cx="8180755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to your partner and share your answers. (3 minutes)</a:t>
            </a:r>
            <a:endParaRPr lang="en-US" sz="1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1913802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Next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6: Basic Workflows &amp; Templates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601557" cy="97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time, you'll learn to create 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reusable templates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common farm tasks — so you never have to write the same Issue from scratch twice. Think of it like having pre-printed work order forms.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2686199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between-session practice: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55550" y="3138636"/>
            <a:ext cx="8432899" cy="1493044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your own repository (or the demo repo)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@mention a classmate in an Issue comment and have a short conversation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your notification inbox daily — get used to the bell icon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or reply to a Discussion</a:t>
            </a:r>
            <a:endParaRPr lang="en-US" sz="1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51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73497" y="1277987"/>
            <a:ext cx="3197007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Feedback Survey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383496" y="1909762"/>
            <a:ext cx="637686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E8F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Please fill out the 2-minute survey before you leave.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064050" y="2458938"/>
            <a:ext cx="1015901" cy="38100"/>
          </a:xfrm>
          <a:prstGeom prst="rect">
            <a:avLst/>
          </a:prstGeom>
          <a:solidFill>
            <a:srgbClr val="A5D6A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881138" y="2750939"/>
            <a:ext cx="1381574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E8F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you!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74904" y="3198614"/>
            <a:ext cx="8394192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2000" dirty="0">
                <a:solidFill>
                  <a:srgbClr val="E8F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now know how to stay connected with your farm team on GitHub — without checking constantly.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5: Notifications &amp; Team Communication</dc:title>
  <dc:subject>GitHub Training for Farmers — Session 5 of 12</dc:subject>
  <dc:creator>GitHub4Farms Training</dc:creator>
  <cp:lastModifiedBy>GitHub4Farms Training</cp:lastModifiedBy>
  <cp:revision>1</cp:revision>
  <dcterms:created xsi:type="dcterms:W3CDTF">2026-01-30T16:07:51Z</dcterms:created>
  <dcterms:modified xsi:type="dcterms:W3CDTF">2026-01-30T16:07:51Z</dcterms:modified>
</cp:coreProperties>
</file>